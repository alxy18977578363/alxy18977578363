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796" r:id="rId3"/>
    <p:sldId id="797" r:id="rId4"/>
    <p:sldId id="426" r:id="rId5"/>
    <p:sldId id="260" r:id="rId6"/>
    <p:sldId id="266" r:id="rId7"/>
    <p:sldId id="788" r:id="rId8"/>
    <p:sldId id="798" r:id="rId9"/>
    <p:sldId id="799" r:id="rId10"/>
    <p:sldId id="261" r:id="rId11"/>
    <p:sldId id="275" r:id="rId12"/>
    <p:sldId id="25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CFED"/>
    <a:srgbClr val="1973A2"/>
    <a:srgbClr val="1974A2"/>
    <a:srgbClr val="FFFFFF"/>
    <a:srgbClr val="7ECFED"/>
    <a:srgbClr val="16668E"/>
    <a:srgbClr val="0F70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85" d="100"/>
          <a:sy n="85" d="100"/>
        </p:scale>
        <p:origin x="59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88EEF-A970-4319-98E0-EBB1D071AB08}" type="datetimeFigureOut">
              <a:rPr lang="zh-CN" altLang="en-US" smtClean="0"/>
              <a:t>2025/11/15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0DE39-9C00-4A0A-8757-7DFBDE4DA827}" type="slidenum">
              <a:rPr lang="zh-CN" altLang="en-US" smtClean="0"/>
              <a:t>‹#›</a:t>
            </a:fld>
            <a:endParaRPr lang="zh-CN" altLang="en-US"/>
          </a:p>
        </p:txBody>
      </p:sp>
    </p:spTree>
    <p:extLst>
      <p:ext uri="{BB962C8B-B14F-4D97-AF65-F5344CB8AC3E}">
        <p14:creationId xmlns:p14="http://schemas.microsoft.com/office/powerpoint/2010/main" val="1851879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D1DC36-B914-42C3-8AA8-8F89DC05B998}"/>
              </a:ext>
            </a:extLst>
          </p:cNvPr>
          <p:cNvSpPr/>
          <p:nvPr userDrawn="1"/>
        </p:nvSpPr>
        <p:spPr>
          <a:xfrm>
            <a:off x="0" y="-26809"/>
            <a:ext cx="12192000" cy="6884809"/>
          </a:xfrm>
          <a:prstGeom prst="rect">
            <a:avLst/>
          </a:prstGeom>
          <a:solidFill>
            <a:srgbClr val="1666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剪去对角 21">
            <a:extLst>
              <a:ext uri="{FF2B5EF4-FFF2-40B4-BE49-F238E27FC236}">
                <a16:creationId xmlns:a16="http://schemas.microsoft.com/office/drawing/2014/main" id="{3E2F5B59-5CD3-4301-B154-3495E6B3A8DE}"/>
              </a:ext>
            </a:extLst>
          </p:cNvPr>
          <p:cNvSpPr/>
          <p:nvPr userDrawn="1"/>
        </p:nvSpPr>
        <p:spPr>
          <a:xfrm flipH="1" flipV="1">
            <a:off x="387431" y="384977"/>
            <a:ext cx="11448566" cy="6115809"/>
          </a:xfrm>
          <a:prstGeom prst="snip2DiagRect">
            <a:avLst>
              <a:gd name="adj1" fmla="val 0"/>
              <a:gd name="adj2" fmla="val 4956"/>
            </a:avLst>
          </a:prstGeom>
          <a:solidFill>
            <a:schemeClr val="bg1"/>
          </a:solidFill>
          <a:ln w="12700">
            <a:solidFill>
              <a:srgbClr val="7FCFED">
                <a:alpha val="2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24" name="组合 23">
            <a:extLst>
              <a:ext uri="{FF2B5EF4-FFF2-40B4-BE49-F238E27FC236}">
                <a16:creationId xmlns:a16="http://schemas.microsoft.com/office/drawing/2014/main" id="{22D05688-A0BE-4156-885E-189917571774}"/>
              </a:ext>
            </a:extLst>
          </p:cNvPr>
          <p:cNvGrpSpPr/>
          <p:nvPr userDrawn="1"/>
        </p:nvGrpSpPr>
        <p:grpSpPr>
          <a:xfrm>
            <a:off x="368703" y="384977"/>
            <a:ext cx="2324103" cy="2132215"/>
            <a:chOff x="0" y="0"/>
            <a:chExt cx="3336146" cy="3060700"/>
          </a:xfrm>
        </p:grpSpPr>
        <p:pic>
          <p:nvPicPr>
            <p:cNvPr id="25" name="图片 24">
              <a:extLst>
                <a:ext uri="{FF2B5EF4-FFF2-40B4-BE49-F238E27FC236}">
                  <a16:creationId xmlns:a16="http://schemas.microsoft.com/office/drawing/2014/main" id="{A602525A-7E19-47E8-A117-7D53F7202667}"/>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26" name="组合 25">
              <a:extLst>
                <a:ext uri="{FF2B5EF4-FFF2-40B4-BE49-F238E27FC236}">
                  <a16:creationId xmlns:a16="http://schemas.microsoft.com/office/drawing/2014/main" id="{2FDF6857-9002-4FCF-81BC-E3641055A34C}"/>
                </a:ext>
              </a:extLst>
            </p:cNvPr>
            <p:cNvGrpSpPr/>
            <p:nvPr/>
          </p:nvGrpSpPr>
          <p:grpSpPr>
            <a:xfrm>
              <a:off x="0" y="0"/>
              <a:ext cx="1983086" cy="3060700"/>
              <a:chOff x="0" y="0"/>
              <a:chExt cx="1983086" cy="3060700"/>
            </a:xfrm>
          </p:grpSpPr>
          <p:sp>
            <p:nvSpPr>
              <p:cNvPr id="27" name="直角三角形 26">
                <a:extLst>
                  <a:ext uri="{FF2B5EF4-FFF2-40B4-BE49-F238E27FC236}">
                    <a16:creationId xmlns:a16="http://schemas.microsoft.com/office/drawing/2014/main" id="{334EDFBF-21BB-4181-B121-051B0B447BE0}"/>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平行四边形 27">
                <a:extLst>
                  <a:ext uri="{FF2B5EF4-FFF2-40B4-BE49-F238E27FC236}">
                    <a16:creationId xmlns:a16="http://schemas.microsoft.com/office/drawing/2014/main" id="{637AAF0D-39C7-4B9D-A5E5-B3782A434FF6}"/>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06FB9E34-541D-4CC6-91A7-6675D8E4479B}"/>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平行四边形 29">
                <a:extLst>
                  <a:ext uri="{FF2B5EF4-FFF2-40B4-BE49-F238E27FC236}">
                    <a16:creationId xmlns:a16="http://schemas.microsoft.com/office/drawing/2014/main" id="{5BB85C6F-03EF-4CD1-8CAE-300E656F2341}"/>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1" name="组合 30">
            <a:extLst>
              <a:ext uri="{FF2B5EF4-FFF2-40B4-BE49-F238E27FC236}">
                <a16:creationId xmlns:a16="http://schemas.microsoft.com/office/drawing/2014/main" id="{8B7CBE96-8FD6-42E3-8185-72FBC86EDCB5}"/>
              </a:ext>
            </a:extLst>
          </p:cNvPr>
          <p:cNvGrpSpPr/>
          <p:nvPr userDrawn="1"/>
        </p:nvGrpSpPr>
        <p:grpSpPr>
          <a:xfrm flipH="1" flipV="1">
            <a:off x="9512216" y="4368571"/>
            <a:ext cx="2324103" cy="2132215"/>
            <a:chOff x="0" y="0"/>
            <a:chExt cx="3336146" cy="3060700"/>
          </a:xfrm>
        </p:grpSpPr>
        <p:pic>
          <p:nvPicPr>
            <p:cNvPr id="32" name="图片 31">
              <a:extLst>
                <a:ext uri="{FF2B5EF4-FFF2-40B4-BE49-F238E27FC236}">
                  <a16:creationId xmlns:a16="http://schemas.microsoft.com/office/drawing/2014/main" id="{F8881AE3-7CBD-4768-834D-F31009944A17}"/>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33" name="组合 32">
              <a:extLst>
                <a:ext uri="{FF2B5EF4-FFF2-40B4-BE49-F238E27FC236}">
                  <a16:creationId xmlns:a16="http://schemas.microsoft.com/office/drawing/2014/main" id="{9A8B61C1-295E-491D-BCDA-0CFDA78E316E}"/>
                </a:ext>
              </a:extLst>
            </p:cNvPr>
            <p:cNvGrpSpPr/>
            <p:nvPr/>
          </p:nvGrpSpPr>
          <p:grpSpPr>
            <a:xfrm>
              <a:off x="0" y="0"/>
              <a:ext cx="1983086" cy="3060700"/>
              <a:chOff x="0" y="0"/>
              <a:chExt cx="1983086" cy="3060700"/>
            </a:xfrm>
          </p:grpSpPr>
          <p:sp>
            <p:nvSpPr>
              <p:cNvPr id="34" name="直角三角形 33">
                <a:extLst>
                  <a:ext uri="{FF2B5EF4-FFF2-40B4-BE49-F238E27FC236}">
                    <a16:creationId xmlns:a16="http://schemas.microsoft.com/office/drawing/2014/main" id="{93AD6555-FBF4-47DB-8F90-3E84F1EBB1B0}"/>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平行四边形 34">
                <a:extLst>
                  <a:ext uri="{FF2B5EF4-FFF2-40B4-BE49-F238E27FC236}">
                    <a16:creationId xmlns:a16="http://schemas.microsoft.com/office/drawing/2014/main" id="{AD58F084-C4B5-4127-A3C8-0C2F1BC820AB}"/>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平行四边形 35">
                <a:extLst>
                  <a:ext uri="{FF2B5EF4-FFF2-40B4-BE49-F238E27FC236}">
                    <a16:creationId xmlns:a16="http://schemas.microsoft.com/office/drawing/2014/main" id="{D461A1F1-F65D-4F10-8BF4-56B8D3B46869}"/>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平行四边形 36">
                <a:extLst>
                  <a:ext uri="{FF2B5EF4-FFF2-40B4-BE49-F238E27FC236}">
                    <a16:creationId xmlns:a16="http://schemas.microsoft.com/office/drawing/2014/main" id="{104FF62B-1A92-4A34-AC7E-2FAE3D9F42FA}"/>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Tree>
    <p:extLst>
      <p:ext uri="{BB962C8B-B14F-4D97-AF65-F5344CB8AC3E}">
        <p14:creationId xmlns:p14="http://schemas.microsoft.com/office/powerpoint/2010/main" val="1613289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3" name="矩形: 剪去对角 22">
            <a:extLst>
              <a:ext uri="{FF2B5EF4-FFF2-40B4-BE49-F238E27FC236}">
                <a16:creationId xmlns:a16="http://schemas.microsoft.com/office/drawing/2014/main" id="{95EE0CB9-6189-4F3F-B715-ECAE0F858EC6}"/>
              </a:ext>
            </a:extLst>
          </p:cNvPr>
          <p:cNvSpPr/>
          <p:nvPr userDrawn="1"/>
        </p:nvSpPr>
        <p:spPr>
          <a:xfrm flipH="1" flipV="1">
            <a:off x="387431" y="384977"/>
            <a:ext cx="11448566" cy="6115809"/>
          </a:xfrm>
          <a:prstGeom prst="snip2DiagRect">
            <a:avLst>
              <a:gd name="adj1" fmla="val 0"/>
              <a:gd name="adj2" fmla="val 4956"/>
            </a:avLst>
          </a:prstGeom>
          <a:solidFill>
            <a:srgbClr val="1974A2"/>
          </a:solidFill>
          <a:ln w="12700">
            <a:solidFill>
              <a:srgbClr val="7ECFED">
                <a:alpha val="2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8" name="组合 7">
            <a:extLst>
              <a:ext uri="{FF2B5EF4-FFF2-40B4-BE49-F238E27FC236}">
                <a16:creationId xmlns:a16="http://schemas.microsoft.com/office/drawing/2014/main" id="{003DC2F3-91A1-43E1-844F-758F97DE4745}"/>
              </a:ext>
            </a:extLst>
          </p:cNvPr>
          <p:cNvGrpSpPr/>
          <p:nvPr userDrawn="1"/>
        </p:nvGrpSpPr>
        <p:grpSpPr>
          <a:xfrm>
            <a:off x="-3" y="1"/>
            <a:ext cx="2166277" cy="1987420"/>
            <a:chOff x="0" y="0"/>
            <a:chExt cx="3336146" cy="3060700"/>
          </a:xfrm>
        </p:grpSpPr>
        <p:pic>
          <p:nvPicPr>
            <p:cNvPr id="9" name="图片 8">
              <a:extLst>
                <a:ext uri="{FF2B5EF4-FFF2-40B4-BE49-F238E27FC236}">
                  <a16:creationId xmlns:a16="http://schemas.microsoft.com/office/drawing/2014/main" id="{435D3DE3-1244-4057-B522-6D726849D970}"/>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0" name="组合 9">
              <a:extLst>
                <a:ext uri="{FF2B5EF4-FFF2-40B4-BE49-F238E27FC236}">
                  <a16:creationId xmlns:a16="http://schemas.microsoft.com/office/drawing/2014/main" id="{DA763764-07B6-4040-B10F-603080B2FA81}"/>
                </a:ext>
              </a:extLst>
            </p:cNvPr>
            <p:cNvGrpSpPr/>
            <p:nvPr/>
          </p:nvGrpSpPr>
          <p:grpSpPr>
            <a:xfrm>
              <a:off x="0" y="0"/>
              <a:ext cx="1983086" cy="3060700"/>
              <a:chOff x="0" y="0"/>
              <a:chExt cx="1983086" cy="3060700"/>
            </a:xfrm>
          </p:grpSpPr>
          <p:sp>
            <p:nvSpPr>
              <p:cNvPr id="11" name="直角三角形 10">
                <a:extLst>
                  <a:ext uri="{FF2B5EF4-FFF2-40B4-BE49-F238E27FC236}">
                    <a16:creationId xmlns:a16="http://schemas.microsoft.com/office/drawing/2014/main" id="{5E80730B-E9C9-4E6C-A92A-850A0352C3FC}"/>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平行四边形 11">
                <a:extLst>
                  <a:ext uri="{FF2B5EF4-FFF2-40B4-BE49-F238E27FC236}">
                    <a16:creationId xmlns:a16="http://schemas.microsoft.com/office/drawing/2014/main" id="{14563337-93E8-4CB2-AFDF-F15A3C9EA31D}"/>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F3D9B1C1-61A4-4C47-80D0-5233627CEEEC}"/>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平行四边形 13">
                <a:extLst>
                  <a:ext uri="{FF2B5EF4-FFF2-40B4-BE49-F238E27FC236}">
                    <a16:creationId xmlns:a16="http://schemas.microsoft.com/office/drawing/2014/main" id="{F4BAA035-7E5D-4CEC-878F-420A00879E1C}"/>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5" name="组合 14">
            <a:extLst>
              <a:ext uri="{FF2B5EF4-FFF2-40B4-BE49-F238E27FC236}">
                <a16:creationId xmlns:a16="http://schemas.microsoft.com/office/drawing/2014/main" id="{6962F6F0-AAD8-43DC-9FFC-EAB57A75C8BE}"/>
              </a:ext>
            </a:extLst>
          </p:cNvPr>
          <p:cNvGrpSpPr/>
          <p:nvPr userDrawn="1"/>
        </p:nvGrpSpPr>
        <p:grpSpPr>
          <a:xfrm flipH="1" flipV="1">
            <a:off x="10025723" y="4870580"/>
            <a:ext cx="2166277" cy="1987420"/>
            <a:chOff x="0" y="0"/>
            <a:chExt cx="3336146" cy="3060700"/>
          </a:xfrm>
        </p:grpSpPr>
        <p:pic>
          <p:nvPicPr>
            <p:cNvPr id="16" name="图片 15">
              <a:extLst>
                <a:ext uri="{FF2B5EF4-FFF2-40B4-BE49-F238E27FC236}">
                  <a16:creationId xmlns:a16="http://schemas.microsoft.com/office/drawing/2014/main" id="{59B3F3EF-70A2-4440-B7DC-E5FA727C0A5F}"/>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7" name="组合 16">
              <a:extLst>
                <a:ext uri="{FF2B5EF4-FFF2-40B4-BE49-F238E27FC236}">
                  <a16:creationId xmlns:a16="http://schemas.microsoft.com/office/drawing/2014/main" id="{766B3ADE-3E10-4B2C-A99D-0A98542F9BFB}"/>
                </a:ext>
              </a:extLst>
            </p:cNvPr>
            <p:cNvGrpSpPr/>
            <p:nvPr/>
          </p:nvGrpSpPr>
          <p:grpSpPr>
            <a:xfrm>
              <a:off x="0" y="0"/>
              <a:ext cx="1983086" cy="3060700"/>
              <a:chOff x="0" y="0"/>
              <a:chExt cx="1983086" cy="3060700"/>
            </a:xfrm>
          </p:grpSpPr>
          <p:sp>
            <p:nvSpPr>
              <p:cNvPr id="18" name="直角三角形 17">
                <a:extLst>
                  <a:ext uri="{FF2B5EF4-FFF2-40B4-BE49-F238E27FC236}">
                    <a16:creationId xmlns:a16="http://schemas.microsoft.com/office/drawing/2014/main" id="{17845AA5-35CC-4569-AE98-CA80C969CCB7}"/>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平行四边形 18">
                <a:extLst>
                  <a:ext uri="{FF2B5EF4-FFF2-40B4-BE49-F238E27FC236}">
                    <a16:creationId xmlns:a16="http://schemas.microsoft.com/office/drawing/2014/main" id="{63970F3C-38A1-42E2-BC85-4A498174727F}"/>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a:extLst>
                  <a:ext uri="{FF2B5EF4-FFF2-40B4-BE49-F238E27FC236}">
                    <a16:creationId xmlns:a16="http://schemas.microsoft.com/office/drawing/2014/main" id="{95CE12E1-0FF1-4020-AF8A-2D6A3C592A8E}"/>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平行四边形 20">
                <a:extLst>
                  <a:ext uri="{FF2B5EF4-FFF2-40B4-BE49-F238E27FC236}">
                    <a16:creationId xmlns:a16="http://schemas.microsoft.com/office/drawing/2014/main" id="{D4E6E38B-42B8-4B8E-8DAA-6FC1A80C2A1F}"/>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Tree>
    <p:extLst>
      <p:ext uri="{BB962C8B-B14F-4D97-AF65-F5344CB8AC3E}">
        <p14:creationId xmlns:p14="http://schemas.microsoft.com/office/powerpoint/2010/main" val="2175968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39" name="矩形: 剪去对角 38">
            <a:extLst>
              <a:ext uri="{FF2B5EF4-FFF2-40B4-BE49-F238E27FC236}">
                <a16:creationId xmlns:a16="http://schemas.microsoft.com/office/drawing/2014/main" id="{464ACB94-02C7-4564-A76E-9DD429CF9034}"/>
              </a:ext>
            </a:extLst>
          </p:cNvPr>
          <p:cNvSpPr/>
          <p:nvPr userDrawn="1"/>
        </p:nvSpPr>
        <p:spPr>
          <a:xfrm rot="5400000" flipH="1" flipV="1">
            <a:off x="3772330" y="-2661652"/>
            <a:ext cx="4667148" cy="12211812"/>
          </a:xfrm>
          <a:prstGeom prst="snip2DiagRect">
            <a:avLst>
              <a:gd name="adj1" fmla="val 0"/>
              <a:gd name="adj2" fmla="val 3731"/>
            </a:avLst>
          </a:prstGeom>
          <a:solidFill>
            <a:srgbClr val="1974A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15" name="组合 14">
            <a:extLst>
              <a:ext uri="{FF2B5EF4-FFF2-40B4-BE49-F238E27FC236}">
                <a16:creationId xmlns:a16="http://schemas.microsoft.com/office/drawing/2014/main" id="{6962F6F0-AAD8-43DC-9FFC-EAB57A75C8BE}"/>
              </a:ext>
            </a:extLst>
          </p:cNvPr>
          <p:cNvGrpSpPr/>
          <p:nvPr userDrawn="1"/>
        </p:nvGrpSpPr>
        <p:grpSpPr>
          <a:xfrm flipH="1" flipV="1">
            <a:off x="10025723" y="4870580"/>
            <a:ext cx="2166277" cy="1987420"/>
            <a:chOff x="0" y="0"/>
            <a:chExt cx="3336146" cy="3060700"/>
          </a:xfrm>
        </p:grpSpPr>
        <p:pic>
          <p:nvPicPr>
            <p:cNvPr id="16" name="图片 15">
              <a:extLst>
                <a:ext uri="{FF2B5EF4-FFF2-40B4-BE49-F238E27FC236}">
                  <a16:creationId xmlns:a16="http://schemas.microsoft.com/office/drawing/2014/main" id="{59B3F3EF-70A2-4440-B7DC-E5FA727C0A5F}"/>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7" name="组合 16">
              <a:extLst>
                <a:ext uri="{FF2B5EF4-FFF2-40B4-BE49-F238E27FC236}">
                  <a16:creationId xmlns:a16="http://schemas.microsoft.com/office/drawing/2014/main" id="{766B3ADE-3E10-4B2C-A99D-0A98542F9BFB}"/>
                </a:ext>
              </a:extLst>
            </p:cNvPr>
            <p:cNvGrpSpPr/>
            <p:nvPr/>
          </p:nvGrpSpPr>
          <p:grpSpPr>
            <a:xfrm>
              <a:off x="0" y="0"/>
              <a:ext cx="1983086" cy="3060700"/>
              <a:chOff x="0" y="0"/>
              <a:chExt cx="1983086" cy="3060700"/>
            </a:xfrm>
          </p:grpSpPr>
          <p:sp>
            <p:nvSpPr>
              <p:cNvPr id="18" name="直角三角形 17">
                <a:extLst>
                  <a:ext uri="{FF2B5EF4-FFF2-40B4-BE49-F238E27FC236}">
                    <a16:creationId xmlns:a16="http://schemas.microsoft.com/office/drawing/2014/main" id="{17845AA5-35CC-4569-AE98-CA80C969CCB7}"/>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平行四边形 18">
                <a:extLst>
                  <a:ext uri="{FF2B5EF4-FFF2-40B4-BE49-F238E27FC236}">
                    <a16:creationId xmlns:a16="http://schemas.microsoft.com/office/drawing/2014/main" id="{63970F3C-38A1-42E2-BC85-4A498174727F}"/>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a:extLst>
                  <a:ext uri="{FF2B5EF4-FFF2-40B4-BE49-F238E27FC236}">
                    <a16:creationId xmlns:a16="http://schemas.microsoft.com/office/drawing/2014/main" id="{95CE12E1-0FF1-4020-AF8A-2D6A3C592A8E}"/>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平行四边形 20">
                <a:extLst>
                  <a:ext uri="{FF2B5EF4-FFF2-40B4-BE49-F238E27FC236}">
                    <a16:creationId xmlns:a16="http://schemas.microsoft.com/office/drawing/2014/main" id="{D4E6E38B-42B8-4B8E-8DAA-6FC1A80C2A1F}"/>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42" name="组合 41">
            <a:extLst>
              <a:ext uri="{FF2B5EF4-FFF2-40B4-BE49-F238E27FC236}">
                <a16:creationId xmlns:a16="http://schemas.microsoft.com/office/drawing/2014/main" id="{0570092B-6DAD-4C22-B2B2-D62A437B8415}"/>
              </a:ext>
            </a:extLst>
          </p:cNvPr>
          <p:cNvGrpSpPr/>
          <p:nvPr userDrawn="1"/>
        </p:nvGrpSpPr>
        <p:grpSpPr>
          <a:xfrm>
            <a:off x="0" y="0"/>
            <a:ext cx="2166277" cy="1987420"/>
            <a:chOff x="0" y="0"/>
            <a:chExt cx="3336146" cy="3060700"/>
          </a:xfrm>
        </p:grpSpPr>
        <p:pic>
          <p:nvPicPr>
            <p:cNvPr id="43" name="图片 42">
              <a:extLst>
                <a:ext uri="{FF2B5EF4-FFF2-40B4-BE49-F238E27FC236}">
                  <a16:creationId xmlns:a16="http://schemas.microsoft.com/office/drawing/2014/main" id="{7469BDCB-B74B-4295-9C10-48D5478EE443}"/>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44" name="组合 43">
              <a:extLst>
                <a:ext uri="{FF2B5EF4-FFF2-40B4-BE49-F238E27FC236}">
                  <a16:creationId xmlns:a16="http://schemas.microsoft.com/office/drawing/2014/main" id="{93950679-A9F7-4AE6-BDA1-E6D8FFCDC994}"/>
                </a:ext>
              </a:extLst>
            </p:cNvPr>
            <p:cNvGrpSpPr/>
            <p:nvPr/>
          </p:nvGrpSpPr>
          <p:grpSpPr>
            <a:xfrm>
              <a:off x="0" y="0"/>
              <a:ext cx="1983086" cy="3060700"/>
              <a:chOff x="0" y="0"/>
              <a:chExt cx="1983086" cy="3060700"/>
            </a:xfrm>
          </p:grpSpPr>
          <p:sp>
            <p:nvSpPr>
              <p:cNvPr id="45" name="直角三角形 44">
                <a:extLst>
                  <a:ext uri="{FF2B5EF4-FFF2-40B4-BE49-F238E27FC236}">
                    <a16:creationId xmlns:a16="http://schemas.microsoft.com/office/drawing/2014/main" id="{12F301D5-36B1-476A-94F1-87EC864448EC}"/>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平行四边形 45">
                <a:extLst>
                  <a:ext uri="{FF2B5EF4-FFF2-40B4-BE49-F238E27FC236}">
                    <a16:creationId xmlns:a16="http://schemas.microsoft.com/office/drawing/2014/main" id="{F0CE8A56-8076-47FE-A8D2-D3F4DC7A1D3C}"/>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平行四边形 46">
                <a:extLst>
                  <a:ext uri="{FF2B5EF4-FFF2-40B4-BE49-F238E27FC236}">
                    <a16:creationId xmlns:a16="http://schemas.microsoft.com/office/drawing/2014/main" id="{0098CDF6-3915-46B9-B8A9-987EC22E0ED8}"/>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平行四边形 47">
                <a:extLst>
                  <a:ext uri="{FF2B5EF4-FFF2-40B4-BE49-F238E27FC236}">
                    <a16:creationId xmlns:a16="http://schemas.microsoft.com/office/drawing/2014/main" id="{56901AA5-1125-492B-80CC-12DC51B858B2}"/>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22" name="矩形: 剪去对角 21">
            <a:extLst>
              <a:ext uri="{FF2B5EF4-FFF2-40B4-BE49-F238E27FC236}">
                <a16:creationId xmlns:a16="http://schemas.microsoft.com/office/drawing/2014/main" id="{133F1FF8-D694-462C-9A20-1E4B7890B3E4}"/>
              </a:ext>
            </a:extLst>
          </p:cNvPr>
          <p:cNvSpPr/>
          <p:nvPr userDrawn="1"/>
        </p:nvSpPr>
        <p:spPr>
          <a:xfrm flipH="1" flipV="1">
            <a:off x="328080" y="1427140"/>
            <a:ext cx="11535840" cy="4049731"/>
          </a:xfrm>
          <a:prstGeom prst="snip2DiagRect">
            <a:avLst>
              <a:gd name="adj1" fmla="val 0"/>
              <a:gd name="adj2" fmla="val 4956"/>
            </a:avLst>
          </a:prstGeom>
          <a:solidFill>
            <a:schemeClr val="bg1"/>
          </a:solidFill>
          <a:ln w="12700">
            <a:solidFill>
              <a:srgbClr val="7FCFED">
                <a:alpha val="2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Tree>
    <p:extLst>
      <p:ext uri="{BB962C8B-B14F-4D97-AF65-F5344CB8AC3E}">
        <p14:creationId xmlns:p14="http://schemas.microsoft.com/office/powerpoint/2010/main" val="32072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36" name="矩形: 剪去对角 35">
            <a:extLst>
              <a:ext uri="{FF2B5EF4-FFF2-40B4-BE49-F238E27FC236}">
                <a16:creationId xmlns:a16="http://schemas.microsoft.com/office/drawing/2014/main" id="{DD792382-CE07-484F-A0C5-219D6371979D}"/>
              </a:ext>
            </a:extLst>
          </p:cNvPr>
          <p:cNvSpPr/>
          <p:nvPr userDrawn="1"/>
        </p:nvSpPr>
        <p:spPr>
          <a:xfrm flipH="1" flipV="1">
            <a:off x="208120" y="188425"/>
            <a:ext cx="11801155" cy="6517173"/>
          </a:xfrm>
          <a:prstGeom prst="snip2DiagRect">
            <a:avLst>
              <a:gd name="adj1" fmla="val 0"/>
              <a:gd name="adj2" fmla="val 4956"/>
            </a:avLst>
          </a:prstGeom>
          <a:solidFill>
            <a:schemeClr val="bg1"/>
          </a:solidFill>
          <a:ln w="12700">
            <a:solidFill>
              <a:srgbClr val="7ECFED">
                <a:alpha val="2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17" name="组合 16">
            <a:extLst>
              <a:ext uri="{FF2B5EF4-FFF2-40B4-BE49-F238E27FC236}">
                <a16:creationId xmlns:a16="http://schemas.microsoft.com/office/drawing/2014/main" id="{6AF55AB6-E0E1-419F-9954-67E6673673C8}"/>
              </a:ext>
            </a:extLst>
          </p:cNvPr>
          <p:cNvGrpSpPr/>
          <p:nvPr userDrawn="1"/>
        </p:nvGrpSpPr>
        <p:grpSpPr>
          <a:xfrm flipH="1" flipV="1">
            <a:off x="10985499" y="5752290"/>
            <a:ext cx="1206500" cy="1106886"/>
            <a:chOff x="0" y="0"/>
            <a:chExt cx="3336146" cy="3060700"/>
          </a:xfrm>
        </p:grpSpPr>
        <p:pic>
          <p:nvPicPr>
            <p:cNvPr id="18" name="图片 17">
              <a:extLst>
                <a:ext uri="{FF2B5EF4-FFF2-40B4-BE49-F238E27FC236}">
                  <a16:creationId xmlns:a16="http://schemas.microsoft.com/office/drawing/2014/main" id="{1968368A-E5C2-4F4A-9FF2-80076FADAEFD}"/>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9" name="组合 18">
              <a:extLst>
                <a:ext uri="{FF2B5EF4-FFF2-40B4-BE49-F238E27FC236}">
                  <a16:creationId xmlns:a16="http://schemas.microsoft.com/office/drawing/2014/main" id="{FA6C2BE6-C592-4848-B680-F7601A9A6072}"/>
                </a:ext>
              </a:extLst>
            </p:cNvPr>
            <p:cNvGrpSpPr/>
            <p:nvPr/>
          </p:nvGrpSpPr>
          <p:grpSpPr>
            <a:xfrm>
              <a:off x="0" y="0"/>
              <a:ext cx="1983086" cy="3060700"/>
              <a:chOff x="0" y="0"/>
              <a:chExt cx="1983086" cy="3060700"/>
            </a:xfrm>
          </p:grpSpPr>
          <p:sp>
            <p:nvSpPr>
              <p:cNvPr id="20" name="直角三角形 19">
                <a:extLst>
                  <a:ext uri="{FF2B5EF4-FFF2-40B4-BE49-F238E27FC236}">
                    <a16:creationId xmlns:a16="http://schemas.microsoft.com/office/drawing/2014/main" id="{57200FB3-9DCA-4B2F-8CD0-5E039692F027}"/>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平行四边形 20">
                <a:extLst>
                  <a:ext uri="{FF2B5EF4-FFF2-40B4-BE49-F238E27FC236}">
                    <a16:creationId xmlns:a16="http://schemas.microsoft.com/office/drawing/2014/main" id="{D19D8A16-80F6-4A3F-8941-1BB23D77F1F8}"/>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a:extLst>
                  <a:ext uri="{FF2B5EF4-FFF2-40B4-BE49-F238E27FC236}">
                    <a16:creationId xmlns:a16="http://schemas.microsoft.com/office/drawing/2014/main" id="{7000123D-359C-44D0-890A-C1EC0DAEB558}"/>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平行四边形 37">
                <a:extLst>
                  <a:ext uri="{FF2B5EF4-FFF2-40B4-BE49-F238E27FC236}">
                    <a16:creationId xmlns:a16="http://schemas.microsoft.com/office/drawing/2014/main" id="{BE6DFBCF-90C2-46E6-9168-EB435481F712}"/>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6" name="组合 15">
            <a:extLst>
              <a:ext uri="{FF2B5EF4-FFF2-40B4-BE49-F238E27FC236}">
                <a16:creationId xmlns:a16="http://schemas.microsoft.com/office/drawing/2014/main" id="{EAF5696C-147C-40A5-9DD0-75ABBB6AA487}"/>
              </a:ext>
            </a:extLst>
          </p:cNvPr>
          <p:cNvGrpSpPr/>
          <p:nvPr userDrawn="1"/>
        </p:nvGrpSpPr>
        <p:grpSpPr>
          <a:xfrm>
            <a:off x="0" y="0"/>
            <a:ext cx="1206500" cy="1106886"/>
            <a:chOff x="0" y="0"/>
            <a:chExt cx="3336146" cy="3060700"/>
          </a:xfrm>
        </p:grpSpPr>
        <p:pic>
          <p:nvPicPr>
            <p:cNvPr id="22" name="图片 21">
              <a:extLst>
                <a:ext uri="{FF2B5EF4-FFF2-40B4-BE49-F238E27FC236}">
                  <a16:creationId xmlns:a16="http://schemas.microsoft.com/office/drawing/2014/main" id="{5BF3F9A6-C122-4294-A096-EC0B00663EB1}"/>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31" name="组合 30">
              <a:extLst>
                <a:ext uri="{FF2B5EF4-FFF2-40B4-BE49-F238E27FC236}">
                  <a16:creationId xmlns:a16="http://schemas.microsoft.com/office/drawing/2014/main" id="{FA670319-8C27-49AF-B16A-D3B3AF64587F}"/>
                </a:ext>
              </a:extLst>
            </p:cNvPr>
            <p:cNvGrpSpPr/>
            <p:nvPr/>
          </p:nvGrpSpPr>
          <p:grpSpPr>
            <a:xfrm>
              <a:off x="0" y="0"/>
              <a:ext cx="1983086" cy="3060700"/>
              <a:chOff x="0" y="0"/>
              <a:chExt cx="1983086" cy="3060700"/>
            </a:xfrm>
          </p:grpSpPr>
          <p:sp>
            <p:nvSpPr>
              <p:cNvPr id="32" name="直角三角形 31">
                <a:extLst>
                  <a:ext uri="{FF2B5EF4-FFF2-40B4-BE49-F238E27FC236}">
                    <a16:creationId xmlns:a16="http://schemas.microsoft.com/office/drawing/2014/main" id="{0963C6CE-02DD-452D-B60D-B6A686E1DABE}"/>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平行四边形 32">
                <a:extLst>
                  <a:ext uri="{FF2B5EF4-FFF2-40B4-BE49-F238E27FC236}">
                    <a16:creationId xmlns:a16="http://schemas.microsoft.com/office/drawing/2014/main" id="{40D64535-AB6E-42E4-BCA3-8549412845DA}"/>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a:extLst>
                  <a:ext uri="{FF2B5EF4-FFF2-40B4-BE49-F238E27FC236}">
                    <a16:creationId xmlns:a16="http://schemas.microsoft.com/office/drawing/2014/main" id="{20E8AE14-2127-445F-A9CE-8A38552DEE17}"/>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平行四边形 34">
                <a:extLst>
                  <a:ext uri="{FF2B5EF4-FFF2-40B4-BE49-F238E27FC236}">
                    <a16:creationId xmlns:a16="http://schemas.microsoft.com/office/drawing/2014/main" id="{BF4E8B8F-9AF4-4805-923D-BDFFAFB7616B}"/>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Tree>
    <p:extLst>
      <p:ext uri="{BB962C8B-B14F-4D97-AF65-F5344CB8AC3E}">
        <p14:creationId xmlns:p14="http://schemas.microsoft.com/office/powerpoint/2010/main" val="4042633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8129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165532"/>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4" r:id="rId3"/>
    <p:sldLayoutId id="2147483651"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19.jpeg"/><Relationship Id="rId5" Type="http://schemas.openxmlformats.org/officeDocument/2006/relationships/image" Target="../media/image18.jpeg"/><Relationship Id="rId10" Type="http://schemas.openxmlformats.org/officeDocument/2006/relationships/image" Target="../media/image23.png"/><Relationship Id="rId4" Type="http://schemas.openxmlformats.org/officeDocument/2006/relationships/image" Target="../media/image17.jpe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a:extLst>
              <a:ext uri="{FF2B5EF4-FFF2-40B4-BE49-F238E27FC236}">
                <a16:creationId xmlns:a16="http://schemas.microsoft.com/office/drawing/2014/main" id="{C2D8BE96-E5DD-4B24-B4D6-B99B96BC7F59}"/>
              </a:ext>
            </a:extLst>
          </p:cNvPr>
          <p:cNvGrpSpPr/>
          <p:nvPr/>
        </p:nvGrpSpPr>
        <p:grpSpPr>
          <a:xfrm>
            <a:off x="6362914" y="4710451"/>
            <a:ext cx="2180056" cy="701065"/>
            <a:chOff x="3718718" y="4493461"/>
            <a:chExt cx="2180056" cy="701065"/>
          </a:xfrm>
        </p:grpSpPr>
        <p:sp>
          <p:nvSpPr>
            <p:cNvPr id="56" name="矩形: 圆角 55">
              <a:extLst>
                <a:ext uri="{FF2B5EF4-FFF2-40B4-BE49-F238E27FC236}">
                  <a16:creationId xmlns:a16="http://schemas.microsoft.com/office/drawing/2014/main" id="{B3225739-834F-43FE-97C2-337308943EF4}"/>
                </a:ext>
              </a:extLst>
            </p:cNvPr>
            <p:cNvSpPr/>
            <p:nvPr/>
          </p:nvSpPr>
          <p:spPr>
            <a:xfrm>
              <a:off x="3718718" y="4569661"/>
              <a:ext cx="111127" cy="43935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F4F4D363-640E-4CAE-AA45-E5C890745AF0}"/>
                </a:ext>
              </a:extLst>
            </p:cNvPr>
            <p:cNvSpPr/>
            <p:nvPr/>
          </p:nvSpPr>
          <p:spPr>
            <a:xfrm>
              <a:off x="3918745" y="4493461"/>
              <a:ext cx="1980029" cy="400110"/>
            </a:xfrm>
            <a:prstGeom prst="rect">
              <a:avLst/>
            </a:prstGeom>
          </p:spPr>
          <p:txBody>
            <a:bodyPr wrap="none">
              <a:spAutoFit/>
            </a:bodyPr>
            <a:lstStyle/>
            <a:p>
              <a:r>
                <a:rPr lang="zh-CN" altLang="en-US" sz="2000" b="1" dirty="0">
                  <a:solidFill>
                    <a:srgbClr val="1974A2"/>
                  </a:solidFill>
                  <a:latin typeface="思源黑体 CN Bold" panose="020B0800000000000000" pitchFamily="34" charset="-122"/>
                  <a:ea typeface="思源黑体 CN Bold" panose="020B0800000000000000" pitchFamily="34" charset="-122"/>
                </a:rPr>
                <a:t>答辩人：李盛鹏</a:t>
              </a:r>
            </a:p>
          </p:txBody>
        </p:sp>
        <p:sp>
          <p:nvSpPr>
            <p:cNvPr id="58" name="矩形 57">
              <a:extLst>
                <a:ext uri="{FF2B5EF4-FFF2-40B4-BE49-F238E27FC236}">
                  <a16:creationId xmlns:a16="http://schemas.microsoft.com/office/drawing/2014/main" id="{F76D5065-54BB-470F-BDF0-7534733F7118}"/>
                </a:ext>
              </a:extLst>
            </p:cNvPr>
            <p:cNvSpPr/>
            <p:nvPr/>
          </p:nvSpPr>
          <p:spPr>
            <a:xfrm>
              <a:off x="3876593" y="4855972"/>
              <a:ext cx="1328569" cy="338554"/>
            </a:xfrm>
            <a:prstGeom prst="rect">
              <a:avLst/>
            </a:prstGeom>
          </p:spPr>
          <p:txBody>
            <a:bodyPr wrap="none">
              <a:spAutoFit/>
            </a:bodyPr>
            <a:lstStyle/>
            <a:p>
              <a:pPr algn="ctr"/>
              <a:r>
                <a:rPr lang="en-US" altLang="zh-CN" sz="1600" i="1" dirty="0">
                  <a:solidFill>
                    <a:srgbClr val="7FCFED">
                      <a:alpha val="80000"/>
                    </a:srgbClr>
                  </a:solidFill>
                  <a:latin typeface="思源黑体 CN Normal" panose="020B0400000000000000" pitchFamily="34" charset="-122"/>
                  <a:ea typeface="思源黑体 CN Normal" panose="020B0400000000000000" pitchFamily="34" charset="-122"/>
                </a:rPr>
                <a:t>Respondent</a:t>
              </a:r>
              <a:endParaRPr lang="zh-CN" altLang="en-US" sz="1600" i="1" dirty="0">
                <a:solidFill>
                  <a:srgbClr val="7FCFED">
                    <a:alpha val="80000"/>
                  </a:srgbClr>
                </a:solidFill>
                <a:latin typeface="思源黑体 CN Normal" panose="020B0400000000000000" pitchFamily="34" charset="-122"/>
                <a:ea typeface="思源黑体 CN Normal" panose="020B0400000000000000" pitchFamily="34" charset="-122"/>
              </a:endParaRPr>
            </a:p>
          </p:txBody>
        </p:sp>
      </p:grpSp>
      <p:grpSp>
        <p:nvGrpSpPr>
          <p:cNvPr id="68" name="组合 67">
            <a:extLst>
              <a:ext uri="{FF2B5EF4-FFF2-40B4-BE49-F238E27FC236}">
                <a16:creationId xmlns:a16="http://schemas.microsoft.com/office/drawing/2014/main" id="{3374AB08-56B5-427C-AEE9-7D298FF8E4D5}"/>
              </a:ext>
            </a:extLst>
          </p:cNvPr>
          <p:cNvGrpSpPr/>
          <p:nvPr/>
        </p:nvGrpSpPr>
        <p:grpSpPr>
          <a:xfrm>
            <a:off x="2436392" y="1790923"/>
            <a:ext cx="7571303" cy="1986082"/>
            <a:chOff x="2436392" y="1805437"/>
            <a:chExt cx="7571303" cy="1986082"/>
          </a:xfrm>
        </p:grpSpPr>
        <p:sp>
          <p:nvSpPr>
            <p:cNvPr id="34" name="矩形 33">
              <a:extLst>
                <a:ext uri="{FF2B5EF4-FFF2-40B4-BE49-F238E27FC236}">
                  <a16:creationId xmlns:a16="http://schemas.microsoft.com/office/drawing/2014/main" id="{1DD06F86-4458-4DED-991B-46E94D9B2680}"/>
                </a:ext>
              </a:extLst>
            </p:cNvPr>
            <p:cNvSpPr/>
            <p:nvPr/>
          </p:nvSpPr>
          <p:spPr>
            <a:xfrm>
              <a:off x="2436392" y="2591190"/>
              <a:ext cx="7571303" cy="1200329"/>
            </a:xfrm>
            <a:prstGeom prst="rect">
              <a:avLst/>
            </a:prstGeom>
          </p:spPr>
          <p:txBody>
            <a:bodyPr wrap="none">
              <a:spAutoFit/>
            </a:bodyPr>
            <a:lstStyle/>
            <a:p>
              <a:r>
                <a:rPr lang="zh-CN" altLang="en-US" sz="7200" b="1" dirty="0">
                  <a:solidFill>
                    <a:srgbClr val="1974A2"/>
                  </a:solidFill>
                  <a:latin typeface="思源黑体 CN Bold" panose="020B0800000000000000" pitchFamily="34" charset="-122"/>
                  <a:ea typeface="思源黑体 CN Bold" panose="020B0800000000000000" pitchFamily="34" charset="-122"/>
                </a:rPr>
                <a:t>先进个人申请答辩</a:t>
              </a:r>
            </a:p>
          </p:txBody>
        </p:sp>
        <p:grpSp>
          <p:nvGrpSpPr>
            <p:cNvPr id="67" name="组合 66">
              <a:extLst>
                <a:ext uri="{FF2B5EF4-FFF2-40B4-BE49-F238E27FC236}">
                  <a16:creationId xmlns:a16="http://schemas.microsoft.com/office/drawing/2014/main" id="{658A7D83-7B02-4BCF-8EAD-49C68EFAD0CD}"/>
                </a:ext>
              </a:extLst>
            </p:cNvPr>
            <p:cNvGrpSpPr/>
            <p:nvPr/>
          </p:nvGrpSpPr>
          <p:grpSpPr>
            <a:xfrm>
              <a:off x="5967956" y="1805437"/>
              <a:ext cx="469010" cy="354830"/>
              <a:chOff x="5841912" y="1805437"/>
              <a:chExt cx="469010" cy="354830"/>
            </a:xfrm>
          </p:grpSpPr>
          <p:grpSp>
            <p:nvGrpSpPr>
              <p:cNvPr id="64" name="组合 63">
                <a:extLst>
                  <a:ext uri="{FF2B5EF4-FFF2-40B4-BE49-F238E27FC236}">
                    <a16:creationId xmlns:a16="http://schemas.microsoft.com/office/drawing/2014/main" id="{E3DC4BB0-46B0-4170-B583-2D9BE6720223}"/>
                  </a:ext>
                </a:extLst>
              </p:cNvPr>
              <p:cNvGrpSpPr/>
              <p:nvPr/>
            </p:nvGrpSpPr>
            <p:grpSpPr>
              <a:xfrm>
                <a:off x="5841912" y="1805437"/>
                <a:ext cx="387438" cy="354829"/>
                <a:chOff x="4941356" y="1306484"/>
                <a:chExt cx="526684" cy="482355"/>
              </a:xfrm>
            </p:grpSpPr>
            <p:sp>
              <p:nvSpPr>
                <p:cNvPr id="60" name="任意多边形: 形状 59">
                  <a:extLst>
                    <a:ext uri="{FF2B5EF4-FFF2-40B4-BE49-F238E27FC236}">
                      <a16:creationId xmlns:a16="http://schemas.microsoft.com/office/drawing/2014/main" id="{488B5DAA-2707-48B8-BABE-0768EB36D330}"/>
                    </a:ext>
                  </a:extLst>
                </p:cNvPr>
                <p:cNvSpPr/>
                <p:nvPr/>
              </p:nvSpPr>
              <p:spPr>
                <a:xfrm>
                  <a:off x="4941356" y="1306484"/>
                  <a:ext cx="526684" cy="277537"/>
                </a:xfrm>
                <a:custGeom>
                  <a:avLst/>
                  <a:gdLst>
                    <a:gd name="connsiteX0" fmla="*/ 845205 w 1691059"/>
                    <a:gd name="connsiteY0" fmla="*/ 891755 h 891108"/>
                    <a:gd name="connsiteX1" fmla="*/ 823298 w 1691059"/>
                    <a:gd name="connsiteY1" fmla="*/ 886040 h 891108"/>
                    <a:gd name="connsiteX2" fmla="*/ 24150 w 1691059"/>
                    <a:gd name="connsiteY2" fmla="*/ 459320 h 891108"/>
                    <a:gd name="connsiteX3" fmla="*/ 338 w 1691059"/>
                    <a:gd name="connsiteY3" fmla="*/ 417410 h 891108"/>
                    <a:gd name="connsiteX4" fmla="*/ 27960 w 1691059"/>
                    <a:gd name="connsiteY4" fmla="*/ 377405 h 891108"/>
                    <a:gd name="connsiteX5" fmla="*/ 881400 w 1691059"/>
                    <a:gd name="connsiteY5" fmla="*/ 4025 h 891108"/>
                    <a:gd name="connsiteX6" fmla="*/ 922358 w 1691059"/>
                    <a:gd name="connsiteY6" fmla="*/ 5930 h 891108"/>
                    <a:gd name="connsiteX7" fmla="*/ 1669118 w 1691059"/>
                    <a:gd name="connsiteY7" fmla="*/ 432650 h 891108"/>
                    <a:gd name="connsiteX8" fmla="*/ 1691978 w 1691059"/>
                    <a:gd name="connsiteY8" fmla="*/ 474560 h 891108"/>
                    <a:gd name="connsiteX9" fmla="*/ 1665308 w 1691059"/>
                    <a:gd name="connsiteY9" fmla="*/ 514565 h 891108"/>
                    <a:gd name="connsiteX10" fmla="*/ 865208 w 1691059"/>
                    <a:gd name="connsiteY10" fmla="*/ 887945 h 891108"/>
                    <a:gd name="connsiteX11" fmla="*/ 845205 w 1691059"/>
                    <a:gd name="connsiteY11" fmla="*/ 891755 h 891108"/>
                    <a:gd name="connsiteX12" fmla="*/ 149880 w 1691059"/>
                    <a:gd name="connsiteY12" fmla="*/ 423125 h 891108"/>
                    <a:gd name="connsiteX13" fmla="*/ 846158 w 1691059"/>
                    <a:gd name="connsiteY13" fmla="*/ 794600 h 891108"/>
                    <a:gd name="connsiteX14" fmla="*/ 1545293 w 1691059"/>
                    <a:gd name="connsiteY14" fmla="*/ 468845 h 891108"/>
                    <a:gd name="connsiteX15" fmla="*/ 895688 w 1691059"/>
                    <a:gd name="connsiteY15" fmla="*/ 97370 h 891108"/>
                    <a:gd name="connsiteX16" fmla="*/ 149880 w 1691059"/>
                    <a:gd name="connsiteY16" fmla="*/ 423125 h 89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1059" h="891108">
                      <a:moveTo>
                        <a:pt x="845205" y="891755"/>
                      </a:moveTo>
                      <a:cubicBezTo>
                        <a:pt x="837585" y="891755"/>
                        <a:pt x="829965" y="889850"/>
                        <a:pt x="823298" y="886040"/>
                      </a:cubicBezTo>
                      <a:lnTo>
                        <a:pt x="24150" y="459320"/>
                      </a:lnTo>
                      <a:cubicBezTo>
                        <a:pt x="8910" y="450748"/>
                        <a:pt x="-615" y="434555"/>
                        <a:pt x="338" y="417410"/>
                      </a:cubicBezTo>
                      <a:cubicBezTo>
                        <a:pt x="1290" y="400265"/>
                        <a:pt x="11768" y="384073"/>
                        <a:pt x="27960" y="377405"/>
                      </a:cubicBezTo>
                      <a:lnTo>
                        <a:pt x="881400" y="4025"/>
                      </a:lnTo>
                      <a:cubicBezTo>
                        <a:pt x="894735" y="-1690"/>
                        <a:pt x="909975" y="-737"/>
                        <a:pt x="922358" y="5930"/>
                      </a:cubicBezTo>
                      <a:lnTo>
                        <a:pt x="1669118" y="432650"/>
                      </a:lnTo>
                      <a:cubicBezTo>
                        <a:pt x="1684358" y="441223"/>
                        <a:pt x="1692930" y="457415"/>
                        <a:pt x="1691978" y="474560"/>
                      </a:cubicBezTo>
                      <a:cubicBezTo>
                        <a:pt x="1691026" y="491705"/>
                        <a:pt x="1681501" y="506945"/>
                        <a:pt x="1665308" y="514565"/>
                      </a:cubicBezTo>
                      <a:lnTo>
                        <a:pt x="865208" y="887945"/>
                      </a:lnTo>
                      <a:cubicBezTo>
                        <a:pt x="858540" y="889850"/>
                        <a:pt x="851873" y="891755"/>
                        <a:pt x="845205" y="891755"/>
                      </a:cubicBezTo>
                      <a:close/>
                      <a:moveTo>
                        <a:pt x="149880" y="423125"/>
                      </a:moveTo>
                      <a:lnTo>
                        <a:pt x="846158" y="794600"/>
                      </a:lnTo>
                      <a:lnTo>
                        <a:pt x="1545293" y="468845"/>
                      </a:lnTo>
                      <a:lnTo>
                        <a:pt x="895688" y="97370"/>
                      </a:lnTo>
                      <a:lnTo>
                        <a:pt x="149880" y="423125"/>
                      </a:ln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sp>
              <p:nvSpPr>
                <p:cNvPr id="61" name="任意多边形: 形状 60">
                  <a:extLst>
                    <a:ext uri="{FF2B5EF4-FFF2-40B4-BE49-F238E27FC236}">
                      <a16:creationId xmlns:a16="http://schemas.microsoft.com/office/drawing/2014/main" id="{A746AD4E-F400-42A1-A14A-B979AA18249E}"/>
                    </a:ext>
                  </a:extLst>
                </p:cNvPr>
                <p:cNvSpPr/>
                <p:nvPr/>
              </p:nvSpPr>
              <p:spPr>
                <a:xfrm>
                  <a:off x="5023053" y="1581410"/>
                  <a:ext cx="363291" cy="207429"/>
                </a:xfrm>
                <a:custGeom>
                  <a:avLst/>
                  <a:gdLst>
                    <a:gd name="connsiteX0" fmla="*/ 590823 w 1166440"/>
                    <a:gd name="connsiteY0" fmla="*/ 667023 h 666005"/>
                    <a:gd name="connsiteX1" fmla="*/ 25990 w 1166440"/>
                    <a:gd name="connsiteY1" fmla="*/ 547960 h 666005"/>
                    <a:gd name="connsiteX2" fmla="*/ 273 w 1166440"/>
                    <a:gd name="connsiteY2" fmla="*/ 507003 h 666005"/>
                    <a:gd name="connsiteX3" fmla="*/ 273 w 1166440"/>
                    <a:gd name="connsiteY3" fmla="*/ 45992 h 666005"/>
                    <a:gd name="connsiteX4" fmla="*/ 45993 w 1166440"/>
                    <a:gd name="connsiteY4" fmla="*/ 273 h 666005"/>
                    <a:gd name="connsiteX5" fmla="*/ 91713 w 1166440"/>
                    <a:gd name="connsiteY5" fmla="*/ 45992 h 666005"/>
                    <a:gd name="connsiteX6" fmla="*/ 91713 w 1166440"/>
                    <a:gd name="connsiteY6" fmla="*/ 477475 h 666005"/>
                    <a:gd name="connsiteX7" fmla="*/ 1075645 w 1166440"/>
                    <a:gd name="connsiteY7" fmla="*/ 477475 h 666005"/>
                    <a:gd name="connsiteX8" fmla="*/ 1075645 w 1166440"/>
                    <a:gd name="connsiteY8" fmla="*/ 97428 h 666005"/>
                    <a:gd name="connsiteX9" fmla="*/ 1121365 w 1166440"/>
                    <a:gd name="connsiteY9" fmla="*/ 51708 h 666005"/>
                    <a:gd name="connsiteX10" fmla="*/ 1167085 w 1166440"/>
                    <a:gd name="connsiteY10" fmla="*/ 97428 h 666005"/>
                    <a:gd name="connsiteX11" fmla="*/ 1167085 w 1166440"/>
                    <a:gd name="connsiteY11" fmla="*/ 507003 h 666005"/>
                    <a:gd name="connsiteX12" fmla="*/ 1140415 w 1166440"/>
                    <a:gd name="connsiteY12" fmla="*/ 548913 h 666005"/>
                    <a:gd name="connsiteX13" fmla="*/ 590823 w 1166440"/>
                    <a:gd name="connsiteY13" fmla="*/ 667023 h 6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6440" h="666005">
                      <a:moveTo>
                        <a:pt x="590823" y="667023"/>
                      </a:moveTo>
                      <a:cubicBezTo>
                        <a:pt x="269830" y="667023"/>
                        <a:pt x="40278" y="554628"/>
                        <a:pt x="25990" y="547960"/>
                      </a:cubicBezTo>
                      <a:cubicBezTo>
                        <a:pt x="10750" y="540340"/>
                        <a:pt x="273" y="524148"/>
                        <a:pt x="273" y="507003"/>
                      </a:cubicBezTo>
                      <a:lnTo>
                        <a:pt x="273" y="45992"/>
                      </a:lnTo>
                      <a:cubicBezTo>
                        <a:pt x="273" y="21228"/>
                        <a:pt x="20275" y="273"/>
                        <a:pt x="45993" y="273"/>
                      </a:cubicBezTo>
                      <a:cubicBezTo>
                        <a:pt x="71710" y="273"/>
                        <a:pt x="91713" y="20275"/>
                        <a:pt x="91713" y="45992"/>
                      </a:cubicBezTo>
                      <a:lnTo>
                        <a:pt x="91713" y="477475"/>
                      </a:lnTo>
                      <a:cubicBezTo>
                        <a:pt x="197440" y="521290"/>
                        <a:pt x="619398" y="671785"/>
                        <a:pt x="1075645" y="477475"/>
                      </a:cubicBezTo>
                      <a:lnTo>
                        <a:pt x="1075645" y="97428"/>
                      </a:lnTo>
                      <a:cubicBezTo>
                        <a:pt x="1075645" y="72662"/>
                        <a:pt x="1095648" y="51708"/>
                        <a:pt x="1121365" y="51708"/>
                      </a:cubicBezTo>
                      <a:cubicBezTo>
                        <a:pt x="1147083" y="51708"/>
                        <a:pt x="1167085" y="71710"/>
                        <a:pt x="1167085" y="97428"/>
                      </a:cubicBezTo>
                      <a:lnTo>
                        <a:pt x="1167085" y="507003"/>
                      </a:lnTo>
                      <a:cubicBezTo>
                        <a:pt x="1167085" y="525100"/>
                        <a:pt x="1156608" y="541293"/>
                        <a:pt x="1140415" y="548913"/>
                      </a:cubicBezTo>
                      <a:cubicBezTo>
                        <a:pt x="944200" y="637495"/>
                        <a:pt x="755605" y="667023"/>
                        <a:pt x="590823" y="667023"/>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
            <p:nvSpPr>
              <p:cNvPr id="62" name="任意多边形: 形状 61">
                <a:extLst>
                  <a:ext uri="{FF2B5EF4-FFF2-40B4-BE49-F238E27FC236}">
                    <a16:creationId xmlns:a16="http://schemas.microsoft.com/office/drawing/2014/main" id="{7516A9E1-74EA-4E10-9C90-1E52664DE8D6}"/>
                  </a:ext>
                </a:extLst>
              </p:cNvPr>
              <p:cNvSpPr/>
              <p:nvPr/>
            </p:nvSpPr>
            <p:spPr>
              <a:xfrm>
                <a:off x="6282531" y="2049020"/>
                <a:ext cx="28391" cy="111247"/>
              </a:xfrm>
              <a:custGeom>
                <a:avLst/>
                <a:gdLst>
                  <a:gd name="connsiteX0" fmla="*/ 45992 w 91157"/>
                  <a:gd name="connsiteY0" fmla="*/ 358412 h 357187"/>
                  <a:gd name="connsiteX1" fmla="*/ 273 w 91157"/>
                  <a:gd name="connsiteY1" fmla="*/ 312692 h 357187"/>
                  <a:gd name="connsiteX2" fmla="*/ 273 w 91157"/>
                  <a:gd name="connsiteY2" fmla="*/ 45992 h 357187"/>
                  <a:gd name="connsiteX3" fmla="*/ 45992 w 91157"/>
                  <a:gd name="connsiteY3" fmla="*/ 273 h 357187"/>
                  <a:gd name="connsiteX4" fmla="*/ 91713 w 91157"/>
                  <a:gd name="connsiteY4" fmla="*/ 45992 h 357187"/>
                  <a:gd name="connsiteX5" fmla="*/ 91713 w 91157"/>
                  <a:gd name="connsiteY5" fmla="*/ 312692 h 357187"/>
                  <a:gd name="connsiteX6" fmla="*/ 45992 w 91157"/>
                  <a:gd name="connsiteY6" fmla="*/ 358412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57" h="357187">
                    <a:moveTo>
                      <a:pt x="45992" y="358412"/>
                    </a:moveTo>
                    <a:cubicBezTo>
                      <a:pt x="20275" y="358412"/>
                      <a:pt x="273" y="338410"/>
                      <a:pt x="273" y="312692"/>
                    </a:cubicBezTo>
                    <a:lnTo>
                      <a:pt x="273" y="45992"/>
                    </a:lnTo>
                    <a:cubicBezTo>
                      <a:pt x="273" y="21227"/>
                      <a:pt x="20275" y="273"/>
                      <a:pt x="45992" y="273"/>
                    </a:cubicBezTo>
                    <a:cubicBezTo>
                      <a:pt x="71710" y="273"/>
                      <a:pt x="91713" y="20275"/>
                      <a:pt x="91713" y="45992"/>
                    </a:cubicBezTo>
                    <a:lnTo>
                      <a:pt x="91713" y="312692"/>
                    </a:lnTo>
                    <a:cubicBezTo>
                      <a:pt x="91713" y="337458"/>
                      <a:pt x="71710" y="358412"/>
                      <a:pt x="45992" y="358412"/>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grpSp>
    </p:spTree>
    <p:extLst>
      <p:ext uri="{BB962C8B-B14F-4D97-AF65-F5344CB8AC3E}">
        <p14:creationId xmlns:p14="http://schemas.microsoft.com/office/powerpoint/2010/main" val="110334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
                                          </p:val>
                                        </p:tav>
                                        <p:tav tm="100000">
                                          <p:val>
                                            <p:strVal val="#ppt_x"/>
                                          </p:val>
                                        </p:tav>
                                      </p:tavLst>
                                    </p:anim>
                                    <p:anim calcmode="lin" valueType="num">
                                      <p:cBhvr>
                                        <p:cTn id="9" dur="1000" fill="hold"/>
                                        <p:tgtEl>
                                          <p:spTgt spid="6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1000"/>
                                        <p:tgtEl>
                                          <p:spTgt spid="55"/>
                                        </p:tgtEl>
                                      </p:cBhvr>
                                    </p:animEffect>
                                    <p:anim calcmode="lin" valueType="num">
                                      <p:cBhvr>
                                        <p:cTn id="14" dur="1000" fill="hold"/>
                                        <p:tgtEl>
                                          <p:spTgt spid="55"/>
                                        </p:tgtEl>
                                        <p:attrNameLst>
                                          <p:attrName>ppt_x</p:attrName>
                                        </p:attrNameLst>
                                      </p:cBhvr>
                                      <p:tavLst>
                                        <p:tav tm="0">
                                          <p:val>
                                            <p:strVal val="#ppt_x"/>
                                          </p:val>
                                        </p:tav>
                                        <p:tav tm="100000">
                                          <p:val>
                                            <p:strVal val="#ppt_x"/>
                                          </p:val>
                                        </p:tav>
                                      </p:tavLst>
                                    </p:anim>
                                    <p:anim calcmode="lin" valueType="num">
                                      <p:cBhvr>
                                        <p:cTn id="15"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855F98E9-19C5-4000-9F1F-054D9BAC4C70}"/>
              </a:ext>
            </a:extLst>
          </p:cNvPr>
          <p:cNvGrpSpPr/>
          <p:nvPr/>
        </p:nvGrpSpPr>
        <p:grpSpPr>
          <a:xfrm>
            <a:off x="1680302" y="2270532"/>
            <a:ext cx="3332059" cy="1961824"/>
            <a:chOff x="2975831" y="1204375"/>
            <a:chExt cx="3332059" cy="1961824"/>
          </a:xfrm>
        </p:grpSpPr>
        <p:sp>
          <p:nvSpPr>
            <p:cNvPr id="42" name="矩形 41">
              <a:extLst>
                <a:ext uri="{FF2B5EF4-FFF2-40B4-BE49-F238E27FC236}">
                  <a16:creationId xmlns:a16="http://schemas.microsoft.com/office/drawing/2014/main" id="{9FAEBF96-ED19-4D6B-8FBA-9F415702BA01}"/>
                </a:ext>
              </a:extLst>
            </p:cNvPr>
            <p:cNvSpPr/>
            <p:nvPr/>
          </p:nvSpPr>
          <p:spPr>
            <a:xfrm>
              <a:off x="3828725" y="2519868"/>
              <a:ext cx="1316386" cy="646331"/>
            </a:xfrm>
            <a:prstGeom prst="rect">
              <a:avLst/>
            </a:prstGeom>
          </p:spPr>
          <p:txBody>
            <a:bodyPr wrap="none">
              <a:spAutoFit/>
            </a:bodyPr>
            <a:lstStyle/>
            <a:p>
              <a:r>
                <a:rPr lang="zh-CN" altLang="en-US" sz="3600" b="1" dirty="0">
                  <a:solidFill>
                    <a:schemeClr val="bg1"/>
                  </a:solidFill>
                  <a:latin typeface="思源黑体 CN Bold" panose="020B0800000000000000" pitchFamily="34" charset="-122"/>
                  <a:ea typeface="思源黑体 CN Bold" panose="020B0800000000000000" pitchFamily="34" charset="-122"/>
                </a:rPr>
                <a:t>目  录</a:t>
              </a:r>
            </a:p>
          </p:txBody>
        </p:sp>
        <p:sp>
          <p:nvSpPr>
            <p:cNvPr id="44" name="平行四边形 43">
              <a:extLst>
                <a:ext uri="{FF2B5EF4-FFF2-40B4-BE49-F238E27FC236}">
                  <a16:creationId xmlns:a16="http://schemas.microsoft.com/office/drawing/2014/main" id="{58FD0A88-80F5-4FDF-AB53-74A09D3CFB72}"/>
                </a:ext>
              </a:extLst>
            </p:cNvPr>
            <p:cNvSpPr/>
            <p:nvPr/>
          </p:nvSpPr>
          <p:spPr>
            <a:xfrm>
              <a:off x="3508776" y="1383732"/>
              <a:ext cx="496547" cy="635902"/>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483E6FB2-40EC-4423-A7BA-CB0CC30F3AE2}"/>
                </a:ext>
              </a:extLst>
            </p:cNvPr>
            <p:cNvSpPr/>
            <p:nvPr/>
          </p:nvSpPr>
          <p:spPr>
            <a:xfrm>
              <a:off x="2975831" y="1620719"/>
              <a:ext cx="3022174" cy="1015663"/>
            </a:xfrm>
            <a:prstGeom prst="rect">
              <a:avLst/>
            </a:prstGeom>
          </p:spPr>
          <p:txBody>
            <a:bodyPr wrap="none">
              <a:spAutoFit/>
            </a:bodyPr>
            <a:lstStyle/>
            <a:p>
              <a:r>
                <a:rPr lang="en-US" altLang="zh-CN" sz="6000" b="1" dirty="0">
                  <a:solidFill>
                    <a:schemeClr val="bg1"/>
                  </a:solidFill>
                  <a:latin typeface="思源黑体 CN Bold" panose="020B0800000000000000" pitchFamily="34" charset="-122"/>
                  <a:ea typeface="思源黑体 CN Bold" panose="020B0800000000000000" pitchFamily="34" charset="-122"/>
                </a:rPr>
                <a:t>C</a:t>
              </a:r>
              <a:r>
                <a:rPr lang="en-US" altLang="zh-CN" sz="4800" b="1" dirty="0">
                  <a:solidFill>
                    <a:schemeClr val="bg1"/>
                  </a:solidFill>
                  <a:latin typeface="思源黑体 CN Bold" panose="020B0800000000000000" pitchFamily="34" charset="-122"/>
                  <a:ea typeface="思源黑体 CN Bold" panose="020B0800000000000000" pitchFamily="34" charset="-122"/>
                </a:rPr>
                <a:t>ontents</a:t>
              </a:r>
              <a:endParaRPr lang="zh-CN" altLang="en-US" sz="4800" b="1" dirty="0">
                <a:solidFill>
                  <a:schemeClr val="bg1"/>
                </a:solidFill>
                <a:latin typeface="思源黑体 CN Bold" panose="020B0800000000000000" pitchFamily="34" charset="-122"/>
                <a:ea typeface="思源黑体 CN Bold" panose="020B0800000000000000" pitchFamily="34" charset="-122"/>
              </a:endParaRPr>
            </a:p>
          </p:txBody>
        </p:sp>
        <p:grpSp>
          <p:nvGrpSpPr>
            <p:cNvPr id="46" name="组合 45">
              <a:extLst>
                <a:ext uri="{FF2B5EF4-FFF2-40B4-BE49-F238E27FC236}">
                  <a16:creationId xmlns:a16="http://schemas.microsoft.com/office/drawing/2014/main" id="{C521821B-7881-4E3B-89E4-71DF933D8D05}"/>
                </a:ext>
              </a:extLst>
            </p:cNvPr>
            <p:cNvGrpSpPr/>
            <p:nvPr/>
          </p:nvGrpSpPr>
          <p:grpSpPr>
            <a:xfrm>
              <a:off x="5884111" y="1204375"/>
              <a:ext cx="423779" cy="320610"/>
              <a:chOff x="5967956" y="1536834"/>
              <a:chExt cx="469010" cy="354830"/>
            </a:xfrm>
          </p:grpSpPr>
          <p:grpSp>
            <p:nvGrpSpPr>
              <p:cNvPr id="47" name="组合 46">
                <a:extLst>
                  <a:ext uri="{FF2B5EF4-FFF2-40B4-BE49-F238E27FC236}">
                    <a16:creationId xmlns:a16="http://schemas.microsoft.com/office/drawing/2014/main" id="{DEA57E58-54A6-4BBD-AD95-D1B1BACAFA2C}"/>
                  </a:ext>
                </a:extLst>
              </p:cNvPr>
              <p:cNvGrpSpPr/>
              <p:nvPr/>
            </p:nvGrpSpPr>
            <p:grpSpPr>
              <a:xfrm>
                <a:off x="5967956" y="1536834"/>
                <a:ext cx="387438" cy="354830"/>
                <a:chOff x="4941356" y="961075"/>
                <a:chExt cx="526684" cy="482356"/>
              </a:xfrm>
            </p:grpSpPr>
            <p:sp>
              <p:nvSpPr>
                <p:cNvPr id="52" name="任意多边形: 形状 51">
                  <a:extLst>
                    <a:ext uri="{FF2B5EF4-FFF2-40B4-BE49-F238E27FC236}">
                      <a16:creationId xmlns:a16="http://schemas.microsoft.com/office/drawing/2014/main" id="{8E5FE18E-75F6-4B43-8000-5C24D895DA94}"/>
                    </a:ext>
                  </a:extLst>
                </p:cNvPr>
                <p:cNvSpPr/>
                <p:nvPr/>
              </p:nvSpPr>
              <p:spPr>
                <a:xfrm>
                  <a:off x="4941356" y="961075"/>
                  <a:ext cx="526684" cy="277537"/>
                </a:xfrm>
                <a:custGeom>
                  <a:avLst/>
                  <a:gdLst>
                    <a:gd name="connsiteX0" fmla="*/ 845205 w 1691059"/>
                    <a:gd name="connsiteY0" fmla="*/ 891755 h 891108"/>
                    <a:gd name="connsiteX1" fmla="*/ 823298 w 1691059"/>
                    <a:gd name="connsiteY1" fmla="*/ 886040 h 891108"/>
                    <a:gd name="connsiteX2" fmla="*/ 24150 w 1691059"/>
                    <a:gd name="connsiteY2" fmla="*/ 459320 h 891108"/>
                    <a:gd name="connsiteX3" fmla="*/ 338 w 1691059"/>
                    <a:gd name="connsiteY3" fmla="*/ 417410 h 891108"/>
                    <a:gd name="connsiteX4" fmla="*/ 27960 w 1691059"/>
                    <a:gd name="connsiteY4" fmla="*/ 377405 h 891108"/>
                    <a:gd name="connsiteX5" fmla="*/ 881400 w 1691059"/>
                    <a:gd name="connsiteY5" fmla="*/ 4025 h 891108"/>
                    <a:gd name="connsiteX6" fmla="*/ 922358 w 1691059"/>
                    <a:gd name="connsiteY6" fmla="*/ 5930 h 891108"/>
                    <a:gd name="connsiteX7" fmla="*/ 1669118 w 1691059"/>
                    <a:gd name="connsiteY7" fmla="*/ 432650 h 891108"/>
                    <a:gd name="connsiteX8" fmla="*/ 1691978 w 1691059"/>
                    <a:gd name="connsiteY8" fmla="*/ 474560 h 891108"/>
                    <a:gd name="connsiteX9" fmla="*/ 1665308 w 1691059"/>
                    <a:gd name="connsiteY9" fmla="*/ 514565 h 891108"/>
                    <a:gd name="connsiteX10" fmla="*/ 865208 w 1691059"/>
                    <a:gd name="connsiteY10" fmla="*/ 887945 h 891108"/>
                    <a:gd name="connsiteX11" fmla="*/ 845205 w 1691059"/>
                    <a:gd name="connsiteY11" fmla="*/ 891755 h 891108"/>
                    <a:gd name="connsiteX12" fmla="*/ 149880 w 1691059"/>
                    <a:gd name="connsiteY12" fmla="*/ 423125 h 891108"/>
                    <a:gd name="connsiteX13" fmla="*/ 846158 w 1691059"/>
                    <a:gd name="connsiteY13" fmla="*/ 794600 h 891108"/>
                    <a:gd name="connsiteX14" fmla="*/ 1545293 w 1691059"/>
                    <a:gd name="connsiteY14" fmla="*/ 468845 h 891108"/>
                    <a:gd name="connsiteX15" fmla="*/ 895688 w 1691059"/>
                    <a:gd name="connsiteY15" fmla="*/ 97370 h 891108"/>
                    <a:gd name="connsiteX16" fmla="*/ 149880 w 1691059"/>
                    <a:gd name="connsiteY16" fmla="*/ 423125 h 89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1059" h="891108">
                      <a:moveTo>
                        <a:pt x="845205" y="891755"/>
                      </a:moveTo>
                      <a:cubicBezTo>
                        <a:pt x="837585" y="891755"/>
                        <a:pt x="829965" y="889850"/>
                        <a:pt x="823298" y="886040"/>
                      </a:cubicBezTo>
                      <a:lnTo>
                        <a:pt x="24150" y="459320"/>
                      </a:lnTo>
                      <a:cubicBezTo>
                        <a:pt x="8910" y="450748"/>
                        <a:pt x="-615" y="434555"/>
                        <a:pt x="338" y="417410"/>
                      </a:cubicBezTo>
                      <a:cubicBezTo>
                        <a:pt x="1290" y="400265"/>
                        <a:pt x="11768" y="384073"/>
                        <a:pt x="27960" y="377405"/>
                      </a:cubicBezTo>
                      <a:lnTo>
                        <a:pt x="881400" y="4025"/>
                      </a:lnTo>
                      <a:cubicBezTo>
                        <a:pt x="894735" y="-1690"/>
                        <a:pt x="909975" y="-737"/>
                        <a:pt x="922358" y="5930"/>
                      </a:cubicBezTo>
                      <a:lnTo>
                        <a:pt x="1669118" y="432650"/>
                      </a:lnTo>
                      <a:cubicBezTo>
                        <a:pt x="1684358" y="441223"/>
                        <a:pt x="1692930" y="457415"/>
                        <a:pt x="1691978" y="474560"/>
                      </a:cubicBezTo>
                      <a:cubicBezTo>
                        <a:pt x="1691026" y="491705"/>
                        <a:pt x="1681501" y="506945"/>
                        <a:pt x="1665308" y="514565"/>
                      </a:cubicBezTo>
                      <a:lnTo>
                        <a:pt x="865208" y="887945"/>
                      </a:lnTo>
                      <a:cubicBezTo>
                        <a:pt x="858540" y="889850"/>
                        <a:pt x="851873" y="891755"/>
                        <a:pt x="845205" y="891755"/>
                      </a:cubicBezTo>
                      <a:close/>
                      <a:moveTo>
                        <a:pt x="149880" y="423125"/>
                      </a:moveTo>
                      <a:lnTo>
                        <a:pt x="846158" y="794600"/>
                      </a:lnTo>
                      <a:lnTo>
                        <a:pt x="1545293" y="468845"/>
                      </a:lnTo>
                      <a:lnTo>
                        <a:pt x="895688" y="97370"/>
                      </a:lnTo>
                      <a:lnTo>
                        <a:pt x="149880" y="423125"/>
                      </a:ln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sp>
              <p:nvSpPr>
                <p:cNvPr id="59" name="任意多边形: 形状 58">
                  <a:extLst>
                    <a:ext uri="{FF2B5EF4-FFF2-40B4-BE49-F238E27FC236}">
                      <a16:creationId xmlns:a16="http://schemas.microsoft.com/office/drawing/2014/main" id="{5CD97E51-1A45-4155-AF67-79CBA6F7B1E9}"/>
                    </a:ext>
                  </a:extLst>
                </p:cNvPr>
                <p:cNvSpPr/>
                <p:nvPr/>
              </p:nvSpPr>
              <p:spPr>
                <a:xfrm>
                  <a:off x="5023053" y="1236002"/>
                  <a:ext cx="363290" cy="207429"/>
                </a:xfrm>
                <a:custGeom>
                  <a:avLst/>
                  <a:gdLst>
                    <a:gd name="connsiteX0" fmla="*/ 590823 w 1166440"/>
                    <a:gd name="connsiteY0" fmla="*/ 667023 h 666005"/>
                    <a:gd name="connsiteX1" fmla="*/ 25990 w 1166440"/>
                    <a:gd name="connsiteY1" fmla="*/ 547960 h 666005"/>
                    <a:gd name="connsiteX2" fmla="*/ 273 w 1166440"/>
                    <a:gd name="connsiteY2" fmla="*/ 507003 h 666005"/>
                    <a:gd name="connsiteX3" fmla="*/ 273 w 1166440"/>
                    <a:gd name="connsiteY3" fmla="*/ 45992 h 666005"/>
                    <a:gd name="connsiteX4" fmla="*/ 45993 w 1166440"/>
                    <a:gd name="connsiteY4" fmla="*/ 273 h 666005"/>
                    <a:gd name="connsiteX5" fmla="*/ 91713 w 1166440"/>
                    <a:gd name="connsiteY5" fmla="*/ 45992 h 666005"/>
                    <a:gd name="connsiteX6" fmla="*/ 91713 w 1166440"/>
                    <a:gd name="connsiteY6" fmla="*/ 477475 h 666005"/>
                    <a:gd name="connsiteX7" fmla="*/ 1075645 w 1166440"/>
                    <a:gd name="connsiteY7" fmla="*/ 477475 h 666005"/>
                    <a:gd name="connsiteX8" fmla="*/ 1075645 w 1166440"/>
                    <a:gd name="connsiteY8" fmla="*/ 97428 h 666005"/>
                    <a:gd name="connsiteX9" fmla="*/ 1121365 w 1166440"/>
                    <a:gd name="connsiteY9" fmla="*/ 51708 h 666005"/>
                    <a:gd name="connsiteX10" fmla="*/ 1167085 w 1166440"/>
                    <a:gd name="connsiteY10" fmla="*/ 97428 h 666005"/>
                    <a:gd name="connsiteX11" fmla="*/ 1167085 w 1166440"/>
                    <a:gd name="connsiteY11" fmla="*/ 507003 h 666005"/>
                    <a:gd name="connsiteX12" fmla="*/ 1140415 w 1166440"/>
                    <a:gd name="connsiteY12" fmla="*/ 548913 h 666005"/>
                    <a:gd name="connsiteX13" fmla="*/ 590823 w 1166440"/>
                    <a:gd name="connsiteY13" fmla="*/ 667023 h 6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6440" h="666005">
                      <a:moveTo>
                        <a:pt x="590823" y="667023"/>
                      </a:moveTo>
                      <a:cubicBezTo>
                        <a:pt x="269830" y="667023"/>
                        <a:pt x="40278" y="554628"/>
                        <a:pt x="25990" y="547960"/>
                      </a:cubicBezTo>
                      <a:cubicBezTo>
                        <a:pt x="10750" y="540340"/>
                        <a:pt x="273" y="524148"/>
                        <a:pt x="273" y="507003"/>
                      </a:cubicBezTo>
                      <a:lnTo>
                        <a:pt x="273" y="45992"/>
                      </a:lnTo>
                      <a:cubicBezTo>
                        <a:pt x="273" y="21228"/>
                        <a:pt x="20275" y="273"/>
                        <a:pt x="45993" y="273"/>
                      </a:cubicBezTo>
                      <a:cubicBezTo>
                        <a:pt x="71710" y="273"/>
                        <a:pt x="91713" y="20275"/>
                        <a:pt x="91713" y="45992"/>
                      </a:cubicBezTo>
                      <a:lnTo>
                        <a:pt x="91713" y="477475"/>
                      </a:lnTo>
                      <a:cubicBezTo>
                        <a:pt x="197440" y="521290"/>
                        <a:pt x="619398" y="671785"/>
                        <a:pt x="1075645" y="477475"/>
                      </a:cubicBezTo>
                      <a:lnTo>
                        <a:pt x="1075645" y="97428"/>
                      </a:lnTo>
                      <a:cubicBezTo>
                        <a:pt x="1075645" y="72662"/>
                        <a:pt x="1095648" y="51708"/>
                        <a:pt x="1121365" y="51708"/>
                      </a:cubicBezTo>
                      <a:cubicBezTo>
                        <a:pt x="1147083" y="51708"/>
                        <a:pt x="1167085" y="71710"/>
                        <a:pt x="1167085" y="97428"/>
                      </a:cubicBezTo>
                      <a:lnTo>
                        <a:pt x="1167085" y="507003"/>
                      </a:lnTo>
                      <a:cubicBezTo>
                        <a:pt x="1167085" y="525100"/>
                        <a:pt x="1156608" y="541293"/>
                        <a:pt x="1140415" y="548913"/>
                      </a:cubicBezTo>
                      <a:cubicBezTo>
                        <a:pt x="944200" y="637495"/>
                        <a:pt x="755605" y="667023"/>
                        <a:pt x="590823" y="667023"/>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
            <p:nvSpPr>
              <p:cNvPr id="50" name="任意多边形: 形状 49">
                <a:extLst>
                  <a:ext uri="{FF2B5EF4-FFF2-40B4-BE49-F238E27FC236}">
                    <a16:creationId xmlns:a16="http://schemas.microsoft.com/office/drawing/2014/main" id="{36E5014C-9607-44A8-BB59-3708D1CB569A}"/>
                  </a:ext>
                </a:extLst>
              </p:cNvPr>
              <p:cNvSpPr/>
              <p:nvPr/>
            </p:nvSpPr>
            <p:spPr>
              <a:xfrm>
                <a:off x="6408575" y="1780417"/>
                <a:ext cx="28391" cy="111247"/>
              </a:xfrm>
              <a:custGeom>
                <a:avLst/>
                <a:gdLst>
                  <a:gd name="connsiteX0" fmla="*/ 45992 w 91157"/>
                  <a:gd name="connsiteY0" fmla="*/ 358412 h 357187"/>
                  <a:gd name="connsiteX1" fmla="*/ 273 w 91157"/>
                  <a:gd name="connsiteY1" fmla="*/ 312692 h 357187"/>
                  <a:gd name="connsiteX2" fmla="*/ 273 w 91157"/>
                  <a:gd name="connsiteY2" fmla="*/ 45992 h 357187"/>
                  <a:gd name="connsiteX3" fmla="*/ 45992 w 91157"/>
                  <a:gd name="connsiteY3" fmla="*/ 273 h 357187"/>
                  <a:gd name="connsiteX4" fmla="*/ 91713 w 91157"/>
                  <a:gd name="connsiteY4" fmla="*/ 45992 h 357187"/>
                  <a:gd name="connsiteX5" fmla="*/ 91713 w 91157"/>
                  <a:gd name="connsiteY5" fmla="*/ 312692 h 357187"/>
                  <a:gd name="connsiteX6" fmla="*/ 45992 w 91157"/>
                  <a:gd name="connsiteY6" fmla="*/ 358412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57" h="357187">
                    <a:moveTo>
                      <a:pt x="45992" y="358412"/>
                    </a:moveTo>
                    <a:cubicBezTo>
                      <a:pt x="20275" y="358412"/>
                      <a:pt x="273" y="338410"/>
                      <a:pt x="273" y="312692"/>
                    </a:cubicBezTo>
                    <a:lnTo>
                      <a:pt x="273" y="45992"/>
                    </a:lnTo>
                    <a:cubicBezTo>
                      <a:pt x="273" y="21227"/>
                      <a:pt x="20275" y="273"/>
                      <a:pt x="45992" y="273"/>
                    </a:cubicBezTo>
                    <a:cubicBezTo>
                      <a:pt x="71710" y="273"/>
                      <a:pt x="91713" y="20275"/>
                      <a:pt x="91713" y="45992"/>
                    </a:cubicBezTo>
                    <a:lnTo>
                      <a:pt x="91713" y="312692"/>
                    </a:lnTo>
                    <a:cubicBezTo>
                      <a:pt x="91713" y="337458"/>
                      <a:pt x="71710" y="358412"/>
                      <a:pt x="45992" y="358412"/>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grpSp>
      <p:grpSp>
        <p:nvGrpSpPr>
          <p:cNvPr id="2" name="组合 1">
            <a:extLst>
              <a:ext uri="{FF2B5EF4-FFF2-40B4-BE49-F238E27FC236}">
                <a16:creationId xmlns:a16="http://schemas.microsoft.com/office/drawing/2014/main" id="{04D80E04-A1F8-4E41-9D2C-74F458907297}"/>
              </a:ext>
            </a:extLst>
          </p:cNvPr>
          <p:cNvGrpSpPr/>
          <p:nvPr/>
        </p:nvGrpSpPr>
        <p:grpSpPr>
          <a:xfrm>
            <a:off x="6354897" y="1180492"/>
            <a:ext cx="2538038" cy="836017"/>
            <a:chOff x="6354897" y="1180492"/>
            <a:chExt cx="2538038" cy="836017"/>
          </a:xfrm>
        </p:grpSpPr>
        <p:sp>
          <p:nvSpPr>
            <p:cNvPr id="65" name="平行四边形 64">
              <a:extLst>
                <a:ext uri="{FF2B5EF4-FFF2-40B4-BE49-F238E27FC236}">
                  <a16:creationId xmlns:a16="http://schemas.microsoft.com/office/drawing/2014/main" id="{244008FF-ADDA-4E26-AC3C-996AAD9D29B5}"/>
                </a:ext>
              </a:extLst>
            </p:cNvPr>
            <p:cNvSpPr/>
            <p:nvPr/>
          </p:nvSpPr>
          <p:spPr>
            <a:xfrm>
              <a:off x="6354897" y="1180492"/>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1</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66" name="文本框 65">
              <a:extLst>
                <a:ext uri="{FF2B5EF4-FFF2-40B4-BE49-F238E27FC236}">
                  <a16:creationId xmlns:a16="http://schemas.microsoft.com/office/drawing/2014/main" id="{25C3CB82-1F35-43C9-AC53-048A5D63DDB5}"/>
                </a:ext>
              </a:extLst>
            </p:cNvPr>
            <p:cNvSpPr txBox="1"/>
            <p:nvPr/>
          </p:nvSpPr>
          <p:spPr>
            <a:xfrm>
              <a:off x="7271978" y="1191405"/>
              <a:ext cx="1620957" cy="523220"/>
            </a:xfrm>
            <a:prstGeom prst="rect">
              <a:avLst/>
            </a:prstGeom>
            <a:noFill/>
          </p:spPr>
          <p:txBody>
            <a:bodyPr wrap="none" rtlCol="0">
              <a:spAutoFit/>
            </a:bodyPr>
            <a:lstStyle/>
            <a:p>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个人简介</a:t>
              </a:r>
            </a:p>
          </p:txBody>
        </p:sp>
        <p:sp>
          <p:nvSpPr>
            <p:cNvPr id="69" name="文本框 68">
              <a:extLst>
                <a:ext uri="{FF2B5EF4-FFF2-40B4-BE49-F238E27FC236}">
                  <a16:creationId xmlns:a16="http://schemas.microsoft.com/office/drawing/2014/main" id="{E8FA7E8D-E9EF-4F54-BA9E-178FBE9F5206}"/>
                </a:ext>
              </a:extLst>
            </p:cNvPr>
            <p:cNvSpPr txBox="1"/>
            <p:nvPr/>
          </p:nvSpPr>
          <p:spPr>
            <a:xfrm>
              <a:off x="7271978" y="1666456"/>
              <a:ext cx="1517660" cy="307777"/>
            </a:xfrm>
            <a:prstGeom prst="rect">
              <a:avLst/>
            </a:prstGeom>
            <a:noFill/>
          </p:spPr>
          <p:txBody>
            <a:bodyPr wrap="none" rtlCol="0">
              <a:spAutoFit/>
            </a:bodyPr>
            <a:lstStyle/>
            <a:p>
              <a:r>
                <a:rPr lang="en-US" altLang="zh-CN" sz="1400" i="1" dirty="0">
                  <a:solidFill>
                    <a:schemeClr val="bg1"/>
                  </a:solidFill>
                  <a:latin typeface="思源黑体 CN Normal" panose="020B0400000000000000" pitchFamily="34" charset="-122"/>
                  <a:ea typeface="思源黑体 CN Normal" panose="020B0400000000000000" pitchFamily="34" charset="-122"/>
                  <a:cs typeface="+mn-ea"/>
                  <a:sym typeface="+mn-lt"/>
                </a:rPr>
                <a:t>Personal Profile</a:t>
              </a:r>
              <a:endParaRPr lang="zh-CN" altLang="en-US" sz="1400" i="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4" name="组合 3">
            <a:extLst>
              <a:ext uri="{FF2B5EF4-FFF2-40B4-BE49-F238E27FC236}">
                <a16:creationId xmlns:a16="http://schemas.microsoft.com/office/drawing/2014/main" id="{2EA8FFDF-5543-4DA7-8DD7-58F774214C74}"/>
              </a:ext>
            </a:extLst>
          </p:cNvPr>
          <p:cNvGrpSpPr/>
          <p:nvPr/>
        </p:nvGrpSpPr>
        <p:grpSpPr>
          <a:xfrm>
            <a:off x="6354897" y="3621442"/>
            <a:ext cx="5098803" cy="836017"/>
            <a:chOff x="6354897" y="3621442"/>
            <a:chExt cx="5098803" cy="836017"/>
          </a:xfrm>
        </p:grpSpPr>
        <p:sp>
          <p:nvSpPr>
            <p:cNvPr id="75" name="平行四边形 74">
              <a:extLst>
                <a:ext uri="{FF2B5EF4-FFF2-40B4-BE49-F238E27FC236}">
                  <a16:creationId xmlns:a16="http://schemas.microsoft.com/office/drawing/2014/main" id="{EAF7C5EC-A1F5-4BFA-88D9-FD23D1339EBF}"/>
                </a:ext>
              </a:extLst>
            </p:cNvPr>
            <p:cNvSpPr/>
            <p:nvPr/>
          </p:nvSpPr>
          <p:spPr>
            <a:xfrm>
              <a:off x="6354897" y="3621442"/>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3</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76" name="文本框 75">
              <a:extLst>
                <a:ext uri="{FF2B5EF4-FFF2-40B4-BE49-F238E27FC236}">
                  <a16:creationId xmlns:a16="http://schemas.microsoft.com/office/drawing/2014/main" id="{7D7FE6C6-3928-4C95-962B-A0F7DDDB1FA1}"/>
                </a:ext>
              </a:extLst>
            </p:cNvPr>
            <p:cNvSpPr txBox="1"/>
            <p:nvPr/>
          </p:nvSpPr>
          <p:spPr>
            <a:xfrm>
              <a:off x="7271978" y="3632355"/>
              <a:ext cx="3416320" cy="523220"/>
            </a:xfrm>
            <a:prstGeom prst="rect">
              <a:avLst/>
            </a:prstGeom>
            <a:noFill/>
          </p:spPr>
          <p:txBody>
            <a:bodyPr wrap="none" rtlCol="0">
              <a:spAutoFit/>
            </a:bodyPr>
            <a:lstStyle/>
            <a:p>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个人成长与能力提升</a:t>
              </a:r>
            </a:p>
          </p:txBody>
        </p:sp>
        <p:sp>
          <p:nvSpPr>
            <p:cNvPr id="77" name="文本框 76">
              <a:extLst>
                <a:ext uri="{FF2B5EF4-FFF2-40B4-BE49-F238E27FC236}">
                  <a16:creationId xmlns:a16="http://schemas.microsoft.com/office/drawing/2014/main" id="{8093392A-F3D4-40E3-9A1D-98F8B3A81497}"/>
                </a:ext>
              </a:extLst>
            </p:cNvPr>
            <p:cNvSpPr txBox="1"/>
            <p:nvPr/>
          </p:nvSpPr>
          <p:spPr>
            <a:xfrm>
              <a:off x="7271978" y="4107406"/>
              <a:ext cx="4181722" cy="276999"/>
            </a:xfrm>
            <a:prstGeom prst="rect">
              <a:avLst/>
            </a:prstGeom>
            <a:noFill/>
          </p:spPr>
          <p:txBody>
            <a:bodyPr wrap="none" rtlCol="0">
              <a:spAutoFit/>
            </a:bodyPr>
            <a:lstStyle/>
            <a:p>
              <a:r>
                <a:rPr lang="en-US" altLang="zh-CN" sz="1200" i="1" dirty="0">
                  <a:solidFill>
                    <a:schemeClr val="bg1"/>
                  </a:solidFill>
                  <a:latin typeface="思源黑体 CN Normal" panose="020B0400000000000000" pitchFamily="34" charset="-122"/>
                  <a:ea typeface="思源黑体 CN Normal" panose="020B0400000000000000" pitchFamily="34" charset="-122"/>
                  <a:cs typeface="+mn-ea"/>
                  <a:sym typeface="+mn-lt"/>
                </a:rPr>
                <a:t>Personal Development and Competency Enhancement</a:t>
              </a:r>
              <a:endParaRPr lang="zh-CN" altLang="en-US" sz="1200" i="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82" name="组合 81">
            <a:extLst>
              <a:ext uri="{FF2B5EF4-FFF2-40B4-BE49-F238E27FC236}">
                <a16:creationId xmlns:a16="http://schemas.microsoft.com/office/drawing/2014/main" id="{DEBDEC61-9C3F-481E-8877-9544B55730F7}"/>
              </a:ext>
            </a:extLst>
          </p:cNvPr>
          <p:cNvGrpSpPr/>
          <p:nvPr/>
        </p:nvGrpSpPr>
        <p:grpSpPr>
          <a:xfrm>
            <a:off x="5034566" y="1528758"/>
            <a:ext cx="895342" cy="3748331"/>
            <a:chOff x="3575588" y="1528758"/>
            <a:chExt cx="2322290" cy="3748331"/>
          </a:xfrm>
        </p:grpSpPr>
        <p:cxnSp>
          <p:nvCxnSpPr>
            <p:cNvPr id="83" name="直接连接符 82">
              <a:extLst>
                <a:ext uri="{FF2B5EF4-FFF2-40B4-BE49-F238E27FC236}">
                  <a16:creationId xmlns:a16="http://schemas.microsoft.com/office/drawing/2014/main" id="{D7082146-6D64-425F-A9DE-110A5B42FB07}"/>
                </a:ext>
              </a:extLst>
            </p:cNvPr>
            <p:cNvCxnSpPr/>
            <p:nvPr/>
          </p:nvCxnSpPr>
          <p:spPr>
            <a:xfrm>
              <a:off x="5135878" y="1528758"/>
              <a:ext cx="7620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B55C4647-134B-45BE-8B0E-9E5F46657A11}"/>
                </a:ext>
              </a:extLst>
            </p:cNvPr>
            <p:cNvCxnSpPr/>
            <p:nvPr/>
          </p:nvCxnSpPr>
          <p:spPr>
            <a:xfrm>
              <a:off x="5135878" y="2878809"/>
              <a:ext cx="7620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4C1397E-67AD-426F-83FB-FD5C8F874426}"/>
                </a:ext>
              </a:extLst>
            </p:cNvPr>
            <p:cNvCxnSpPr/>
            <p:nvPr/>
          </p:nvCxnSpPr>
          <p:spPr>
            <a:xfrm>
              <a:off x="5135878" y="4191612"/>
              <a:ext cx="7620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66176BAC-6681-41B3-80E8-BC7F88496E17}"/>
                </a:ext>
              </a:extLst>
            </p:cNvPr>
            <p:cNvCxnSpPr/>
            <p:nvPr/>
          </p:nvCxnSpPr>
          <p:spPr>
            <a:xfrm>
              <a:off x="5135877" y="5277089"/>
              <a:ext cx="762001"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932C0252-2FD6-40AA-83C8-C2685CB7FBE1}"/>
                </a:ext>
              </a:extLst>
            </p:cNvPr>
            <p:cNvCxnSpPr>
              <a:cxnSpLocks/>
            </p:cNvCxnSpPr>
            <p:nvPr/>
          </p:nvCxnSpPr>
          <p:spPr>
            <a:xfrm>
              <a:off x="4900702" y="1598500"/>
              <a:ext cx="0" cy="3566741"/>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C4C8418A-4A56-4EC8-B314-D5DA2A73979F}"/>
                </a:ext>
              </a:extLst>
            </p:cNvPr>
            <p:cNvCxnSpPr>
              <a:cxnSpLocks/>
            </p:cNvCxnSpPr>
            <p:nvPr/>
          </p:nvCxnSpPr>
          <p:spPr>
            <a:xfrm>
              <a:off x="3575588" y="3586158"/>
              <a:ext cx="1022413"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C5FE2424-2668-4FF3-92C9-D7BDB33516E0}"/>
              </a:ext>
            </a:extLst>
          </p:cNvPr>
          <p:cNvGrpSpPr/>
          <p:nvPr/>
        </p:nvGrpSpPr>
        <p:grpSpPr>
          <a:xfrm>
            <a:off x="6383368" y="2400967"/>
            <a:ext cx="4482927" cy="836017"/>
            <a:chOff x="6383368" y="2400967"/>
            <a:chExt cx="4482927" cy="836017"/>
          </a:xfrm>
        </p:grpSpPr>
        <p:sp>
          <p:nvSpPr>
            <p:cNvPr id="72" name="文本框 71">
              <a:extLst>
                <a:ext uri="{FF2B5EF4-FFF2-40B4-BE49-F238E27FC236}">
                  <a16:creationId xmlns:a16="http://schemas.microsoft.com/office/drawing/2014/main" id="{E7786FC0-297F-43E0-9789-147ECC42C21E}"/>
                </a:ext>
              </a:extLst>
            </p:cNvPr>
            <p:cNvSpPr txBox="1"/>
            <p:nvPr/>
          </p:nvSpPr>
          <p:spPr>
            <a:xfrm>
              <a:off x="7271978" y="2411880"/>
              <a:ext cx="3057247" cy="523220"/>
            </a:xfrm>
            <a:prstGeom prst="rect">
              <a:avLst/>
            </a:prstGeom>
            <a:noFill/>
          </p:spPr>
          <p:txBody>
            <a:bodyPr wrap="none" rtlCol="0">
              <a:spAutoFit/>
            </a:bodyPr>
            <a:lstStyle/>
            <a:p>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社会实践参与情况</a:t>
              </a:r>
            </a:p>
          </p:txBody>
        </p:sp>
        <p:sp>
          <p:nvSpPr>
            <p:cNvPr id="73" name="文本框 72">
              <a:extLst>
                <a:ext uri="{FF2B5EF4-FFF2-40B4-BE49-F238E27FC236}">
                  <a16:creationId xmlns:a16="http://schemas.microsoft.com/office/drawing/2014/main" id="{D5F4BA78-6EEA-401B-8EDF-1E5D97CB24C1}"/>
                </a:ext>
              </a:extLst>
            </p:cNvPr>
            <p:cNvSpPr txBox="1"/>
            <p:nvPr/>
          </p:nvSpPr>
          <p:spPr>
            <a:xfrm>
              <a:off x="7271978" y="2886931"/>
              <a:ext cx="3594317" cy="307777"/>
            </a:xfrm>
            <a:prstGeom prst="rect">
              <a:avLst/>
            </a:prstGeom>
            <a:noFill/>
          </p:spPr>
          <p:txBody>
            <a:bodyPr wrap="none" rtlCol="0">
              <a:spAutoFit/>
            </a:bodyPr>
            <a:lstStyle/>
            <a:p>
              <a:r>
                <a:rPr lang="en-US" altLang="zh-CN" sz="1400" i="1" dirty="0">
                  <a:solidFill>
                    <a:schemeClr val="bg1"/>
                  </a:solidFill>
                  <a:latin typeface="思源黑体 CN Normal" panose="020B0400000000000000" pitchFamily="34" charset="-122"/>
                  <a:ea typeface="思源黑体 CN Normal" panose="020B0400000000000000" pitchFamily="34" charset="-122"/>
                  <a:cs typeface="+mn-ea"/>
                  <a:sym typeface="+mn-lt"/>
                </a:rPr>
                <a:t>Participation in Social Practice Activities</a:t>
              </a:r>
              <a:endParaRPr lang="zh-CN" altLang="en-US" sz="1400" i="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35" name="平行四边形 34">
              <a:extLst>
                <a:ext uri="{FF2B5EF4-FFF2-40B4-BE49-F238E27FC236}">
                  <a16:creationId xmlns:a16="http://schemas.microsoft.com/office/drawing/2014/main" id="{CAC51B4D-D1C2-4093-A22E-E15EA70DC979}"/>
                </a:ext>
              </a:extLst>
            </p:cNvPr>
            <p:cNvSpPr/>
            <p:nvPr/>
          </p:nvSpPr>
          <p:spPr>
            <a:xfrm>
              <a:off x="6383368" y="2400967"/>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2</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spTree>
    <p:extLst>
      <p:ext uri="{BB962C8B-B14F-4D97-AF65-F5344CB8AC3E}">
        <p14:creationId xmlns:p14="http://schemas.microsoft.com/office/powerpoint/2010/main" val="303947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1000"/>
                                        <p:tgtEl>
                                          <p:spTgt spid="82"/>
                                        </p:tgtEl>
                                      </p:cBhvr>
                                    </p:animEffect>
                                    <p:anim calcmode="lin" valueType="num">
                                      <p:cBhvr>
                                        <p:cTn id="14" dur="1000" fill="hold"/>
                                        <p:tgtEl>
                                          <p:spTgt spid="82"/>
                                        </p:tgtEl>
                                        <p:attrNameLst>
                                          <p:attrName>ppt_x</p:attrName>
                                        </p:attrNameLst>
                                      </p:cBhvr>
                                      <p:tavLst>
                                        <p:tav tm="0">
                                          <p:val>
                                            <p:strVal val="#ppt_x"/>
                                          </p:val>
                                        </p:tav>
                                        <p:tav tm="100000">
                                          <p:val>
                                            <p:strVal val="#ppt_x"/>
                                          </p:val>
                                        </p:tav>
                                      </p:tavLst>
                                    </p:anim>
                                    <p:anim calcmode="lin" valueType="num">
                                      <p:cBhvr>
                                        <p:cTn id="15" dur="1000" fill="hold"/>
                                        <p:tgtEl>
                                          <p:spTgt spid="8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500"/>
                            </p:stCondLst>
                            <p:childTnLst>
                              <p:par>
                                <p:cTn id="21" presetID="10"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156B230-61DF-4CEA-8021-F8D56ACB7B3E}"/>
              </a:ext>
            </a:extLst>
          </p:cNvPr>
          <p:cNvGrpSpPr/>
          <p:nvPr/>
        </p:nvGrpSpPr>
        <p:grpSpPr>
          <a:xfrm>
            <a:off x="3281242" y="2469732"/>
            <a:ext cx="4643558" cy="1678647"/>
            <a:chOff x="3281242" y="2469732"/>
            <a:chExt cx="4643558" cy="1678647"/>
          </a:xfrm>
        </p:grpSpPr>
        <p:grpSp>
          <p:nvGrpSpPr>
            <p:cNvPr id="3" name="组合 2">
              <a:extLst>
                <a:ext uri="{FF2B5EF4-FFF2-40B4-BE49-F238E27FC236}">
                  <a16:creationId xmlns:a16="http://schemas.microsoft.com/office/drawing/2014/main" id="{47089B40-0F99-4960-A1DD-10038BC08664}"/>
                </a:ext>
              </a:extLst>
            </p:cNvPr>
            <p:cNvGrpSpPr/>
            <p:nvPr/>
          </p:nvGrpSpPr>
          <p:grpSpPr>
            <a:xfrm>
              <a:off x="3281242" y="2469732"/>
              <a:ext cx="1235687" cy="1678647"/>
              <a:chOff x="3527985" y="2373304"/>
              <a:chExt cx="1235687" cy="1678647"/>
            </a:xfrm>
          </p:grpSpPr>
          <p:sp>
            <p:nvSpPr>
              <p:cNvPr id="50" name="平行四边形 49">
                <a:extLst>
                  <a:ext uri="{FF2B5EF4-FFF2-40B4-BE49-F238E27FC236}">
                    <a16:creationId xmlns:a16="http://schemas.microsoft.com/office/drawing/2014/main" id="{D4E0D57B-9550-4053-AA89-4B296D4AEB8A}"/>
                  </a:ext>
                </a:extLst>
              </p:cNvPr>
              <p:cNvSpPr/>
              <p:nvPr/>
            </p:nvSpPr>
            <p:spPr>
              <a:xfrm>
                <a:off x="3682638" y="2373304"/>
                <a:ext cx="926380" cy="1678647"/>
              </a:xfrm>
              <a:prstGeom prst="parallelogram">
                <a:avLst>
                  <a:gd name="adj" fmla="val 49473"/>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600" b="1" dirty="0">
                  <a:latin typeface="思源黑体 CN Normal" panose="020B0400000000000000" pitchFamily="34" charset="-122"/>
                  <a:ea typeface="思源黑体 CN Normal" panose="020B0400000000000000" pitchFamily="34" charset="-122"/>
                  <a:cs typeface="+mn-ea"/>
                  <a:sym typeface="+mn-lt"/>
                </a:endParaRPr>
              </a:p>
            </p:txBody>
          </p:sp>
          <p:sp>
            <p:nvSpPr>
              <p:cNvPr id="24" name="平行四边形 23">
                <a:extLst>
                  <a:ext uri="{FF2B5EF4-FFF2-40B4-BE49-F238E27FC236}">
                    <a16:creationId xmlns:a16="http://schemas.microsoft.com/office/drawing/2014/main" id="{FAEE11E3-9820-4292-96F5-6082DE13A318}"/>
                  </a:ext>
                </a:extLst>
              </p:cNvPr>
              <p:cNvSpPr/>
              <p:nvPr/>
            </p:nvSpPr>
            <p:spPr>
              <a:xfrm>
                <a:off x="3527985" y="2594785"/>
                <a:ext cx="1235687" cy="123568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bg1"/>
                    </a:solidFill>
                    <a:latin typeface="思源黑体 CN Normal" panose="020B0400000000000000" pitchFamily="34" charset="-122"/>
                    <a:ea typeface="思源黑体 CN Normal" panose="020B0400000000000000" pitchFamily="34" charset="-122"/>
                    <a:cs typeface="+mn-ea"/>
                    <a:sym typeface="+mn-lt"/>
                  </a:rPr>
                  <a:t>1</a:t>
                </a:r>
                <a:endParaRPr lang="zh-CN" altLang="en-US" sz="6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2" name="组合 1">
              <a:extLst>
                <a:ext uri="{FF2B5EF4-FFF2-40B4-BE49-F238E27FC236}">
                  <a16:creationId xmlns:a16="http://schemas.microsoft.com/office/drawing/2014/main" id="{A34F1E8E-A02E-421C-B4B4-6F5369173DC5}"/>
                </a:ext>
              </a:extLst>
            </p:cNvPr>
            <p:cNvGrpSpPr/>
            <p:nvPr/>
          </p:nvGrpSpPr>
          <p:grpSpPr>
            <a:xfrm>
              <a:off x="4910703" y="2761076"/>
              <a:ext cx="2441694" cy="1038676"/>
              <a:chOff x="5026817" y="2634030"/>
              <a:chExt cx="2441694" cy="1038676"/>
            </a:xfrm>
          </p:grpSpPr>
          <p:sp>
            <p:nvSpPr>
              <p:cNvPr id="47" name="文本框 46">
                <a:extLst>
                  <a:ext uri="{FF2B5EF4-FFF2-40B4-BE49-F238E27FC236}">
                    <a16:creationId xmlns:a16="http://schemas.microsoft.com/office/drawing/2014/main" id="{348FC187-3B15-4427-92CA-90AC34055396}"/>
                  </a:ext>
                </a:extLst>
              </p:cNvPr>
              <p:cNvSpPr txBox="1"/>
              <p:nvPr/>
            </p:nvSpPr>
            <p:spPr>
              <a:xfrm>
                <a:off x="5026817" y="2634030"/>
                <a:ext cx="2441694" cy="769441"/>
              </a:xfrm>
              <a:prstGeom prst="rect">
                <a:avLst/>
              </a:prstGeom>
              <a:noFill/>
            </p:spPr>
            <p:txBody>
              <a:bodyPr wrap="none" rtlCol="0">
                <a:spAutoFit/>
              </a:bodyPr>
              <a:lstStyle/>
              <a:p>
                <a:r>
                  <a:rPr lang="zh-CN" altLang="en-US" sz="4400" dirty="0">
                    <a:solidFill>
                      <a:srgbClr val="1974A2"/>
                    </a:solidFill>
                    <a:latin typeface="思源黑体 CN Bold" panose="020B0800000000000000" pitchFamily="34" charset="-122"/>
                    <a:ea typeface="思源黑体 CN Bold" panose="020B0800000000000000" pitchFamily="34" charset="-122"/>
                    <a:cs typeface="+mn-ea"/>
                    <a:sym typeface="+mn-lt"/>
                  </a:rPr>
                  <a:t>个人简介</a:t>
                </a:r>
              </a:p>
            </p:txBody>
          </p:sp>
          <p:sp>
            <p:nvSpPr>
              <p:cNvPr id="48" name="文本框 47">
                <a:extLst>
                  <a:ext uri="{FF2B5EF4-FFF2-40B4-BE49-F238E27FC236}">
                    <a16:creationId xmlns:a16="http://schemas.microsoft.com/office/drawing/2014/main" id="{7BC9B746-7F9C-4DF7-A800-440E7E3AB107}"/>
                  </a:ext>
                </a:extLst>
              </p:cNvPr>
              <p:cNvSpPr txBox="1"/>
              <p:nvPr/>
            </p:nvSpPr>
            <p:spPr>
              <a:xfrm>
                <a:off x="5026817" y="3364929"/>
                <a:ext cx="1517660" cy="307777"/>
              </a:xfrm>
              <a:prstGeom prst="rect">
                <a:avLst/>
              </a:prstGeom>
              <a:noFill/>
            </p:spPr>
            <p:txBody>
              <a:bodyPr wrap="none" rtlCol="0">
                <a:spAutoFit/>
              </a:bodyPr>
              <a:lstStyle/>
              <a:p>
                <a:r>
                  <a:rPr lang="en-US" altLang="zh-CN" sz="1400" i="1" dirty="0">
                    <a:solidFill>
                      <a:srgbClr val="7FCFED"/>
                    </a:solidFill>
                    <a:latin typeface="思源黑体 CN Normal" panose="020B0400000000000000" pitchFamily="34" charset="-122"/>
                    <a:ea typeface="思源黑体 CN Normal" panose="020B0400000000000000" pitchFamily="34" charset="-122"/>
                    <a:cs typeface="+mn-ea"/>
                    <a:sym typeface="+mn-lt"/>
                  </a:rPr>
                  <a:t>Personal Profile</a:t>
                </a:r>
              </a:p>
            </p:txBody>
          </p:sp>
        </p:grpSp>
        <p:cxnSp>
          <p:nvCxnSpPr>
            <p:cNvPr id="49" name="直接连接符 48">
              <a:extLst>
                <a:ext uri="{FF2B5EF4-FFF2-40B4-BE49-F238E27FC236}">
                  <a16:creationId xmlns:a16="http://schemas.microsoft.com/office/drawing/2014/main" id="{85041735-9025-40B3-AE7C-D0AA1B4CF003}"/>
                </a:ext>
              </a:extLst>
            </p:cNvPr>
            <p:cNvCxnSpPr>
              <a:cxnSpLocks/>
            </p:cNvCxnSpPr>
            <p:nvPr/>
          </p:nvCxnSpPr>
          <p:spPr>
            <a:xfrm flipH="1">
              <a:off x="4986000" y="3901351"/>
              <a:ext cx="29388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608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FB80266-2E29-4423-9FDF-61776108CDE3}"/>
              </a:ext>
            </a:extLst>
          </p:cNvPr>
          <p:cNvGrpSpPr/>
          <p:nvPr/>
        </p:nvGrpSpPr>
        <p:grpSpPr>
          <a:xfrm>
            <a:off x="5074814" y="1395293"/>
            <a:ext cx="7127204" cy="3813436"/>
            <a:chOff x="5074814" y="1395293"/>
            <a:chExt cx="7127204" cy="3813436"/>
          </a:xfrm>
        </p:grpSpPr>
        <p:pic>
          <p:nvPicPr>
            <p:cNvPr id="4" name="图片 3">
              <a:extLst>
                <a:ext uri="{FF2B5EF4-FFF2-40B4-BE49-F238E27FC236}">
                  <a16:creationId xmlns:a16="http://schemas.microsoft.com/office/drawing/2014/main" id="{9598046C-2037-459D-B8EE-10AFB7F5D0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4814" y="1395293"/>
              <a:ext cx="7127204" cy="2725496"/>
            </a:xfrm>
            <a:prstGeom prst="rect">
              <a:avLst/>
            </a:prstGeom>
          </p:spPr>
        </p:pic>
        <p:sp>
          <p:nvSpPr>
            <p:cNvPr id="56" name="矩形 55">
              <a:extLst>
                <a:ext uri="{FF2B5EF4-FFF2-40B4-BE49-F238E27FC236}">
                  <a16:creationId xmlns:a16="http://schemas.microsoft.com/office/drawing/2014/main" id="{FA0E25ED-D534-40C9-AC0E-959B9A484EA4}"/>
                </a:ext>
              </a:extLst>
            </p:cNvPr>
            <p:cNvSpPr/>
            <p:nvPr/>
          </p:nvSpPr>
          <p:spPr>
            <a:xfrm>
              <a:off x="5380839" y="4623954"/>
              <a:ext cx="420308" cy="584775"/>
            </a:xfrm>
            <a:prstGeom prst="rect">
              <a:avLst/>
            </a:prstGeom>
          </p:spPr>
          <p:txBody>
            <a:bodyPr wrap="none">
              <a:spAutoFit/>
            </a:bodyPr>
            <a:lstStyle/>
            <a:p>
              <a:r>
                <a:rPr lang="en-US" altLang="zh-CN" sz="32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1</a:t>
              </a:r>
              <a:endParaRPr lang="zh-CN" altLang="en-US" sz="3200" dirty="0"/>
            </a:p>
          </p:txBody>
        </p:sp>
        <p:sp>
          <p:nvSpPr>
            <p:cNvPr id="62" name="矩形 61">
              <a:extLst>
                <a:ext uri="{FF2B5EF4-FFF2-40B4-BE49-F238E27FC236}">
                  <a16:creationId xmlns:a16="http://schemas.microsoft.com/office/drawing/2014/main" id="{3D0AF2F2-8131-4F3A-A032-94B2CF4675FA}"/>
                </a:ext>
              </a:extLst>
            </p:cNvPr>
            <p:cNvSpPr/>
            <p:nvPr/>
          </p:nvSpPr>
          <p:spPr>
            <a:xfrm>
              <a:off x="8384931" y="4623954"/>
              <a:ext cx="420308" cy="584775"/>
            </a:xfrm>
            <a:prstGeom prst="rect">
              <a:avLst/>
            </a:prstGeom>
          </p:spPr>
          <p:txBody>
            <a:bodyPr wrap="none">
              <a:spAutoFit/>
            </a:bodyPr>
            <a:lstStyle/>
            <a:p>
              <a:r>
                <a:rPr lang="en-US" altLang="zh-CN" sz="32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2</a:t>
              </a:r>
              <a:endParaRPr lang="zh-CN" altLang="en-US" sz="3200" dirty="0"/>
            </a:p>
          </p:txBody>
        </p:sp>
      </p:grpSp>
      <p:grpSp>
        <p:nvGrpSpPr>
          <p:cNvPr id="2" name="组合 1">
            <a:extLst>
              <a:ext uri="{FF2B5EF4-FFF2-40B4-BE49-F238E27FC236}">
                <a16:creationId xmlns:a16="http://schemas.microsoft.com/office/drawing/2014/main" id="{9EBD7B34-B464-4995-9818-120CC577C553}"/>
              </a:ext>
            </a:extLst>
          </p:cNvPr>
          <p:cNvGrpSpPr/>
          <p:nvPr/>
        </p:nvGrpSpPr>
        <p:grpSpPr>
          <a:xfrm>
            <a:off x="806675" y="1165537"/>
            <a:ext cx="3976701" cy="4333441"/>
            <a:chOff x="806675" y="1165537"/>
            <a:chExt cx="3976701" cy="4333441"/>
          </a:xfrm>
        </p:grpSpPr>
        <p:sp>
          <p:nvSpPr>
            <p:cNvPr id="46" name="文本框 45">
              <a:extLst>
                <a:ext uri="{FF2B5EF4-FFF2-40B4-BE49-F238E27FC236}">
                  <a16:creationId xmlns:a16="http://schemas.microsoft.com/office/drawing/2014/main" id="{16AA0C3A-B95C-4669-8196-7EFD452876A6}"/>
                </a:ext>
              </a:extLst>
            </p:cNvPr>
            <p:cNvSpPr txBox="1"/>
            <p:nvPr/>
          </p:nvSpPr>
          <p:spPr>
            <a:xfrm>
              <a:off x="1152625" y="2387905"/>
              <a:ext cx="3630751" cy="2094932"/>
            </a:xfrm>
            <a:prstGeom prst="rect">
              <a:avLst/>
            </a:prstGeom>
            <a:noFill/>
          </p:spPr>
          <p:txBody>
            <a:bodyPr wrap="square" rtlCol="0">
              <a:spAutoFit/>
            </a:bodyPr>
            <a:lstStyle/>
            <a:p>
              <a:pPr>
                <a:lnSpc>
                  <a:spcPct val="138242"/>
                </a:lnSpc>
              </a:pP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姓名：李盛鹏</a:t>
              </a:r>
              <a:endParaRPr lang="en-US" altLang="zh-CN"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a:p>
              <a:pPr>
                <a:lnSpc>
                  <a:spcPct val="138242"/>
                </a:lnSpc>
              </a:pP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学号：</a:t>
              </a:r>
              <a:r>
                <a:rPr lang="en-US" altLang="zh-CN"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2351136</a:t>
              </a:r>
            </a:p>
            <a:p>
              <a:pPr>
                <a:lnSpc>
                  <a:spcPct val="138242"/>
                </a:lnSpc>
              </a:pP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政治面貌：共青团员</a:t>
              </a:r>
              <a:endParaRPr lang="en-US" altLang="zh-CN"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a:p>
              <a:pPr>
                <a:lnSpc>
                  <a:spcPct val="138242"/>
                </a:lnSpc>
              </a:pP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年级：</a:t>
              </a:r>
              <a:r>
                <a:rPr lang="en-US" altLang="zh-CN"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23</a:t>
              </a: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级</a:t>
              </a:r>
              <a:endParaRPr lang="en-US" altLang="zh-CN"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a:p>
              <a:pPr>
                <a:lnSpc>
                  <a:spcPct val="138242"/>
                </a:lnSpc>
              </a:pP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专业：数据科学与大数据技术</a:t>
              </a:r>
            </a:p>
            <a:p>
              <a:pPr>
                <a:lnSpc>
                  <a:spcPct val="138242"/>
                </a:lnSpc>
              </a:pPr>
              <a:r>
                <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培养层次：本科</a:t>
              </a:r>
            </a:p>
          </p:txBody>
        </p:sp>
        <p:grpSp>
          <p:nvGrpSpPr>
            <p:cNvPr id="37" name="组合 36">
              <a:extLst>
                <a:ext uri="{FF2B5EF4-FFF2-40B4-BE49-F238E27FC236}">
                  <a16:creationId xmlns:a16="http://schemas.microsoft.com/office/drawing/2014/main" id="{466720F9-23E8-4E3D-9C0E-11BECE18EA4D}"/>
                </a:ext>
              </a:extLst>
            </p:cNvPr>
            <p:cNvGrpSpPr/>
            <p:nvPr/>
          </p:nvGrpSpPr>
          <p:grpSpPr>
            <a:xfrm>
              <a:off x="806675" y="1165537"/>
              <a:ext cx="2588605" cy="1053363"/>
              <a:chOff x="1075197" y="506436"/>
              <a:chExt cx="2588605" cy="1053363"/>
            </a:xfrm>
          </p:grpSpPr>
          <p:grpSp>
            <p:nvGrpSpPr>
              <p:cNvPr id="38" name="组合 37">
                <a:extLst>
                  <a:ext uri="{FF2B5EF4-FFF2-40B4-BE49-F238E27FC236}">
                    <a16:creationId xmlns:a16="http://schemas.microsoft.com/office/drawing/2014/main" id="{7B3C9A48-E9D3-4696-9DCC-26F41BBC1470}"/>
                  </a:ext>
                </a:extLst>
              </p:cNvPr>
              <p:cNvGrpSpPr/>
              <p:nvPr/>
            </p:nvGrpSpPr>
            <p:grpSpPr>
              <a:xfrm>
                <a:off x="1427292" y="506436"/>
                <a:ext cx="2236510" cy="1053363"/>
                <a:chOff x="4887107" y="1155713"/>
                <a:chExt cx="2236510" cy="1053363"/>
              </a:xfrm>
            </p:grpSpPr>
            <p:sp>
              <p:nvSpPr>
                <p:cNvPr id="40" name="文本框 39">
                  <a:extLst>
                    <a:ext uri="{FF2B5EF4-FFF2-40B4-BE49-F238E27FC236}">
                      <a16:creationId xmlns:a16="http://schemas.microsoft.com/office/drawing/2014/main" id="{97634F0C-26C5-4CA4-8E44-E87866126886}"/>
                    </a:ext>
                  </a:extLst>
                </p:cNvPr>
                <p:cNvSpPr txBox="1"/>
                <p:nvPr/>
              </p:nvSpPr>
              <p:spPr>
                <a:xfrm>
                  <a:off x="4887107" y="1870522"/>
                  <a:ext cx="1701876" cy="338554"/>
                </a:xfrm>
                <a:prstGeom prst="rect">
                  <a:avLst/>
                </a:prstGeom>
                <a:noFill/>
              </p:spPr>
              <p:txBody>
                <a:bodyPr wrap="none" rtlCol="0">
                  <a:spAutoFit/>
                </a:bodyPr>
                <a:lstStyle/>
                <a:p>
                  <a:r>
                    <a:rPr lang="en-US" altLang="zh-CN" sz="1600" i="1" dirty="0">
                      <a:solidFill>
                        <a:srgbClr val="7FCFED"/>
                      </a:solidFill>
                      <a:latin typeface="思源黑体 CN Normal" panose="020B0400000000000000" pitchFamily="34" charset="-122"/>
                      <a:ea typeface="思源黑体 CN Normal" panose="020B0400000000000000" pitchFamily="34" charset="-122"/>
                      <a:cs typeface="+mn-ea"/>
                      <a:sym typeface="+mn-lt"/>
                    </a:rPr>
                    <a:t>Personal Profile</a:t>
                  </a:r>
                </a:p>
              </p:txBody>
            </p:sp>
            <p:sp>
              <p:nvSpPr>
                <p:cNvPr id="41" name="文本框 40">
                  <a:extLst>
                    <a:ext uri="{FF2B5EF4-FFF2-40B4-BE49-F238E27FC236}">
                      <a16:creationId xmlns:a16="http://schemas.microsoft.com/office/drawing/2014/main" id="{14615C9F-5621-46FA-8F35-3170FDE6D0F8}"/>
                    </a:ext>
                  </a:extLst>
                </p:cNvPr>
                <p:cNvSpPr txBox="1"/>
                <p:nvPr/>
              </p:nvSpPr>
              <p:spPr>
                <a:xfrm>
                  <a:off x="4887107" y="1155713"/>
                  <a:ext cx="2236510" cy="851515"/>
                </a:xfrm>
                <a:prstGeom prst="rect">
                  <a:avLst/>
                </a:prstGeom>
                <a:noFill/>
              </p:spPr>
              <p:txBody>
                <a:bodyPr wrap="none" rtlCol="0">
                  <a:spAutoFit/>
                </a:bodyPr>
                <a:lstStyle/>
                <a:p>
                  <a:pPr>
                    <a:lnSpc>
                      <a:spcPct val="138242"/>
                    </a:lnSpc>
                  </a:pPr>
                  <a:r>
                    <a:rPr lang="zh-CN" altLang="en-US" sz="40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个人介绍</a:t>
                  </a:r>
                </a:p>
              </p:txBody>
            </p:sp>
          </p:grpSp>
          <p:sp>
            <p:nvSpPr>
              <p:cNvPr id="39" name="矩形: 圆角 38">
                <a:extLst>
                  <a:ext uri="{FF2B5EF4-FFF2-40B4-BE49-F238E27FC236}">
                    <a16:creationId xmlns:a16="http://schemas.microsoft.com/office/drawing/2014/main" id="{9FCAF599-F12F-4F13-AFE4-1E6BA2E73922}"/>
                  </a:ext>
                </a:extLst>
              </p:cNvPr>
              <p:cNvSpPr/>
              <p:nvPr/>
            </p:nvSpPr>
            <p:spPr>
              <a:xfrm rot="5400000">
                <a:off x="822233" y="1074646"/>
                <a:ext cx="601547" cy="9562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grpSp>
        <p:sp>
          <p:nvSpPr>
            <p:cNvPr id="6" name="矩形 5">
              <a:extLst>
                <a:ext uri="{FF2B5EF4-FFF2-40B4-BE49-F238E27FC236}">
                  <a16:creationId xmlns:a16="http://schemas.microsoft.com/office/drawing/2014/main" id="{E23CBE01-977D-4665-9BF3-41ED6EA47A32}"/>
                </a:ext>
              </a:extLst>
            </p:cNvPr>
            <p:cNvSpPr/>
            <p:nvPr/>
          </p:nvSpPr>
          <p:spPr>
            <a:xfrm>
              <a:off x="1396160" y="5020514"/>
              <a:ext cx="1236236" cy="478464"/>
            </a:xfrm>
            <a:prstGeom prst="rect">
              <a:avLst/>
            </a:prstGeom>
          </p:spPr>
          <p:txBody>
            <a:bodyPr wrap="none">
              <a:spAutoFit/>
            </a:bodyPr>
            <a:lstStyle/>
            <a:p>
              <a:pPr algn="ctr" fontAlgn="auto">
                <a:lnSpc>
                  <a:spcPct val="138242"/>
                </a:lnSpc>
              </a:pPr>
              <a:r>
                <a:rPr lang="zh-CN" altLang="en-US" sz="20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添加文本</a:t>
              </a:r>
            </a:p>
          </p:txBody>
        </p:sp>
      </p:gr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89086" y="306729"/>
            <a:ext cx="798118" cy="798118"/>
          </a:xfrm>
          <a:prstGeom prst="rect">
            <a:avLst/>
          </a:prstGeom>
        </p:spPr>
      </p:pic>
    </p:spTree>
    <p:custDataLst>
      <p:tags r:id="rId1"/>
    </p:custDataLst>
    <p:extLst>
      <p:ext uri="{BB962C8B-B14F-4D97-AF65-F5344CB8AC3E}">
        <p14:creationId xmlns:p14="http://schemas.microsoft.com/office/powerpoint/2010/main" val="3363372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156B230-61DF-4CEA-8021-F8D56ACB7B3E}"/>
              </a:ext>
            </a:extLst>
          </p:cNvPr>
          <p:cNvGrpSpPr/>
          <p:nvPr/>
        </p:nvGrpSpPr>
        <p:grpSpPr>
          <a:xfrm>
            <a:off x="3281242" y="2469732"/>
            <a:ext cx="6328183" cy="1678647"/>
            <a:chOff x="3281242" y="2469732"/>
            <a:chExt cx="6328183" cy="1678647"/>
          </a:xfrm>
        </p:grpSpPr>
        <p:grpSp>
          <p:nvGrpSpPr>
            <p:cNvPr id="3" name="组合 2">
              <a:extLst>
                <a:ext uri="{FF2B5EF4-FFF2-40B4-BE49-F238E27FC236}">
                  <a16:creationId xmlns:a16="http://schemas.microsoft.com/office/drawing/2014/main" id="{47089B40-0F99-4960-A1DD-10038BC08664}"/>
                </a:ext>
              </a:extLst>
            </p:cNvPr>
            <p:cNvGrpSpPr/>
            <p:nvPr/>
          </p:nvGrpSpPr>
          <p:grpSpPr>
            <a:xfrm>
              <a:off x="3281242" y="2469732"/>
              <a:ext cx="1235687" cy="1678647"/>
              <a:chOff x="3527985" y="2373304"/>
              <a:chExt cx="1235687" cy="1678647"/>
            </a:xfrm>
          </p:grpSpPr>
          <p:sp>
            <p:nvSpPr>
              <p:cNvPr id="50" name="平行四边形 49">
                <a:extLst>
                  <a:ext uri="{FF2B5EF4-FFF2-40B4-BE49-F238E27FC236}">
                    <a16:creationId xmlns:a16="http://schemas.microsoft.com/office/drawing/2014/main" id="{D4E0D57B-9550-4053-AA89-4B296D4AEB8A}"/>
                  </a:ext>
                </a:extLst>
              </p:cNvPr>
              <p:cNvSpPr/>
              <p:nvPr/>
            </p:nvSpPr>
            <p:spPr>
              <a:xfrm>
                <a:off x="3682638" y="2373304"/>
                <a:ext cx="926380" cy="1678647"/>
              </a:xfrm>
              <a:prstGeom prst="parallelogram">
                <a:avLst>
                  <a:gd name="adj" fmla="val 49473"/>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600" b="1" dirty="0">
                  <a:latin typeface="思源黑体 CN Normal" panose="020B0400000000000000" pitchFamily="34" charset="-122"/>
                  <a:ea typeface="思源黑体 CN Normal" panose="020B0400000000000000" pitchFamily="34" charset="-122"/>
                  <a:cs typeface="+mn-ea"/>
                  <a:sym typeface="+mn-lt"/>
                </a:endParaRPr>
              </a:p>
            </p:txBody>
          </p:sp>
          <p:sp>
            <p:nvSpPr>
              <p:cNvPr id="24" name="平行四边形 23">
                <a:extLst>
                  <a:ext uri="{FF2B5EF4-FFF2-40B4-BE49-F238E27FC236}">
                    <a16:creationId xmlns:a16="http://schemas.microsoft.com/office/drawing/2014/main" id="{FAEE11E3-9820-4292-96F5-6082DE13A318}"/>
                  </a:ext>
                </a:extLst>
              </p:cNvPr>
              <p:cNvSpPr/>
              <p:nvPr/>
            </p:nvSpPr>
            <p:spPr>
              <a:xfrm>
                <a:off x="3527985" y="2594785"/>
                <a:ext cx="1235687" cy="123568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bg1"/>
                    </a:solidFill>
                    <a:latin typeface="思源黑体 CN Normal" panose="020B0400000000000000" pitchFamily="34" charset="-122"/>
                    <a:ea typeface="思源黑体 CN Normal" panose="020B0400000000000000" pitchFamily="34" charset="-122"/>
                    <a:cs typeface="+mn-ea"/>
                    <a:sym typeface="+mn-lt"/>
                  </a:rPr>
                  <a:t>2</a:t>
                </a:r>
                <a:endParaRPr lang="zh-CN" altLang="en-US" sz="6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2" name="组合 1">
              <a:extLst>
                <a:ext uri="{FF2B5EF4-FFF2-40B4-BE49-F238E27FC236}">
                  <a16:creationId xmlns:a16="http://schemas.microsoft.com/office/drawing/2014/main" id="{A34F1E8E-A02E-421C-B4B4-6F5369173DC5}"/>
                </a:ext>
              </a:extLst>
            </p:cNvPr>
            <p:cNvGrpSpPr/>
            <p:nvPr/>
          </p:nvGrpSpPr>
          <p:grpSpPr>
            <a:xfrm>
              <a:off x="4910703" y="2761076"/>
              <a:ext cx="4698722" cy="1038676"/>
              <a:chOff x="5026817" y="2634030"/>
              <a:chExt cx="4698722" cy="1038676"/>
            </a:xfrm>
          </p:grpSpPr>
          <p:sp>
            <p:nvSpPr>
              <p:cNvPr id="47" name="文本框 46">
                <a:extLst>
                  <a:ext uri="{FF2B5EF4-FFF2-40B4-BE49-F238E27FC236}">
                    <a16:creationId xmlns:a16="http://schemas.microsoft.com/office/drawing/2014/main" id="{348FC187-3B15-4427-92CA-90AC34055396}"/>
                  </a:ext>
                </a:extLst>
              </p:cNvPr>
              <p:cNvSpPr txBox="1"/>
              <p:nvPr/>
            </p:nvSpPr>
            <p:spPr>
              <a:xfrm>
                <a:off x="5026817" y="2634030"/>
                <a:ext cx="4698722" cy="769441"/>
              </a:xfrm>
              <a:prstGeom prst="rect">
                <a:avLst/>
              </a:prstGeom>
              <a:noFill/>
            </p:spPr>
            <p:txBody>
              <a:bodyPr wrap="none" rtlCol="0">
                <a:spAutoFit/>
              </a:bodyPr>
              <a:lstStyle/>
              <a:p>
                <a:r>
                  <a:rPr lang="zh-CN" altLang="en-US" sz="4400" dirty="0">
                    <a:solidFill>
                      <a:srgbClr val="1973A2"/>
                    </a:solidFill>
                    <a:latin typeface="思源黑体 CN Bold" panose="020B0800000000000000" pitchFamily="34" charset="-122"/>
                    <a:ea typeface="思源黑体 CN Bold" panose="020B0800000000000000" pitchFamily="34" charset="-122"/>
                    <a:cs typeface="+mn-ea"/>
                    <a:sym typeface="+mn-lt"/>
                  </a:rPr>
                  <a:t>社会实践参与情况</a:t>
                </a:r>
              </a:p>
            </p:txBody>
          </p:sp>
          <p:sp>
            <p:nvSpPr>
              <p:cNvPr id="48" name="文本框 47">
                <a:extLst>
                  <a:ext uri="{FF2B5EF4-FFF2-40B4-BE49-F238E27FC236}">
                    <a16:creationId xmlns:a16="http://schemas.microsoft.com/office/drawing/2014/main" id="{7BC9B746-7F9C-4DF7-A800-440E7E3AB107}"/>
                  </a:ext>
                </a:extLst>
              </p:cNvPr>
              <p:cNvSpPr txBox="1"/>
              <p:nvPr/>
            </p:nvSpPr>
            <p:spPr>
              <a:xfrm>
                <a:off x="5026817" y="3364929"/>
                <a:ext cx="3594317" cy="307777"/>
              </a:xfrm>
              <a:prstGeom prst="rect">
                <a:avLst/>
              </a:prstGeom>
              <a:noFill/>
            </p:spPr>
            <p:txBody>
              <a:bodyPr wrap="none" rtlCol="0">
                <a:spAutoFit/>
              </a:bodyPr>
              <a:lstStyle/>
              <a:p>
                <a:r>
                  <a:rPr lang="en-US" altLang="zh-CN" sz="1400" i="1" dirty="0">
                    <a:solidFill>
                      <a:srgbClr val="7FCFED"/>
                    </a:solidFill>
                    <a:latin typeface="思源黑体 CN Normal" panose="020B0400000000000000" pitchFamily="34" charset="-122"/>
                    <a:ea typeface="思源黑体 CN Normal" panose="020B0400000000000000" pitchFamily="34" charset="-122"/>
                    <a:cs typeface="+mn-ea"/>
                    <a:sym typeface="+mn-lt"/>
                  </a:rPr>
                  <a:t>Participation in Social Practice Activities</a:t>
                </a:r>
              </a:p>
            </p:txBody>
          </p:sp>
        </p:grpSp>
        <p:cxnSp>
          <p:nvCxnSpPr>
            <p:cNvPr id="49" name="直接连接符 48">
              <a:extLst>
                <a:ext uri="{FF2B5EF4-FFF2-40B4-BE49-F238E27FC236}">
                  <a16:creationId xmlns:a16="http://schemas.microsoft.com/office/drawing/2014/main" id="{85041735-9025-40B3-AE7C-D0AA1B4CF003}"/>
                </a:ext>
              </a:extLst>
            </p:cNvPr>
            <p:cNvCxnSpPr>
              <a:cxnSpLocks/>
            </p:cNvCxnSpPr>
            <p:nvPr/>
          </p:nvCxnSpPr>
          <p:spPr>
            <a:xfrm flipH="1">
              <a:off x="4986000" y="3901351"/>
              <a:ext cx="29388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532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4223F497-374F-47B6-B792-EC57481A2E2F}"/>
              </a:ext>
            </a:extLst>
          </p:cNvPr>
          <p:cNvGrpSpPr/>
          <p:nvPr/>
        </p:nvGrpSpPr>
        <p:grpSpPr>
          <a:xfrm>
            <a:off x="7672916" y="2477043"/>
            <a:ext cx="3929281" cy="3511694"/>
            <a:chOff x="7672916" y="2477043"/>
            <a:chExt cx="3929281" cy="3511694"/>
          </a:xfrm>
        </p:grpSpPr>
        <p:sp>
          <p:nvSpPr>
            <p:cNvPr id="7" name="文本框 6">
              <a:extLst>
                <a:ext uri="{FF2B5EF4-FFF2-40B4-BE49-F238E27FC236}">
                  <a16:creationId xmlns:a16="http://schemas.microsoft.com/office/drawing/2014/main" id="{1A7A4C08-3656-4B6A-9EB9-396407D9A6E6}"/>
                </a:ext>
              </a:extLst>
            </p:cNvPr>
            <p:cNvSpPr txBox="1"/>
            <p:nvPr/>
          </p:nvSpPr>
          <p:spPr>
            <a:xfrm>
              <a:off x="7672916" y="4358838"/>
              <a:ext cx="3929281" cy="471924"/>
            </a:xfrm>
            <a:prstGeom prst="rect">
              <a:avLst/>
            </a:prstGeom>
            <a:noFill/>
          </p:spPr>
          <p:txBody>
            <a:bodyPr wrap="none" rtlCol="0">
              <a:spAutoFit/>
            </a:bodyPr>
            <a:lstStyle/>
            <a:p>
              <a:pPr algn="ctr">
                <a:lnSpc>
                  <a:spcPct val="138242"/>
                </a:lnSpc>
              </a:pPr>
              <a:r>
                <a:rPr lang="zh-CN" altLang="en-US" sz="20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济梦助学燃希望  扶智兴乡铸未来</a:t>
              </a:r>
            </a:p>
          </p:txBody>
        </p:sp>
        <p:sp>
          <p:nvSpPr>
            <p:cNvPr id="8" name="文本框 7">
              <a:extLst>
                <a:ext uri="{FF2B5EF4-FFF2-40B4-BE49-F238E27FC236}">
                  <a16:creationId xmlns:a16="http://schemas.microsoft.com/office/drawing/2014/main" id="{DA3A6A78-DE33-443C-87E4-197A19C4CBD4}"/>
                </a:ext>
              </a:extLst>
            </p:cNvPr>
            <p:cNvSpPr txBox="1"/>
            <p:nvPr/>
          </p:nvSpPr>
          <p:spPr>
            <a:xfrm>
              <a:off x="8103913" y="4913122"/>
              <a:ext cx="3067286" cy="1075615"/>
            </a:xfrm>
            <a:prstGeom prst="rect">
              <a:avLst/>
            </a:prstGeom>
            <a:noFill/>
          </p:spPr>
          <p:txBody>
            <a:bodyPr wrap="square" rtlCol="0">
              <a:spAutoFit/>
            </a:bodyPr>
            <a:lstStyle/>
            <a:p>
              <a:pPr algn="ct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利用暑假宣传国家学生资助政策和育人成效的学生资助政策的社会实践</a:t>
              </a:r>
            </a:p>
          </p:txBody>
        </p:sp>
        <p:sp>
          <p:nvSpPr>
            <p:cNvPr id="5" name="椭圆 4">
              <a:extLst>
                <a:ext uri="{FF2B5EF4-FFF2-40B4-BE49-F238E27FC236}">
                  <a16:creationId xmlns:a16="http://schemas.microsoft.com/office/drawing/2014/main" id="{C8AD2D02-FAE5-408F-AA24-3922D064C0DD}"/>
                </a:ext>
              </a:extLst>
            </p:cNvPr>
            <p:cNvSpPr/>
            <p:nvPr/>
          </p:nvSpPr>
          <p:spPr>
            <a:xfrm>
              <a:off x="8773956" y="2477043"/>
              <a:ext cx="1727200" cy="1727200"/>
            </a:xfrm>
            <a:prstGeom prst="ellips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pic>
          <p:nvPicPr>
            <p:cNvPr id="6" name="图片 5" descr="bussiness-man">
              <a:extLst>
                <a:ext uri="{FF2B5EF4-FFF2-40B4-BE49-F238E27FC236}">
                  <a16:creationId xmlns:a16="http://schemas.microsoft.com/office/drawing/2014/main" id="{A201C065-1F77-4B0C-B776-43714E5074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97556" y="2800643"/>
              <a:ext cx="1080000" cy="1080000"/>
            </a:xfrm>
            <a:prstGeom prst="rect">
              <a:avLst/>
            </a:prstGeom>
          </p:spPr>
        </p:pic>
      </p:grpSp>
      <p:grpSp>
        <p:nvGrpSpPr>
          <p:cNvPr id="4" name="组合 3">
            <a:extLst>
              <a:ext uri="{FF2B5EF4-FFF2-40B4-BE49-F238E27FC236}">
                <a16:creationId xmlns:a16="http://schemas.microsoft.com/office/drawing/2014/main" id="{D7DCB62A-5CC7-4C04-B7BB-9134031A0AF7}"/>
              </a:ext>
            </a:extLst>
          </p:cNvPr>
          <p:cNvGrpSpPr/>
          <p:nvPr/>
        </p:nvGrpSpPr>
        <p:grpSpPr>
          <a:xfrm>
            <a:off x="1020801" y="2477043"/>
            <a:ext cx="3067286" cy="3517529"/>
            <a:chOff x="1020801" y="2477043"/>
            <a:chExt cx="3067286" cy="3517529"/>
          </a:xfrm>
        </p:grpSpPr>
        <p:sp>
          <p:nvSpPr>
            <p:cNvPr id="14" name="文本框 13">
              <a:extLst>
                <a:ext uri="{FF2B5EF4-FFF2-40B4-BE49-F238E27FC236}">
                  <a16:creationId xmlns:a16="http://schemas.microsoft.com/office/drawing/2014/main" id="{912D2DD0-E3C7-4F1B-9216-ACD0694102AF}"/>
                </a:ext>
              </a:extLst>
            </p:cNvPr>
            <p:cNvSpPr txBox="1"/>
            <p:nvPr/>
          </p:nvSpPr>
          <p:spPr>
            <a:xfrm>
              <a:off x="1163679" y="4358838"/>
              <a:ext cx="2781531" cy="547842"/>
            </a:xfrm>
            <a:prstGeom prst="rect">
              <a:avLst/>
            </a:prstGeom>
            <a:noFill/>
          </p:spPr>
          <p:txBody>
            <a:bodyPr wrap="none" rtlCol="0">
              <a:spAutoFit/>
            </a:bodyPr>
            <a:lstStyle/>
            <a:p>
              <a:pPr algn="ctr">
                <a:lnSpc>
                  <a:spcPct val="138242"/>
                </a:lnSpc>
              </a:pPr>
              <a:r>
                <a:rPr lang="zh-CN" altLang="en-US" sz="24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寻脉乡土</a:t>
              </a:r>
              <a:r>
                <a:rPr lang="en-US" altLang="zh-CN" sz="24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a:t>
              </a:r>
              <a:r>
                <a:rPr lang="zh-CN" altLang="en-US" sz="24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数字赋能</a:t>
              </a:r>
            </a:p>
          </p:txBody>
        </p:sp>
        <p:sp>
          <p:nvSpPr>
            <p:cNvPr id="15" name="文本框 14">
              <a:extLst>
                <a:ext uri="{FF2B5EF4-FFF2-40B4-BE49-F238E27FC236}">
                  <a16:creationId xmlns:a16="http://schemas.microsoft.com/office/drawing/2014/main" id="{02234193-A9B5-459C-A16F-7364055B4465}"/>
                </a:ext>
              </a:extLst>
            </p:cNvPr>
            <p:cNvSpPr txBox="1"/>
            <p:nvPr/>
          </p:nvSpPr>
          <p:spPr>
            <a:xfrm>
              <a:off x="1020801" y="4913122"/>
              <a:ext cx="3067286" cy="1081450"/>
            </a:xfrm>
            <a:prstGeom prst="rect">
              <a:avLst/>
            </a:prstGeom>
            <a:noFill/>
          </p:spPr>
          <p:txBody>
            <a:bodyPr wrap="square" rtlCol="0">
              <a:spAutoFit/>
            </a:bodyPr>
            <a:lstStyle/>
            <a:p>
              <a:pPr algn="ctr">
                <a:lnSpc>
                  <a:spcPct val="138242"/>
                </a:lnSpc>
              </a:pPr>
              <a:r>
                <a:rPr lang="zh-CN" altLang="en-US" sz="1600" dirty="0">
                  <a:solidFill>
                    <a:srgbClr val="0F1115"/>
                  </a:solidFill>
                  <a:latin typeface="quote-cjk-patch"/>
                </a:rPr>
                <a:t>借助数字技术挖掘乡村文化基因、探索“文化</a:t>
              </a:r>
              <a:r>
                <a:rPr lang="en-US" altLang="zh-CN" sz="1600" dirty="0">
                  <a:solidFill>
                    <a:srgbClr val="0F1115"/>
                  </a:solidFill>
                  <a:latin typeface="quote-cjk-patch"/>
                </a:rPr>
                <a:t>+</a:t>
              </a:r>
              <a:r>
                <a:rPr lang="zh-CN" altLang="en-US" sz="1600" dirty="0">
                  <a:solidFill>
                    <a:srgbClr val="0F1115"/>
                  </a:solidFill>
                  <a:latin typeface="quote-cjk-patch"/>
                </a:rPr>
                <a:t>科技”双轮驱动模式助力乡村振兴的社会实践调研。</a:t>
              </a:r>
              <a:endParaRPr lang="en-US" altLang="zh-CN" sz="1600" dirty="0">
                <a:solidFill>
                  <a:srgbClr val="0F1115"/>
                </a:solidFill>
                <a:latin typeface="quote-cjk-patch"/>
              </a:endParaRPr>
            </a:p>
          </p:txBody>
        </p:sp>
        <p:sp>
          <p:nvSpPr>
            <p:cNvPr id="12" name="椭圆 11">
              <a:extLst>
                <a:ext uri="{FF2B5EF4-FFF2-40B4-BE49-F238E27FC236}">
                  <a16:creationId xmlns:a16="http://schemas.microsoft.com/office/drawing/2014/main" id="{CE58443E-0861-4A2A-ABF8-4EAB4810D2A0}"/>
                </a:ext>
              </a:extLst>
            </p:cNvPr>
            <p:cNvSpPr/>
            <p:nvPr/>
          </p:nvSpPr>
          <p:spPr>
            <a:xfrm>
              <a:off x="1690844" y="2477043"/>
              <a:ext cx="1727200" cy="1727200"/>
            </a:xfrm>
            <a:prstGeom prst="ellips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pic>
          <p:nvPicPr>
            <p:cNvPr id="13" name="图片 14" descr="integral">
              <a:extLst>
                <a:ext uri="{FF2B5EF4-FFF2-40B4-BE49-F238E27FC236}">
                  <a16:creationId xmlns:a16="http://schemas.microsoft.com/office/drawing/2014/main" id="{54E1D7F2-413C-4A7C-8DD8-FA37EC2C6E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14444" y="2800643"/>
              <a:ext cx="1080000" cy="1080000"/>
            </a:xfrm>
            <a:prstGeom prst="rect">
              <a:avLst/>
            </a:prstGeom>
          </p:spPr>
        </p:pic>
      </p:grpSp>
      <p:grpSp>
        <p:nvGrpSpPr>
          <p:cNvPr id="10" name="组合 9">
            <a:extLst>
              <a:ext uri="{FF2B5EF4-FFF2-40B4-BE49-F238E27FC236}">
                <a16:creationId xmlns:a16="http://schemas.microsoft.com/office/drawing/2014/main" id="{693698FF-9485-499C-BCBE-D4C9692183F3}"/>
              </a:ext>
            </a:extLst>
          </p:cNvPr>
          <p:cNvGrpSpPr/>
          <p:nvPr/>
        </p:nvGrpSpPr>
        <p:grpSpPr>
          <a:xfrm>
            <a:off x="4562357" y="2477043"/>
            <a:ext cx="3067286" cy="2832149"/>
            <a:chOff x="4562357" y="2477043"/>
            <a:chExt cx="3067286" cy="2832149"/>
          </a:xfrm>
        </p:grpSpPr>
        <p:sp>
          <p:nvSpPr>
            <p:cNvPr id="21" name="文本框 20">
              <a:extLst>
                <a:ext uri="{FF2B5EF4-FFF2-40B4-BE49-F238E27FC236}">
                  <a16:creationId xmlns:a16="http://schemas.microsoft.com/office/drawing/2014/main" id="{797AA3F9-081B-4CF4-A8EE-A3F6CBB1EBD6}"/>
                </a:ext>
              </a:extLst>
            </p:cNvPr>
            <p:cNvSpPr txBox="1"/>
            <p:nvPr/>
          </p:nvSpPr>
          <p:spPr>
            <a:xfrm>
              <a:off x="4726875" y="4358838"/>
              <a:ext cx="2738250" cy="547842"/>
            </a:xfrm>
            <a:prstGeom prst="rect">
              <a:avLst/>
            </a:prstGeom>
            <a:noFill/>
          </p:spPr>
          <p:txBody>
            <a:bodyPr wrap="none" rtlCol="0">
              <a:spAutoFit/>
            </a:bodyPr>
            <a:lstStyle/>
            <a:p>
              <a:pPr algn="ctr">
                <a:lnSpc>
                  <a:spcPct val="138242"/>
                </a:lnSpc>
              </a:pPr>
              <a:r>
                <a:rPr lang="zh-CN" altLang="en-US" sz="24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同心筑梦 济行不止</a:t>
              </a:r>
            </a:p>
          </p:txBody>
        </p:sp>
        <p:sp>
          <p:nvSpPr>
            <p:cNvPr id="22" name="文本框 21">
              <a:extLst>
                <a:ext uri="{FF2B5EF4-FFF2-40B4-BE49-F238E27FC236}">
                  <a16:creationId xmlns:a16="http://schemas.microsoft.com/office/drawing/2014/main" id="{B34DE5F3-9C16-43A6-85BC-8472843A1B86}"/>
                </a:ext>
              </a:extLst>
            </p:cNvPr>
            <p:cNvSpPr txBox="1"/>
            <p:nvPr/>
          </p:nvSpPr>
          <p:spPr>
            <a:xfrm>
              <a:off x="4562357" y="4913122"/>
              <a:ext cx="3067286" cy="396070"/>
            </a:xfrm>
            <a:prstGeom prst="rect">
              <a:avLst/>
            </a:prstGeom>
            <a:noFill/>
          </p:spPr>
          <p:txBody>
            <a:bodyPr wrap="square" rtlCol="0">
              <a:spAutoFit/>
            </a:bodyPr>
            <a:lstStyle/>
            <a:p>
              <a:pPr algn="ct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大学生寒假返校宣讲的活动</a:t>
              </a:r>
            </a:p>
          </p:txBody>
        </p:sp>
        <p:sp>
          <p:nvSpPr>
            <p:cNvPr id="19" name="椭圆 18">
              <a:extLst>
                <a:ext uri="{FF2B5EF4-FFF2-40B4-BE49-F238E27FC236}">
                  <a16:creationId xmlns:a16="http://schemas.microsoft.com/office/drawing/2014/main" id="{B934A494-B9C1-4FA6-9965-21938047DA15}"/>
                </a:ext>
              </a:extLst>
            </p:cNvPr>
            <p:cNvSpPr/>
            <p:nvPr/>
          </p:nvSpPr>
          <p:spPr>
            <a:xfrm>
              <a:off x="5232400" y="2477043"/>
              <a:ext cx="1727200" cy="1727200"/>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pic>
          <p:nvPicPr>
            <p:cNvPr id="20" name="图片 15" descr="nav-list">
              <a:extLst>
                <a:ext uri="{FF2B5EF4-FFF2-40B4-BE49-F238E27FC236}">
                  <a16:creationId xmlns:a16="http://schemas.microsoft.com/office/drawing/2014/main" id="{8E1EA298-E1BE-420C-AE94-FF9E437E91B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56000" y="2800643"/>
              <a:ext cx="1080000" cy="1080000"/>
            </a:xfrm>
            <a:prstGeom prst="rect">
              <a:avLst/>
            </a:prstGeom>
          </p:spPr>
        </p:pic>
      </p:grpSp>
      <p:cxnSp>
        <p:nvCxnSpPr>
          <p:cNvPr id="43" name="直接连接符 42">
            <a:extLst>
              <a:ext uri="{FF2B5EF4-FFF2-40B4-BE49-F238E27FC236}">
                <a16:creationId xmlns:a16="http://schemas.microsoft.com/office/drawing/2014/main" id="{9A8222EC-E814-4FDD-8818-1B65FFE3B64F}"/>
              </a:ext>
            </a:extLst>
          </p:cNvPr>
          <p:cNvCxnSpPr/>
          <p:nvPr/>
        </p:nvCxnSpPr>
        <p:spPr>
          <a:xfrm>
            <a:off x="4325222" y="3138383"/>
            <a:ext cx="0" cy="1246922"/>
          </a:xfrm>
          <a:prstGeom prst="line">
            <a:avLst/>
          </a:prstGeom>
          <a:ln w="12700">
            <a:solidFill>
              <a:srgbClr val="7FCFED">
                <a:alpha val="50000"/>
              </a:srgb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365E5FD-664D-4D3A-875F-7D319A92B048}"/>
              </a:ext>
            </a:extLst>
          </p:cNvPr>
          <p:cNvCxnSpPr/>
          <p:nvPr/>
        </p:nvCxnSpPr>
        <p:spPr>
          <a:xfrm>
            <a:off x="7866778" y="3138383"/>
            <a:ext cx="0" cy="1246922"/>
          </a:xfrm>
          <a:prstGeom prst="line">
            <a:avLst/>
          </a:prstGeom>
          <a:ln w="12700">
            <a:solidFill>
              <a:srgbClr val="7FCFED">
                <a:alpha val="50000"/>
              </a:srgbClr>
            </a:solidFill>
            <a:prstDash val="dash"/>
          </a:ln>
        </p:spPr>
        <p:style>
          <a:lnRef idx="1">
            <a:schemeClr val="accent1"/>
          </a:lnRef>
          <a:fillRef idx="0">
            <a:schemeClr val="accent1"/>
          </a:fillRef>
          <a:effectRef idx="0">
            <a:schemeClr val="accent1"/>
          </a:effectRef>
          <a:fontRef idx="minor">
            <a:schemeClr val="tx1"/>
          </a:fontRef>
        </p:style>
      </p:cxnSp>
      <p:grpSp>
        <p:nvGrpSpPr>
          <p:cNvPr id="35" name="组合 34">
            <a:extLst>
              <a:ext uri="{FF2B5EF4-FFF2-40B4-BE49-F238E27FC236}">
                <a16:creationId xmlns:a16="http://schemas.microsoft.com/office/drawing/2014/main" id="{A8B6CA69-8DE4-4D47-A2CC-45DC03F9C7DC}"/>
              </a:ext>
            </a:extLst>
          </p:cNvPr>
          <p:cNvGrpSpPr/>
          <p:nvPr/>
        </p:nvGrpSpPr>
        <p:grpSpPr>
          <a:xfrm>
            <a:off x="3975400" y="760149"/>
            <a:ext cx="4288353" cy="1333118"/>
            <a:chOff x="4433585" y="1083141"/>
            <a:chExt cx="4288353" cy="1333118"/>
          </a:xfrm>
        </p:grpSpPr>
        <p:sp>
          <p:nvSpPr>
            <p:cNvPr id="36" name="文本框 35">
              <a:extLst>
                <a:ext uri="{FF2B5EF4-FFF2-40B4-BE49-F238E27FC236}">
                  <a16:creationId xmlns:a16="http://schemas.microsoft.com/office/drawing/2014/main" id="{7CE06CB8-F6BA-4A7D-8676-44A1668824CD}"/>
                </a:ext>
              </a:extLst>
            </p:cNvPr>
            <p:cNvSpPr txBox="1"/>
            <p:nvPr/>
          </p:nvSpPr>
          <p:spPr>
            <a:xfrm>
              <a:off x="4546450" y="1784318"/>
              <a:ext cx="4073166" cy="338554"/>
            </a:xfrm>
            <a:prstGeom prst="rect">
              <a:avLst/>
            </a:prstGeom>
            <a:noFill/>
          </p:spPr>
          <p:txBody>
            <a:bodyPr wrap="none" rtlCol="0">
              <a:spAutoFit/>
            </a:bodyPr>
            <a:lstStyle/>
            <a:p>
              <a:r>
                <a:rPr lang="en-US" altLang="zh-CN" sz="1600" i="1" dirty="0">
                  <a:solidFill>
                    <a:srgbClr val="7FCFED"/>
                  </a:solidFill>
                  <a:latin typeface="思源黑体 CN Normal" panose="020B0400000000000000" pitchFamily="34" charset="-122"/>
                  <a:ea typeface="思源黑体 CN Normal" panose="020B0400000000000000" pitchFamily="34" charset="-122"/>
                  <a:cs typeface="+mn-ea"/>
                  <a:sym typeface="+mn-lt"/>
                </a:rPr>
                <a:t>Participation in Social Practice Activities</a:t>
              </a:r>
            </a:p>
          </p:txBody>
        </p:sp>
        <p:sp>
          <p:nvSpPr>
            <p:cNvPr id="37" name="文本框 36">
              <a:extLst>
                <a:ext uri="{FF2B5EF4-FFF2-40B4-BE49-F238E27FC236}">
                  <a16:creationId xmlns:a16="http://schemas.microsoft.com/office/drawing/2014/main" id="{0B94E924-6892-45EB-913D-CEF92C73DD9B}"/>
                </a:ext>
              </a:extLst>
            </p:cNvPr>
            <p:cNvSpPr txBox="1"/>
            <p:nvPr/>
          </p:nvSpPr>
          <p:spPr>
            <a:xfrm>
              <a:off x="4433585" y="1083141"/>
              <a:ext cx="4288353" cy="707886"/>
            </a:xfrm>
            <a:prstGeom prst="rect">
              <a:avLst/>
            </a:prstGeom>
            <a:noFill/>
          </p:spPr>
          <p:txBody>
            <a:bodyPr wrap="none" rtlCol="0">
              <a:spAutoFit/>
            </a:bodyPr>
            <a:lstStyle/>
            <a:p>
              <a:r>
                <a:rPr lang="zh-CN" altLang="en-US" sz="4000" dirty="0">
                  <a:solidFill>
                    <a:srgbClr val="1973A2"/>
                  </a:solidFill>
                  <a:latin typeface="思源黑体 CN Bold" panose="020B0800000000000000" pitchFamily="34" charset="-122"/>
                  <a:ea typeface="思源黑体 CN Bold" panose="020B0800000000000000" pitchFamily="34" charset="-122"/>
                  <a:cs typeface="+mn-ea"/>
                  <a:sym typeface="+mn-lt"/>
                </a:rPr>
                <a:t>社会实践参与情况</a:t>
              </a:r>
            </a:p>
          </p:txBody>
        </p:sp>
        <p:sp>
          <p:nvSpPr>
            <p:cNvPr id="47" name="矩形: 圆角 46">
              <a:extLst>
                <a:ext uri="{FF2B5EF4-FFF2-40B4-BE49-F238E27FC236}">
                  <a16:creationId xmlns:a16="http://schemas.microsoft.com/office/drawing/2014/main" id="{823E2C55-5F33-43D6-8E54-88BAFE20A80D}"/>
                </a:ext>
              </a:extLst>
            </p:cNvPr>
            <p:cNvSpPr/>
            <p:nvPr/>
          </p:nvSpPr>
          <p:spPr>
            <a:xfrm>
              <a:off x="6282439" y="2320639"/>
              <a:ext cx="601547" cy="9562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grpSp>
      <p:pic>
        <p:nvPicPr>
          <p:cNvPr id="23" name="图片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89086" y="306729"/>
            <a:ext cx="798118" cy="798118"/>
          </a:xfrm>
          <a:prstGeom prst="rect">
            <a:avLst/>
          </a:prstGeom>
        </p:spPr>
      </p:pic>
    </p:spTree>
    <p:extLst>
      <p:ext uri="{BB962C8B-B14F-4D97-AF65-F5344CB8AC3E}">
        <p14:creationId xmlns:p14="http://schemas.microsoft.com/office/powerpoint/2010/main" val="282915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2" presetClass="entr" presetSubtype="4"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par>
                          <p:cTn id="25" fill="hold">
                            <p:stCondLst>
                              <p:cond delay="2500"/>
                            </p:stCondLst>
                            <p:childTnLst>
                              <p:par>
                                <p:cTn id="26" presetID="2" presetClass="entr" presetSubtype="4" fill="hold" nodeType="afterEffect">
                                  <p:stCondLst>
                                    <p:cond delay="0"/>
                                  </p:stCondLst>
                                  <p:childTnLst>
                                    <p:set>
                                      <p:cBhvr>
                                        <p:cTn id="27" dur="1" fill="hold">
                                          <p:stCondLst>
                                            <p:cond delay="0"/>
                                          </p:stCondLst>
                                        </p:cTn>
                                        <p:tgtEl>
                                          <p:spTgt spid="43"/>
                                        </p:tgtEl>
                                        <p:attrNameLst>
                                          <p:attrName>style.visibility</p:attrName>
                                        </p:attrNameLst>
                                      </p:cBhvr>
                                      <p:to>
                                        <p:strVal val="visible"/>
                                      </p:to>
                                    </p:set>
                                    <p:anim calcmode="lin" valueType="num">
                                      <p:cBhvr additive="base">
                                        <p:cTn id="28" dur="500" fill="hold"/>
                                        <p:tgtEl>
                                          <p:spTgt spid="43"/>
                                        </p:tgtEl>
                                        <p:attrNameLst>
                                          <p:attrName>ppt_x</p:attrName>
                                        </p:attrNameLst>
                                      </p:cBhvr>
                                      <p:tavLst>
                                        <p:tav tm="0">
                                          <p:val>
                                            <p:strVal val="#ppt_x"/>
                                          </p:val>
                                        </p:tav>
                                        <p:tav tm="100000">
                                          <p:val>
                                            <p:strVal val="#ppt_x"/>
                                          </p:val>
                                        </p:tav>
                                      </p:tavLst>
                                    </p:anim>
                                    <p:anim calcmode="lin" valueType="num">
                                      <p:cBhvr additive="base">
                                        <p:cTn id="29" dur="500" fill="hold"/>
                                        <p:tgtEl>
                                          <p:spTgt spid="43"/>
                                        </p:tgtEl>
                                        <p:attrNameLst>
                                          <p:attrName>ppt_y</p:attrName>
                                        </p:attrNameLst>
                                      </p:cBhvr>
                                      <p:tavLst>
                                        <p:tav tm="0">
                                          <p:val>
                                            <p:strVal val="1+#ppt_h/2"/>
                                          </p:val>
                                        </p:tav>
                                        <p:tav tm="100000">
                                          <p:val>
                                            <p:strVal val="#ppt_y"/>
                                          </p:val>
                                        </p:tav>
                                      </p:tavLst>
                                    </p:anim>
                                  </p:childTnLst>
                                </p:cTn>
                              </p:par>
                            </p:childTnLst>
                          </p:cTn>
                        </p:par>
                        <p:par>
                          <p:cTn id="30" fill="hold">
                            <p:stCondLst>
                              <p:cond delay="3000"/>
                            </p:stCondLst>
                            <p:childTnLst>
                              <p:par>
                                <p:cTn id="31" presetID="2" presetClass="entr" presetSubtype="4" fill="hold" nodeType="after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additive="base">
                                        <p:cTn id="33" dur="500" fill="hold"/>
                                        <p:tgtEl>
                                          <p:spTgt spid="44"/>
                                        </p:tgtEl>
                                        <p:attrNameLst>
                                          <p:attrName>ppt_x</p:attrName>
                                        </p:attrNameLst>
                                      </p:cBhvr>
                                      <p:tavLst>
                                        <p:tav tm="0">
                                          <p:val>
                                            <p:strVal val="#ppt_x"/>
                                          </p:val>
                                        </p:tav>
                                        <p:tav tm="100000">
                                          <p:val>
                                            <p:strVal val="#ppt_x"/>
                                          </p:val>
                                        </p:tav>
                                      </p:tavLst>
                                    </p:anim>
                                    <p:anim calcmode="lin" valueType="num">
                                      <p:cBhvr additive="base">
                                        <p:cTn id="3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A5BD1A47-0FB2-4A0E-8078-34E119716C8F}"/>
              </a:ext>
            </a:extLst>
          </p:cNvPr>
          <p:cNvGrpSpPr/>
          <p:nvPr/>
        </p:nvGrpSpPr>
        <p:grpSpPr>
          <a:xfrm>
            <a:off x="6835239" y="5036258"/>
            <a:ext cx="5195396" cy="1179950"/>
            <a:chOff x="6835239" y="4662723"/>
            <a:chExt cx="5195396" cy="1179950"/>
          </a:xfrm>
        </p:grpSpPr>
        <p:sp>
          <p:nvSpPr>
            <p:cNvPr id="14" name="椭圆 13">
              <a:extLst>
                <a:ext uri="{FF2B5EF4-FFF2-40B4-BE49-F238E27FC236}">
                  <a16:creationId xmlns:a16="http://schemas.microsoft.com/office/drawing/2014/main" id="{78C19CFD-3DB0-4F45-A032-AEC50851C3C5}"/>
                </a:ext>
              </a:extLst>
            </p:cNvPr>
            <p:cNvSpPr/>
            <p:nvPr/>
          </p:nvSpPr>
          <p:spPr>
            <a:xfrm>
              <a:off x="6835239" y="4783045"/>
              <a:ext cx="714694" cy="714694"/>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15" name="文本框 14">
              <a:extLst>
                <a:ext uri="{FF2B5EF4-FFF2-40B4-BE49-F238E27FC236}">
                  <a16:creationId xmlns:a16="http://schemas.microsoft.com/office/drawing/2014/main" id="{FC2797B5-C995-4C6E-802F-FDEC7D73B3DE}"/>
                </a:ext>
              </a:extLst>
            </p:cNvPr>
            <p:cNvSpPr txBox="1"/>
            <p:nvPr/>
          </p:nvSpPr>
          <p:spPr>
            <a:xfrm>
              <a:off x="7694839" y="4662723"/>
              <a:ext cx="1447832" cy="555730"/>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成果亮点</a:t>
              </a:r>
            </a:p>
          </p:txBody>
        </p:sp>
        <p:sp>
          <p:nvSpPr>
            <p:cNvPr id="16" name="文本框 15">
              <a:extLst>
                <a:ext uri="{FF2B5EF4-FFF2-40B4-BE49-F238E27FC236}">
                  <a16:creationId xmlns:a16="http://schemas.microsoft.com/office/drawing/2014/main" id="{6E48AAC6-864C-4D66-87F9-E16438079F60}"/>
                </a:ext>
              </a:extLst>
            </p:cNvPr>
            <p:cNvSpPr txBox="1"/>
            <p:nvPr/>
          </p:nvSpPr>
          <p:spPr>
            <a:xfrm>
              <a:off x="7694839" y="5106831"/>
              <a:ext cx="4335796" cy="735842"/>
            </a:xfrm>
            <a:prstGeom prst="rect">
              <a:avLst/>
            </a:prstGeom>
            <a:noFill/>
          </p:spPr>
          <p:txBody>
            <a:bodyPr wrap="squar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有关大数据助农，利用电商平台推广特色产品等建议得到区组织部的认可</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17" name="arrow-pointing-left-circular-button_20407">
              <a:extLst>
                <a:ext uri="{FF2B5EF4-FFF2-40B4-BE49-F238E27FC236}">
                  <a16:creationId xmlns:a16="http://schemas.microsoft.com/office/drawing/2014/main" id="{3F90B1A8-0D57-4750-B6A1-2FEB22033BCE}"/>
                </a:ext>
              </a:extLst>
            </p:cNvPr>
            <p:cNvSpPr>
              <a:spLocks noChangeAspect="1"/>
            </p:cNvSpPr>
            <p:nvPr/>
          </p:nvSpPr>
          <p:spPr bwMode="auto">
            <a:xfrm>
              <a:off x="6990024" y="4938088"/>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nvGrpSpPr>
          <p:cNvPr id="4" name="组合 3">
            <a:extLst>
              <a:ext uri="{FF2B5EF4-FFF2-40B4-BE49-F238E27FC236}">
                <a16:creationId xmlns:a16="http://schemas.microsoft.com/office/drawing/2014/main" id="{44899607-3543-4060-803A-8DD8C497F0FF}"/>
              </a:ext>
            </a:extLst>
          </p:cNvPr>
          <p:cNvGrpSpPr/>
          <p:nvPr/>
        </p:nvGrpSpPr>
        <p:grpSpPr>
          <a:xfrm>
            <a:off x="6835239" y="1217829"/>
            <a:ext cx="2198428" cy="878138"/>
            <a:chOff x="6835239" y="1217829"/>
            <a:chExt cx="2198428" cy="878138"/>
          </a:xfrm>
        </p:grpSpPr>
        <p:sp>
          <p:nvSpPr>
            <p:cNvPr id="36" name="椭圆 35">
              <a:extLst>
                <a:ext uri="{FF2B5EF4-FFF2-40B4-BE49-F238E27FC236}">
                  <a16:creationId xmlns:a16="http://schemas.microsoft.com/office/drawing/2014/main" id="{EE90F7A8-39DB-4311-8747-EBCAD0F589F9}"/>
                </a:ext>
              </a:extLst>
            </p:cNvPr>
            <p:cNvSpPr/>
            <p:nvPr/>
          </p:nvSpPr>
          <p:spPr>
            <a:xfrm>
              <a:off x="6835239" y="1338151"/>
              <a:ext cx="714694" cy="714694"/>
            </a:xfrm>
            <a:prstGeom prst="ellipse">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37" name="文本框 36">
              <a:extLst>
                <a:ext uri="{FF2B5EF4-FFF2-40B4-BE49-F238E27FC236}">
                  <a16:creationId xmlns:a16="http://schemas.microsoft.com/office/drawing/2014/main" id="{EB2EC464-9DB7-40AF-9BAB-9219DB876919}"/>
                </a:ext>
              </a:extLst>
            </p:cNvPr>
            <p:cNvSpPr txBox="1"/>
            <p:nvPr/>
          </p:nvSpPr>
          <p:spPr>
            <a:xfrm>
              <a:off x="7694839" y="1217829"/>
              <a:ext cx="800219"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身份</a:t>
              </a:r>
            </a:p>
          </p:txBody>
        </p:sp>
        <p:sp>
          <p:nvSpPr>
            <p:cNvPr id="38" name="文本框 37">
              <a:extLst>
                <a:ext uri="{FF2B5EF4-FFF2-40B4-BE49-F238E27FC236}">
                  <a16:creationId xmlns:a16="http://schemas.microsoft.com/office/drawing/2014/main" id="{729B401B-9BF3-4D08-94D1-67372880898D}"/>
                </a:ext>
              </a:extLst>
            </p:cNvPr>
            <p:cNvSpPr txBox="1"/>
            <p:nvPr/>
          </p:nvSpPr>
          <p:spPr>
            <a:xfrm>
              <a:off x="7694839" y="1661937"/>
              <a:ext cx="1338828" cy="434030"/>
            </a:xfrm>
            <a:prstGeom prst="rect">
              <a:avLst/>
            </a:prstGeom>
            <a:noFill/>
          </p:spPr>
          <p:txBody>
            <a:bodyPr wrap="none" rtlCol="0">
              <a:spAutoFit/>
            </a:bodyPr>
            <a:lstStyle/>
            <a:p>
              <a:pPr>
                <a:lnSpc>
                  <a:spcPct val="138242"/>
                </a:lnSpc>
              </a:pPr>
              <a:r>
                <a:rPr lang="zh-CN" altLang="zh-CN" sz="1800" kern="100" dirty="0">
                  <a:effectLst/>
                  <a:ea typeface="微软雅黑" panose="020B0503020204020204" pitchFamily="34" charset="-122"/>
                  <a:cs typeface="微软雅黑" panose="020B0503020204020204" pitchFamily="34" charset="-122"/>
                </a:rPr>
                <a:t>项目负责人</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39" name="arrow-pointing-left-circular-button_20407">
              <a:extLst>
                <a:ext uri="{FF2B5EF4-FFF2-40B4-BE49-F238E27FC236}">
                  <a16:creationId xmlns:a16="http://schemas.microsoft.com/office/drawing/2014/main" id="{1B86C253-6F2F-46E5-BB88-192D41DDB1B3}"/>
                </a:ext>
              </a:extLst>
            </p:cNvPr>
            <p:cNvSpPr>
              <a:spLocks noChangeAspect="1"/>
            </p:cNvSpPr>
            <p:nvPr/>
          </p:nvSpPr>
          <p:spPr bwMode="auto">
            <a:xfrm>
              <a:off x="6990024" y="1493194"/>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nvGrpSpPr>
          <p:cNvPr id="6" name="组合 5">
            <a:extLst>
              <a:ext uri="{FF2B5EF4-FFF2-40B4-BE49-F238E27FC236}">
                <a16:creationId xmlns:a16="http://schemas.microsoft.com/office/drawing/2014/main" id="{9879634E-03EA-4183-844D-E38D9105BE54}"/>
              </a:ext>
            </a:extLst>
          </p:cNvPr>
          <p:cNvGrpSpPr/>
          <p:nvPr/>
        </p:nvGrpSpPr>
        <p:grpSpPr>
          <a:xfrm>
            <a:off x="6835239" y="2366127"/>
            <a:ext cx="4327216" cy="1179950"/>
            <a:chOff x="6835239" y="2366127"/>
            <a:chExt cx="4327216" cy="1179950"/>
          </a:xfrm>
        </p:grpSpPr>
        <p:sp>
          <p:nvSpPr>
            <p:cNvPr id="41" name="椭圆 40">
              <a:extLst>
                <a:ext uri="{FF2B5EF4-FFF2-40B4-BE49-F238E27FC236}">
                  <a16:creationId xmlns:a16="http://schemas.microsoft.com/office/drawing/2014/main" id="{D692B03B-207C-43FC-9544-BA965F4394AC}"/>
                </a:ext>
              </a:extLst>
            </p:cNvPr>
            <p:cNvSpPr/>
            <p:nvPr/>
          </p:nvSpPr>
          <p:spPr>
            <a:xfrm>
              <a:off x="6835239" y="2486449"/>
              <a:ext cx="714694" cy="714694"/>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nvGrpSpPr>
            <p:cNvPr id="5" name="组合 4">
              <a:extLst>
                <a:ext uri="{FF2B5EF4-FFF2-40B4-BE49-F238E27FC236}">
                  <a16:creationId xmlns:a16="http://schemas.microsoft.com/office/drawing/2014/main" id="{7726CE26-2699-4812-8E83-02FCC944DB9D}"/>
                </a:ext>
              </a:extLst>
            </p:cNvPr>
            <p:cNvGrpSpPr/>
            <p:nvPr/>
          </p:nvGrpSpPr>
          <p:grpSpPr>
            <a:xfrm>
              <a:off x="6990024" y="2366127"/>
              <a:ext cx="4172431" cy="1179950"/>
              <a:chOff x="6990024" y="2366127"/>
              <a:chExt cx="4172431" cy="1179950"/>
            </a:xfrm>
          </p:grpSpPr>
          <p:sp>
            <p:nvSpPr>
              <p:cNvPr id="42" name="文本框 41">
                <a:extLst>
                  <a:ext uri="{FF2B5EF4-FFF2-40B4-BE49-F238E27FC236}">
                    <a16:creationId xmlns:a16="http://schemas.microsoft.com/office/drawing/2014/main" id="{4919BC84-86AA-4E90-8174-562BE2A7A5FA}"/>
                  </a:ext>
                </a:extLst>
              </p:cNvPr>
              <p:cNvSpPr txBox="1"/>
              <p:nvPr/>
            </p:nvSpPr>
            <p:spPr>
              <a:xfrm>
                <a:off x="7694839" y="2366127"/>
                <a:ext cx="1415772"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主要职责</a:t>
                </a:r>
              </a:p>
            </p:txBody>
          </p:sp>
          <p:sp>
            <p:nvSpPr>
              <p:cNvPr id="43" name="文本框 42">
                <a:extLst>
                  <a:ext uri="{FF2B5EF4-FFF2-40B4-BE49-F238E27FC236}">
                    <a16:creationId xmlns:a16="http://schemas.microsoft.com/office/drawing/2014/main" id="{0DBC8BFF-99FF-487D-8482-23A1F634E279}"/>
                  </a:ext>
                </a:extLst>
              </p:cNvPr>
              <p:cNvSpPr txBox="1"/>
              <p:nvPr/>
            </p:nvSpPr>
            <p:spPr>
              <a:xfrm>
                <a:off x="7694839" y="2810235"/>
                <a:ext cx="3467616" cy="735842"/>
              </a:xfrm>
              <a:prstGeom prst="rect">
                <a:avLst/>
              </a:prstGeom>
              <a:noFill/>
            </p:spPr>
            <p:txBody>
              <a:bodyPr wrap="non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带团队实地调研，统筹任务安排，</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联系指导老师和相关部门，撰写文案</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4" name="arrow-pointing-left-circular-button_20407">
                <a:extLst>
                  <a:ext uri="{FF2B5EF4-FFF2-40B4-BE49-F238E27FC236}">
                    <a16:creationId xmlns:a16="http://schemas.microsoft.com/office/drawing/2014/main" id="{F189BE2A-0DA7-4C4E-BFB3-06F64EC3D0D2}"/>
                  </a:ext>
                </a:extLst>
              </p:cNvPr>
              <p:cNvSpPr>
                <a:spLocks noChangeAspect="1"/>
              </p:cNvSpPr>
              <p:nvPr/>
            </p:nvSpPr>
            <p:spPr bwMode="auto">
              <a:xfrm>
                <a:off x="6990024" y="264149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grpSp>
        <p:nvGrpSpPr>
          <p:cNvPr id="7" name="组合 6">
            <a:extLst>
              <a:ext uri="{FF2B5EF4-FFF2-40B4-BE49-F238E27FC236}">
                <a16:creationId xmlns:a16="http://schemas.microsoft.com/office/drawing/2014/main" id="{914ADA26-8E69-47B5-B8CD-268D5FF849DE}"/>
              </a:ext>
            </a:extLst>
          </p:cNvPr>
          <p:cNvGrpSpPr/>
          <p:nvPr/>
        </p:nvGrpSpPr>
        <p:grpSpPr>
          <a:xfrm>
            <a:off x="6835239" y="3514425"/>
            <a:ext cx="5195396" cy="1859495"/>
            <a:chOff x="6835239" y="3514425"/>
            <a:chExt cx="5195396" cy="1859495"/>
          </a:xfrm>
        </p:grpSpPr>
        <p:sp>
          <p:nvSpPr>
            <p:cNvPr id="46" name="椭圆 45">
              <a:extLst>
                <a:ext uri="{FF2B5EF4-FFF2-40B4-BE49-F238E27FC236}">
                  <a16:creationId xmlns:a16="http://schemas.microsoft.com/office/drawing/2014/main" id="{42D4AC57-FAEE-472C-A022-B548E59A66FB}"/>
                </a:ext>
              </a:extLst>
            </p:cNvPr>
            <p:cNvSpPr/>
            <p:nvPr/>
          </p:nvSpPr>
          <p:spPr>
            <a:xfrm>
              <a:off x="6835239" y="3634747"/>
              <a:ext cx="714694" cy="714694"/>
            </a:xfrm>
            <a:prstGeom prst="ellipse">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7" name="文本框 46">
              <a:extLst>
                <a:ext uri="{FF2B5EF4-FFF2-40B4-BE49-F238E27FC236}">
                  <a16:creationId xmlns:a16="http://schemas.microsoft.com/office/drawing/2014/main" id="{135B2B7D-1870-49EC-8A95-6701B76E5A0B}"/>
                </a:ext>
              </a:extLst>
            </p:cNvPr>
            <p:cNvSpPr txBox="1"/>
            <p:nvPr/>
          </p:nvSpPr>
          <p:spPr>
            <a:xfrm>
              <a:off x="7694839" y="3514425"/>
              <a:ext cx="1415772"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项目内容</a:t>
              </a:r>
            </a:p>
          </p:txBody>
        </p:sp>
        <p:sp>
          <p:nvSpPr>
            <p:cNvPr id="48" name="文本框 47">
              <a:extLst>
                <a:ext uri="{FF2B5EF4-FFF2-40B4-BE49-F238E27FC236}">
                  <a16:creationId xmlns:a16="http://schemas.microsoft.com/office/drawing/2014/main" id="{4C0908DC-7ED0-47F8-A87A-0B317FE30F33}"/>
                </a:ext>
              </a:extLst>
            </p:cNvPr>
            <p:cNvSpPr txBox="1"/>
            <p:nvPr/>
          </p:nvSpPr>
          <p:spPr>
            <a:xfrm>
              <a:off x="7694839" y="3958533"/>
              <a:ext cx="4335796" cy="1415387"/>
            </a:xfrm>
            <a:prstGeom prst="rect">
              <a:avLst/>
            </a:prstGeom>
            <a:noFill/>
          </p:spPr>
          <p:txBody>
            <a:bodyPr wrap="square" rtlCol="0">
              <a:spAutoFit/>
            </a:bodyPr>
            <a:lstStyle/>
            <a:p>
              <a:pPr>
                <a:lnSpc>
                  <a:spcPct val="138242"/>
                </a:lnSpc>
              </a:pPr>
              <a:r>
                <a:rPr lang="zh-CN" altLang="en-US" sz="1600" dirty="0">
                  <a:solidFill>
                    <a:schemeClr val="tx1">
                      <a:lumMod val="65000"/>
                      <a:lumOff val="35000"/>
                    </a:schemeClr>
                  </a:solidFill>
                  <a:ea typeface="思源黑体 CN Normal" panose="020B0400000000000000" pitchFamily="34" charset="-122"/>
                  <a:cs typeface="+mn-ea"/>
                  <a:sym typeface="思源黑体 CN Normal" panose="020B0400000000000000" pitchFamily="34" charset="-122"/>
                </a:rPr>
                <a:t>根据高山村的窘境，走访当地龙头企业和文旅城万花楼，去找寻一条可复制的</a:t>
              </a:r>
              <a:r>
                <a:rPr lang="en-US" altLang="zh-CN" sz="1600" dirty="0">
                  <a:solidFill>
                    <a:schemeClr val="tx1">
                      <a:lumMod val="65000"/>
                      <a:lumOff val="35000"/>
                    </a:schemeClr>
                  </a:solidFill>
                  <a:ea typeface="思源黑体 CN Normal" panose="020B0400000000000000" pitchFamily="34" charset="-122"/>
                  <a:cs typeface="+mn-ea"/>
                </a:rPr>
                <a:t>“</a:t>
              </a:r>
              <a:r>
                <a:rPr lang="zh-CN" altLang="zh-CN" sz="1600" dirty="0">
                  <a:solidFill>
                    <a:schemeClr val="tx1">
                      <a:lumMod val="65000"/>
                      <a:lumOff val="35000"/>
                    </a:schemeClr>
                  </a:solidFill>
                  <a:ea typeface="思源黑体 CN Normal" panose="020B0400000000000000" pitchFamily="34" charset="-122"/>
                  <a:cs typeface="+mn-ea"/>
                </a:rPr>
                <a:t>数字</a:t>
              </a:r>
              <a:r>
                <a:rPr lang="en-US" altLang="zh-CN" sz="1600" dirty="0">
                  <a:solidFill>
                    <a:schemeClr val="tx1">
                      <a:lumMod val="65000"/>
                      <a:lumOff val="35000"/>
                    </a:schemeClr>
                  </a:solidFill>
                  <a:ea typeface="思源黑体 CN Normal" panose="020B0400000000000000" pitchFamily="34" charset="-122"/>
                  <a:cs typeface="+mn-ea"/>
                </a:rPr>
                <a:t>+</a:t>
              </a:r>
              <a:r>
                <a:rPr lang="zh-CN" altLang="zh-CN" sz="1600" dirty="0">
                  <a:solidFill>
                    <a:schemeClr val="tx1">
                      <a:lumMod val="65000"/>
                      <a:lumOff val="35000"/>
                    </a:schemeClr>
                  </a:solidFill>
                  <a:ea typeface="思源黑体 CN Normal" panose="020B0400000000000000" pitchFamily="34" charset="-122"/>
                  <a:cs typeface="+mn-ea"/>
                </a:rPr>
                <a:t>文化</a:t>
              </a:r>
              <a:r>
                <a:rPr lang="en-US" altLang="zh-CN" sz="1600" dirty="0">
                  <a:solidFill>
                    <a:schemeClr val="tx1">
                      <a:lumMod val="65000"/>
                      <a:lumOff val="35000"/>
                    </a:schemeClr>
                  </a:solidFill>
                  <a:ea typeface="思源黑体 CN Normal" panose="020B0400000000000000" pitchFamily="34" charset="-122"/>
                  <a:cs typeface="+mn-ea"/>
                </a:rPr>
                <a:t>”</a:t>
              </a:r>
              <a:r>
                <a:rPr lang="zh-CN" altLang="zh-CN" sz="1600" dirty="0">
                  <a:solidFill>
                    <a:schemeClr val="tx1">
                      <a:lumMod val="65000"/>
                      <a:lumOff val="35000"/>
                    </a:schemeClr>
                  </a:solidFill>
                  <a:ea typeface="思源黑体 CN Normal" panose="020B0400000000000000" pitchFamily="34" charset="-122"/>
                  <a:cs typeface="+mn-ea"/>
                </a:rPr>
                <a:t>乡村振兴路径。</a:t>
              </a:r>
            </a:p>
            <a:p>
              <a:pPr>
                <a:lnSpc>
                  <a:spcPct val="138242"/>
                </a:lnSpc>
              </a:pP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9" name="arrow-pointing-left-circular-button_20407">
              <a:extLst>
                <a:ext uri="{FF2B5EF4-FFF2-40B4-BE49-F238E27FC236}">
                  <a16:creationId xmlns:a16="http://schemas.microsoft.com/office/drawing/2014/main" id="{03D09F7A-9682-417F-B00A-AD1A57F5CE26}"/>
                </a:ext>
              </a:extLst>
            </p:cNvPr>
            <p:cNvSpPr>
              <a:spLocks noChangeAspect="1"/>
            </p:cNvSpPr>
            <p:nvPr/>
          </p:nvSpPr>
          <p:spPr bwMode="auto">
            <a:xfrm>
              <a:off x="6990024" y="3789790"/>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89086" y="306729"/>
            <a:ext cx="798118" cy="798118"/>
          </a:xfrm>
          <a:prstGeom prst="rect">
            <a:avLst/>
          </a:prstGeom>
        </p:spPr>
      </p:pic>
      <p:grpSp>
        <p:nvGrpSpPr>
          <p:cNvPr id="9" name="组合 8">
            <a:extLst>
              <a:ext uri="{FF2B5EF4-FFF2-40B4-BE49-F238E27FC236}">
                <a16:creationId xmlns:a16="http://schemas.microsoft.com/office/drawing/2014/main" id="{377AE499-49CE-26C8-71B5-9BE8F7150B0D}"/>
              </a:ext>
            </a:extLst>
          </p:cNvPr>
          <p:cNvGrpSpPr/>
          <p:nvPr/>
        </p:nvGrpSpPr>
        <p:grpSpPr>
          <a:xfrm>
            <a:off x="1085577" y="1739237"/>
            <a:ext cx="5010423" cy="3603458"/>
            <a:chOff x="6404427" y="1467853"/>
            <a:chExt cx="5010423" cy="3603458"/>
          </a:xfrm>
        </p:grpSpPr>
        <p:pic>
          <p:nvPicPr>
            <p:cNvPr id="10" name="图片 9" descr="IMG_3472">
              <a:extLst>
                <a:ext uri="{FF2B5EF4-FFF2-40B4-BE49-F238E27FC236}">
                  <a16:creationId xmlns:a16="http://schemas.microsoft.com/office/drawing/2014/main" id="{D0396AAC-F13B-A460-45B5-6516AB1A021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414318" y="3228985"/>
              <a:ext cx="2495322" cy="1842326"/>
            </a:xfrm>
            <a:prstGeom prst="rect">
              <a:avLst/>
            </a:prstGeom>
          </p:spPr>
        </p:pic>
        <p:pic>
          <p:nvPicPr>
            <p:cNvPr id="11" name="图片 10">
              <a:extLst>
                <a:ext uri="{FF2B5EF4-FFF2-40B4-BE49-F238E27FC236}">
                  <a16:creationId xmlns:a16="http://schemas.microsoft.com/office/drawing/2014/main" id="{2E30BF91-3676-942D-41B2-AD90DFD61943}"/>
                </a:ext>
              </a:extLst>
            </p:cNvPr>
            <p:cNvPicPr>
              <a:picLocks noChangeAspect="1"/>
            </p:cNvPicPr>
            <p:nvPr/>
          </p:nvPicPr>
          <p:blipFill>
            <a:blip r:embed="rId4"/>
            <a:stretch>
              <a:fillRect/>
            </a:stretch>
          </p:blipFill>
          <p:spPr>
            <a:xfrm>
              <a:off x="8909639" y="1467853"/>
              <a:ext cx="2505211" cy="1761132"/>
            </a:xfrm>
            <a:prstGeom prst="rect">
              <a:avLst/>
            </a:prstGeom>
          </p:spPr>
        </p:pic>
        <p:pic>
          <p:nvPicPr>
            <p:cNvPr id="13" name="图片 12" descr="IMG_256">
              <a:extLst>
                <a:ext uri="{FF2B5EF4-FFF2-40B4-BE49-F238E27FC236}">
                  <a16:creationId xmlns:a16="http://schemas.microsoft.com/office/drawing/2014/main" id="{D16E5A36-39CD-857C-69F4-974573EED976}"/>
                </a:ext>
              </a:extLst>
            </p:cNvPr>
            <p:cNvPicPr>
              <a:picLocks noChangeAspect="1"/>
            </p:cNvPicPr>
            <p:nvPr/>
          </p:nvPicPr>
          <p:blipFill>
            <a:blip r:embed="rId5"/>
            <a:stretch>
              <a:fillRect/>
            </a:stretch>
          </p:blipFill>
          <p:spPr>
            <a:xfrm>
              <a:off x="6404427" y="1467853"/>
              <a:ext cx="2505212" cy="1761132"/>
            </a:xfrm>
            <a:prstGeom prst="rect">
              <a:avLst/>
            </a:prstGeom>
            <a:noFill/>
            <a:ln w="9525">
              <a:noFill/>
            </a:ln>
          </p:spPr>
        </p:pic>
      </p:grpSp>
      <p:sp>
        <p:nvSpPr>
          <p:cNvPr id="19" name="文本框 18">
            <a:extLst>
              <a:ext uri="{FF2B5EF4-FFF2-40B4-BE49-F238E27FC236}">
                <a16:creationId xmlns:a16="http://schemas.microsoft.com/office/drawing/2014/main" id="{6D66C69B-C0FE-50A9-6BEF-7EAC099477CE}"/>
              </a:ext>
            </a:extLst>
          </p:cNvPr>
          <p:cNvSpPr txBox="1"/>
          <p:nvPr/>
        </p:nvSpPr>
        <p:spPr>
          <a:xfrm>
            <a:off x="-537882" y="424641"/>
            <a:ext cx="6096000" cy="623825"/>
          </a:xfrm>
          <a:prstGeom prst="rect">
            <a:avLst/>
          </a:prstGeom>
          <a:noFill/>
        </p:spPr>
        <p:txBody>
          <a:bodyPr wrap="square">
            <a:spAutoFit/>
          </a:bodyPr>
          <a:lstStyle/>
          <a:p>
            <a:pPr algn="ctr">
              <a:lnSpc>
                <a:spcPct val="138242"/>
              </a:lnSpc>
            </a:pPr>
            <a:r>
              <a:rPr lang="zh-CN" altLang="en-US" sz="28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寻脉乡土</a:t>
            </a:r>
            <a:r>
              <a:rPr lang="en-US" altLang="zh-CN" sz="28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a:t>
            </a:r>
            <a:r>
              <a:rPr lang="zh-CN" altLang="en-US" sz="28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数字赋能</a:t>
            </a:r>
          </a:p>
        </p:txBody>
      </p:sp>
      <p:pic>
        <p:nvPicPr>
          <p:cNvPr id="2" name="图片 1" descr="李盛鹏">
            <a:extLst>
              <a:ext uri="{FF2B5EF4-FFF2-40B4-BE49-F238E27FC236}">
                <a16:creationId xmlns:a16="http://schemas.microsoft.com/office/drawing/2014/main" id="{F5F69D87-C890-B5FE-2EF4-7714A7F4A223}"/>
              </a:ext>
            </a:extLst>
          </p:cNvPr>
          <p:cNvPicPr>
            <a:picLocks noChangeAspect="1"/>
          </p:cNvPicPr>
          <p:nvPr/>
        </p:nvPicPr>
        <p:blipFill>
          <a:blip r:embed="rId6"/>
          <a:stretch>
            <a:fillRect/>
          </a:stretch>
        </p:blipFill>
        <p:spPr>
          <a:xfrm>
            <a:off x="3590788" y="3481848"/>
            <a:ext cx="2495322" cy="1856618"/>
          </a:xfrm>
          <a:prstGeom prst="rect">
            <a:avLst/>
          </a:prstGeom>
        </p:spPr>
      </p:pic>
    </p:spTree>
    <p:extLst>
      <p:ext uri="{BB962C8B-B14F-4D97-AF65-F5344CB8AC3E}">
        <p14:creationId xmlns:p14="http://schemas.microsoft.com/office/powerpoint/2010/main" val="54860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A5BD1A47-0FB2-4A0E-8078-34E119716C8F}"/>
              </a:ext>
            </a:extLst>
          </p:cNvPr>
          <p:cNvGrpSpPr/>
          <p:nvPr/>
        </p:nvGrpSpPr>
        <p:grpSpPr>
          <a:xfrm>
            <a:off x="6835239" y="5239456"/>
            <a:ext cx="5195396" cy="1179950"/>
            <a:chOff x="6835239" y="4662723"/>
            <a:chExt cx="5195396" cy="1179950"/>
          </a:xfrm>
        </p:grpSpPr>
        <p:sp>
          <p:nvSpPr>
            <p:cNvPr id="14" name="椭圆 13">
              <a:extLst>
                <a:ext uri="{FF2B5EF4-FFF2-40B4-BE49-F238E27FC236}">
                  <a16:creationId xmlns:a16="http://schemas.microsoft.com/office/drawing/2014/main" id="{78C19CFD-3DB0-4F45-A032-AEC50851C3C5}"/>
                </a:ext>
              </a:extLst>
            </p:cNvPr>
            <p:cNvSpPr/>
            <p:nvPr/>
          </p:nvSpPr>
          <p:spPr>
            <a:xfrm>
              <a:off x="6835239" y="4783045"/>
              <a:ext cx="714694" cy="714694"/>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15" name="文本框 14">
              <a:extLst>
                <a:ext uri="{FF2B5EF4-FFF2-40B4-BE49-F238E27FC236}">
                  <a16:creationId xmlns:a16="http://schemas.microsoft.com/office/drawing/2014/main" id="{FC2797B5-C995-4C6E-802F-FDEC7D73B3DE}"/>
                </a:ext>
              </a:extLst>
            </p:cNvPr>
            <p:cNvSpPr txBox="1"/>
            <p:nvPr/>
          </p:nvSpPr>
          <p:spPr>
            <a:xfrm>
              <a:off x="7694839" y="4662723"/>
              <a:ext cx="1447832" cy="555730"/>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成果亮点</a:t>
              </a:r>
            </a:p>
          </p:txBody>
        </p:sp>
        <p:sp>
          <p:nvSpPr>
            <p:cNvPr id="16" name="文本框 15">
              <a:extLst>
                <a:ext uri="{FF2B5EF4-FFF2-40B4-BE49-F238E27FC236}">
                  <a16:creationId xmlns:a16="http://schemas.microsoft.com/office/drawing/2014/main" id="{6E48AAC6-864C-4D66-87F9-E16438079F60}"/>
                </a:ext>
              </a:extLst>
            </p:cNvPr>
            <p:cNvSpPr txBox="1"/>
            <p:nvPr/>
          </p:nvSpPr>
          <p:spPr>
            <a:xfrm>
              <a:off x="7694839" y="5106831"/>
              <a:ext cx="4335796" cy="735842"/>
            </a:xfrm>
            <a:prstGeom prst="rect">
              <a:avLst/>
            </a:prstGeom>
            <a:noFill/>
          </p:spPr>
          <p:txBody>
            <a:bodyPr wrap="squar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每年都有相当大部分与我们取得联系的同学怀揣着梦想来到了同济</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17" name="arrow-pointing-left-circular-button_20407">
              <a:extLst>
                <a:ext uri="{FF2B5EF4-FFF2-40B4-BE49-F238E27FC236}">
                  <a16:creationId xmlns:a16="http://schemas.microsoft.com/office/drawing/2014/main" id="{3F90B1A8-0D57-4750-B6A1-2FEB22033BCE}"/>
                </a:ext>
              </a:extLst>
            </p:cNvPr>
            <p:cNvSpPr>
              <a:spLocks noChangeAspect="1"/>
            </p:cNvSpPr>
            <p:nvPr/>
          </p:nvSpPr>
          <p:spPr bwMode="auto">
            <a:xfrm>
              <a:off x="6990024" y="4938088"/>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nvGrpSpPr>
          <p:cNvPr id="4" name="组合 3">
            <a:extLst>
              <a:ext uri="{FF2B5EF4-FFF2-40B4-BE49-F238E27FC236}">
                <a16:creationId xmlns:a16="http://schemas.microsoft.com/office/drawing/2014/main" id="{44899607-3543-4060-803A-8DD8C497F0FF}"/>
              </a:ext>
            </a:extLst>
          </p:cNvPr>
          <p:cNvGrpSpPr/>
          <p:nvPr/>
        </p:nvGrpSpPr>
        <p:grpSpPr>
          <a:xfrm>
            <a:off x="6835239" y="1217829"/>
            <a:ext cx="1967596" cy="878138"/>
            <a:chOff x="6835239" y="1217829"/>
            <a:chExt cx="1967596" cy="878138"/>
          </a:xfrm>
        </p:grpSpPr>
        <p:sp>
          <p:nvSpPr>
            <p:cNvPr id="36" name="椭圆 35">
              <a:extLst>
                <a:ext uri="{FF2B5EF4-FFF2-40B4-BE49-F238E27FC236}">
                  <a16:creationId xmlns:a16="http://schemas.microsoft.com/office/drawing/2014/main" id="{EE90F7A8-39DB-4311-8747-EBCAD0F589F9}"/>
                </a:ext>
              </a:extLst>
            </p:cNvPr>
            <p:cNvSpPr/>
            <p:nvPr/>
          </p:nvSpPr>
          <p:spPr>
            <a:xfrm>
              <a:off x="6835239" y="1338151"/>
              <a:ext cx="714694" cy="714694"/>
            </a:xfrm>
            <a:prstGeom prst="ellipse">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37" name="文本框 36">
              <a:extLst>
                <a:ext uri="{FF2B5EF4-FFF2-40B4-BE49-F238E27FC236}">
                  <a16:creationId xmlns:a16="http://schemas.microsoft.com/office/drawing/2014/main" id="{EB2EC464-9DB7-40AF-9BAB-9219DB876919}"/>
                </a:ext>
              </a:extLst>
            </p:cNvPr>
            <p:cNvSpPr txBox="1"/>
            <p:nvPr/>
          </p:nvSpPr>
          <p:spPr>
            <a:xfrm>
              <a:off x="7694839" y="1217829"/>
              <a:ext cx="800219"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身份</a:t>
              </a:r>
            </a:p>
          </p:txBody>
        </p:sp>
        <p:sp>
          <p:nvSpPr>
            <p:cNvPr id="38" name="文本框 37">
              <a:extLst>
                <a:ext uri="{FF2B5EF4-FFF2-40B4-BE49-F238E27FC236}">
                  <a16:creationId xmlns:a16="http://schemas.microsoft.com/office/drawing/2014/main" id="{729B401B-9BF3-4D08-94D1-67372880898D}"/>
                </a:ext>
              </a:extLst>
            </p:cNvPr>
            <p:cNvSpPr txBox="1"/>
            <p:nvPr/>
          </p:nvSpPr>
          <p:spPr>
            <a:xfrm>
              <a:off x="7694839" y="1661937"/>
              <a:ext cx="1107996" cy="434030"/>
            </a:xfrm>
            <a:prstGeom prst="rect">
              <a:avLst/>
            </a:prstGeom>
            <a:noFill/>
          </p:spPr>
          <p:txBody>
            <a:bodyPr wrap="none" rtlCol="0">
              <a:spAutoFit/>
            </a:bodyPr>
            <a:lstStyle/>
            <a:p>
              <a:pPr>
                <a:lnSpc>
                  <a:spcPct val="138242"/>
                </a:lnSpc>
              </a:pPr>
              <a:r>
                <a:rPr lang="zh-CN" altLang="zh-CN" sz="1800" kern="100" dirty="0">
                  <a:effectLst/>
                  <a:ea typeface="微软雅黑" panose="020B0503020204020204" pitchFamily="34" charset="-122"/>
                  <a:cs typeface="微软雅黑" panose="020B0503020204020204" pitchFamily="34" charset="-122"/>
                </a:rPr>
                <a:t>项目</a:t>
              </a:r>
              <a:r>
                <a:rPr lang="zh-CN" altLang="en-US" sz="1800" kern="100" dirty="0">
                  <a:effectLst/>
                  <a:ea typeface="微软雅黑" panose="020B0503020204020204" pitchFamily="34" charset="-122"/>
                  <a:cs typeface="微软雅黑" panose="020B0503020204020204" pitchFamily="34" charset="-122"/>
                </a:rPr>
                <a:t>成员</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39" name="arrow-pointing-left-circular-button_20407">
              <a:extLst>
                <a:ext uri="{FF2B5EF4-FFF2-40B4-BE49-F238E27FC236}">
                  <a16:creationId xmlns:a16="http://schemas.microsoft.com/office/drawing/2014/main" id="{1B86C253-6F2F-46E5-BB88-192D41DDB1B3}"/>
                </a:ext>
              </a:extLst>
            </p:cNvPr>
            <p:cNvSpPr>
              <a:spLocks noChangeAspect="1"/>
            </p:cNvSpPr>
            <p:nvPr/>
          </p:nvSpPr>
          <p:spPr bwMode="auto">
            <a:xfrm>
              <a:off x="6990024" y="1493194"/>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nvGrpSpPr>
          <p:cNvPr id="6" name="组合 5">
            <a:extLst>
              <a:ext uri="{FF2B5EF4-FFF2-40B4-BE49-F238E27FC236}">
                <a16:creationId xmlns:a16="http://schemas.microsoft.com/office/drawing/2014/main" id="{9879634E-03EA-4183-844D-E38D9105BE54}"/>
              </a:ext>
            </a:extLst>
          </p:cNvPr>
          <p:cNvGrpSpPr/>
          <p:nvPr/>
        </p:nvGrpSpPr>
        <p:grpSpPr>
          <a:xfrm>
            <a:off x="6835239" y="2366127"/>
            <a:ext cx="5558322" cy="840178"/>
            <a:chOff x="6835239" y="2366127"/>
            <a:chExt cx="5558322" cy="840178"/>
          </a:xfrm>
        </p:grpSpPr>
        <p:sp>
          <p:nvSpPr>
            <p:cNvPr id="41" name="椭圆 40">
              <a:extLst>
                <a:ext uri="{FF2B5EF4-FFF2-40B4-BE49-F238E27FC236}">
                  <a16:creationId xmlns:a16="http://schemas.microsoft.com/office/drawing/2014/main" id="{D692B03B-207C-43FC-9544-BA965F4394AC}"/>
                </a:ext>
              </a:extLst>
            </p:cNvPr>
            <p:cNvSpPr/>
            <p:nvPr/>
          </p:nvSpPr>
          <p:spPr>
            <a:xfrm>
              <a:off x="6835239" y="2486449"/>
              <a:ext cx="714694" cy="714694"/>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nvGrpSpPr>
            <p:cNvPr id="5" name="组合 4">
              <a:extLst>
                <a:ext uri="{FF2B5EF4-FFF2-40B4-BE49-F238E27FC236}">
                  <a16:creationId xmlns:a16="http://schemas.microsoft.com/office/drawing/2014/main" id="{7726CE26-2699-4812-8E83-02FCC944DB9D}"/>
                </a:ext>
              </a:extLst>
            </p:cNvPr>
            <p:cNvGrpSpPr/>
            <p:nvPr/>
          </p:nvGrpSpPr>
          <p:grpSpPr>
            <a:xfrm>
              <a:off x="6990024" y="2366127"/>
              <a:ext cx="5403537" cy="840178"/>
              <a:chOff x="6990024" y="2366127"/>
              <a:chExt cx="5403537" cy="840178"/>
            </a:xfrm>
          </p:grpSpPr>
          <p:sp>
            <p:nvSpPr>
              <p:cNvPr id="42" name="文本框 41">
                <a:extLst>
                  <a:ext uri="{FF2B5EF4-FFF2-40B4-BE49-F238E27FC236}">
                    <a16:creationId xmlns:a16="http://schemas.microsoft.com/office/drawing/2014/main" id="{4919BC84-86AA-4E90-8174-562BE2A7A5FA}"/>
                  </a:ext>
                </a:extLst>
              </p:cNvPr>
              <p:cNvSpPr txBox="1"/>
              <p:nvPr/>
            </p:nvSpPr>
            <p:spPr>
              <a:xfrm>
                <a:off x="7694839" y="2366127"/>
                <a:ext cx="1415772"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主要职责</a:t>
                </a:r>
              </a:p>
            </p:txBody>
          </p:sp>
          <p:sp>
            <p:nvSpPr>
              <p:cNvPr id="43" name="文本框 42">
                <a:extLst>
                  <a:ext uri="{FF2B5EF4-FFF2-40B4-BE49-F238E27FC236}">
                    <a16:creationId xmlns:a16="http://schemas.microsoft.com/office/drawing/2014/main" id="{0DBC8BFF-99FF-487D-8482-23A1F634E279}"/>
                  </a:ext>
                </a:extLst>
              </p:cNvPr>
              <p:cNvSpPr txBox="1"/>
              <p:nvPr/>
            </p:nvSpPr>
            <p:spPr>
              <a:xfrm>
                <a:off x="7694839" y="2810235"/>
                <a:ext cx="4698722" cy="396070"/>
              </a:xfrm>
              <a:prstGeom prst="rect">
                <a:avLst/>
              </a:prstGeom>
              <a:noFill/>
            </p:spPr>
            <p:txBody>
              <a:bodyPr wrap="non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向母校学弟学妹们宣传同济招生政策的“话事员”</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4" name="arrow-pointing-left-circular-button_20407">
                <a:extLst>
                  <a:ext uri="{FF2B5EF4-FFF2-40B4-BE49-F238E27FC236}">
                    <a16:creationId xmlns:a16="http://schemas.microsoft.com/office/drawing/2014/main" id="{F189BE2A-0DA7-4C4E-BFB3-06F64EC3D0D2}"/>
                  </a:ext>
                </a:extLst>
              </p:cNvPr>
              <p:cNvSpPr>
                <a:spLocks noChangeAspect="1"/>
              </p:cNvSpPr>
              <p:nvPr/>
            </p:nvSpPr>
            <p:spPr bwMode="auto">
              <a:xfrm>
                <a:off x="6990024" y="264149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grpSp>
        <p:nvGrpSpPr>
          <p:cNvPr id="7" name="组合 6">
            <a:extLst>
              <a:ext uri="{FF2B5EF4-FFF2-40B4-BE49-F238E27FC236}">
                <a16:creationId xmlns:a16="http://schemas.microsoft.com/office/drawing/2014/main" id="{914ADA26-8E69-47B5-B8CD-268D5FF849DE}"/>
              </a:ext>
            </a:extLst>
          </p:cNvPr>
          <p:cNvGrpSpPr/>
          <p:nvPr/>
        </p:nvGrpSpPr>
        <p:grpSpPr>
          <a:xfrm>
            <a:off x="6835239" y="3514425"/>
            <a:ext cx="5195396" cy="1859495"/>
            <a:chOff x="6835239" y="3514425"/>
            <a:chExt cx="5195396" cy="1859495"/>
          </a:xfrm>
        </p:grpSpPr>
        <p:sp>
          <p:nvSpPr>
            <p:cNvPr id="46" name="椭圆 45">
              <a:extLst>
                <a:ext uri="{FF2B5EF4-FFF2-40B4-BE49-F238E27FC236}">
                  <a16:creationId xmlns:a16="http://schemas.microsoft.com/office/drawing/2014/main" id="{42D4AC57-FAEE-472C-A022-B548E59A66FB}"/>
                </a:ext>
              </a:extLst>
            </p:cNvPr>
            <p:cNvSpPr/>
            <p:nvPr/>
          </p:nvSpPr>
          <p:spPr>
            <a:xfrm>
              <a:off x="6835239" y="3634747"/>
              <a:ext cx="714694" cy="714694"/>
            </a:xfrm>
            <a:prstGeom prst="ellipse">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7" name="文本框 46">
              <a:extLst>
                <a:ext uri="{FF2B5EF4-FFF2-40B4-BE49-F238E27FC236}">
                  <a16:creationId xmlns:a16="http://schemas.microsoft.com/office/drawing/2014/main" id="{135B2B7D-1870-49EC-8A95-6701B76E5A0B}"/>
                </a:ext>
              </a:extLst>
            </p:cNvPr>
            <p:cNvSpPr txBox="1"/>
            <p:nvPr/>
          </p:nvSpPr>
          <p:spPr>
            <a:xfrm>
              <a:off x="7694839" y="3514425"/>
              <a:ext cx="1415772"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项目内容</a:t>
              </a:r>
            </a:p>
          </p:txBody>
        </p:sp>
        <p:sp>
          <p:nvSpPr>
            <p:cNvPr id="48" name="文本框 47">
              <a:extLst>
                <a:ext uri="{FF2B5EF4-FFF2-40B4-BE49-F238E27FC236}">
                  <a16:creationId xmlns:a16="http://schemas.microsoft.com/office/drawing/2014/main" id="{4C0908DC-7ED0-47F8-A87A-0B317FE30F33}"/>
                </a:ext>
              </a:extLst>
            </p:cNvPr>
            <p:cNvSpPr txBox="1"/>
            <p:nvPr/>
          </p:nvSpPr>
          <p:spPr>
            <a:xfrm>
              <a:off x="7694839" y="3958533"/>
              <a:ext cx="4335796" cy="1415387"/>
            </a:xfrm>
            <a:prstGeom prst="rect">
              <a:avLst/>
            </a:prstGeom>
            <a:noFill/>
          </p:spPr>
          <p:txBody>
            <a:bodyPr wrap="squar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利用每年寒暑假的时间，现身高中母校，随同同济当地招生办，利用路边摆摊 </a:t>
              </a:r>
              <a:r>
                <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 </a:t>
              </a: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讲座的形式宣传同济招生政策，打造学校在学弟学妹们心中的形象。</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9" name="arrow-pointing-left-circular-button_20407">
              <a:extLst>
                <a:ext uri="{FF2B5EF4-FFF2-40B4-BE49-F238E27FC236}">
                  <a16:creationId xmlns:a16="http://schemas.microsoft.com/office/drawing/2014/main" id="{03D09F7A-9682-417F-B00A-AD1A57F5CE26}"/>
                </a:ext>
              </a:extLst>
            </p:cNvPr>
            <p:cNvSpPr>
              <a:spLocks noChangeAspect="1"/>
            </p:cNvSpPr>
            <p:nvPr/>
          </p:nvSpPr>
          <p:spPr bwMode="auto">
            <a:xfrm>
              <a:off x="6990024" y="3789790"/>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89086" y="306729"/>
            <a:ext cx="798118" cy="798118"/>
          </a:xfrm>
          <a:prstGeom prst="rect">
            <a:avLst/>
          </a:prstGeom>
        </p:spPr>
      </p:pic>
      <p:sp>
        <p:nvSpPr>
          <p:cNvPr id="19" name="文本框 18">
            <a:extLst>
              <a:ext uri="{FF2B5EF4-FFF2-40B4-BE49-F238E27FC236}">
                <a16:creationId xmlns:a16="http://schemas.microsoft.com/office/drawing/2014/main" id="{6D66C69B-C0FE-50A9-6BEF-7EAC099477CE}"/>
              </a:ext>
            </a:extLst>
          </p:cNvPr>
          <p:cNvSpPr txBox="1"/>
          <p:nvPr/>
        </p:nvSpPr>
        <p:spPr>
          <a:xfrm>
            <a:off x="-537882" y="424641"/>
            <a:ext cx="6096000" cy="623825"/>
          </a:xfrm>
          <a:prstGeom prst="rect">
            <a:avLst/>
          </a:prstGeom>
          <a:noFill/>
        </p:spPr>
        <p:txBody>
          <a:bodyPr wrap="square">
            <a:spAutoFit/>
          </a:bodyPr>
          <a:lstStyle/>
          <a:p>
            <a:pPr algn="ctr">
              <a:lnSpc>
                <a:spcPct val="138242"/>
              </a:lnSpc>
            </a:pPr>
            <a:r>
              <a:rPr lang="zh-CN" altLang="en-US" sz="28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同心筑梦 济行不止</a:t>
            </a:r>
          </a:p>
        </p:txBody>
      </p:sp>
      <p:pic>
        <p:nvPicPr>
          <p:cNvPr id="3" name="图片 2" descr="一群人站在街道上&#10;&#10;AI 生成的内容可能不正确。">
            <a:extLst>
              <a:ext uri="{FF2B5EF4-FFF2-40B4-BE49-F238E27FC236}">
                <a16:creationId xmlns:a16="http://schemas.microsoft.com/office/drawing/2014/main" id="{BC147227-2645-BB94-1031-B8AD3CD94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9874" y="1621013"/>
            <a:ext cx="3595444" cy="2696056"/>
          </a:xfrm>
          <a:prstGeom prst="rect">
            <a:avLst/>
          </a:prstGeom>
        </p:spPr>
      </p:pic>
      <p:pic>
        <p:nvPicPr>
          <p:cNvPr id="20" name="图片 19" descr="文本&#10;&#10;AI 生成的内容可能不正确。">
            <a:extLst>
              <a:ext uri="{FF2B5EF4-FFF2-40B4-BE49-F238E27FC236}">
                <a16:creationId xmlns:a16="http://schemas.microsoft.com/office/drawing/2014/main" id="{C68C38DF-95E9-7B40-3459-F7D473CB90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365" y="1623270"/>
            <a:ext cx="2103724" cy="2711467"/>
          </a:xfrm>
          <a:prstGeom prst="rect">
            <a:avLst/>
          </a:prstGeom>
        </p:spPr>
      </p:pic>
    </p:spTree>
    <p:extLst>
      <p:ext uri="{BB962C8B-B14F-4D97-AF65-F5344CB8AC3E}">
        <p14:creationId xmlns:p14="http://schemas.microsoft.com/office/powerpoint/2010/main" val="44304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A5BD1A47-0FB2-4A0E-8078-34E119716C8F}"/>
              </a:ext>
            </a:extLst>
          </p:cNvPr>
          <p:cNvGrpSpPr/>
          <p:nvPr/>
        </p:nvGrpSpPr>
        <p:grpSpPr>
          <a:xfrm>
            <a:off x="6835239" y="5105189"/>
            <a:ext cx="5195396" cy="1179950"/>
            <a:chOff x="6835239" y="4662723"/>
            <a:chExt cx="5195396" cy="1179950"/>
          </a:xfrm>
        </p:grpSpPr>
        <p:sp>
          <p:nvSpPr>
            <p:cNvPr id="14" name="椭圆 13">
              <a:extLst>
                <a:ext uri="{FF2B5EF4-FFF2-40B4-BE49-F238E27FC236}">
                  <a16:creationId xmlns:a16="http://schemas.microsoft.com/office/drawing/2014/main" id="{78C19CFD-3DB0-4F45-A032-AEC50851C3C5}"/>
                </a:ext>
              </a:extLst>
            </p:cNvPr>
            <p:cNvSpPr/>
            <p:nvPr/>
          </p:nvSpPr>
          <p:spPr>
            <a:xfrm>
              <a:off x="6835239" y="4783045"/>
              <a:ext cx="714694" cy="714694"/>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15" name="文本框 14">
              <a:extLst>
                <a:ext uri="{FF2B5EF4-FFF2-40B4-BE49-F238E27FC236}">
                  <a16:creationId xmlns:a16="http://schemas.microsoft.com/office/drawing/2014/main" id="{FC2797B5-C995-4C6E-802F-FDEC7D73B3DE}"/>
                </a:ext>
              </a:extLst>
            </p:cNvPr>
            <p:cNvSpPr txBox="1"/>
            <p:nvPr/>
          </p:nvSpPr>
          <p:spPr>
            <a:xfrm>
              <a:off x="7694839" y="4662723"/>
              <a:ext cx="1447832" cy="555730"/>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成果亮点</a:t>
              </a:r>
            </a:p>
          </p:txBody>
        </p:sp>
        <p:sp>
          <p:nvSpPr>
            <p:cNvPr id="16" name="文本框 15">
              <a:extLst>
                <a:ext uri="{FF2B5EF4-FFF2-40B4-BE49-F238E27FC236}">
                  <a16:creationId xmlns:a16="http://schemas.microsoft.com/office/drawing/2014/main" id="{6E48AAC6-864C-4D66-87F9-E16438079F60}"/>
                </a:ext>
              </a:extLst>
            </p:cNvPr>
            <p:cNvSpPr txBox="1"/>
            <p:nvPr/>
          </p:nvSpPr>
          <p:spPr>
            <a:xfrm>
              <a:off x="7694839" y="5106831"/>
              <a:ext cx="4335796" cy="735842"/>
            </a:xfrm>
            <a:prstGeom prst="rect">
              <a:avLst/>
            </a:prstGeom>
            <a:noFill/>
          </p:spPr>
          <p:txBody>
            <a:bodyPr wrap="squar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获得优秀资助宣传项目称号，个人获得优秀志愿者的称号</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17" name="arrow-pointing-left-circular-button_20407">
              <a:extLst>
                <a:ext uri="{FF2B5EF4-FFF2-40B4-BE49-F238E27FC236}">
                  <a16:creationId xmlns:a16="http://schemas.microsoft.com/office/drawing/2014/main" id="{3F90B1A8-0D57-4750-B6A1-2FEB22033BCE}"/>
                </a:ext>
              </a:extLst>
            </p:cNvPr>
            <p:cNvSpPr>
              <a:spLocks noChangeAspect="1"/>
            </p:cNvSpPr>
            <p:nvPr/>
          </p:nvSpPr>
          <p:spPr bwMode="auto">
            <a:xfrm>
              <a:off x="6990024" y="4938088"/>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nvGrpSpPr>
          <p:cNvPr id="4" name="组合 3">
            <a:extLst>
              <a:ext uri="{FF2B5EF4-FFF2-40B4-BE49-F238E27FC236}">
                <a16:creationId xmlns:a16="http://schemas.microsoft.com/office/drawing/2014/main" id="{44899607-3543-4060-803A-8DD8C497F0FF}"/>
              </a:ext>
            </a:extLst>
          </p:cNvPr>
          <p:cNvGrpSpPr/>
          <p:nvPr/>
        </p:nvGrpSpPr>
        <p:grpSpPr>
          <a:xfrm>
            <a:off x="6835239" y="781084"/>
            <a:ext cx="1967596" cy="878138"/>
            <a:chOff x="6835239" y="1217829"/>
            <a:chExt cx="1967596" cy="878138"/>
          </a:xfrm>
        </p:grpSpPr>
        <p:sp>
          <p:nvSpPr>
            <p:cNvPr id="36" name="椭圆 35">
              <a:extLst>
                <a:ext uri="{FF2B5EF4-FFF2-40B4-BE49-F238E27FC236}">
                  <a16:creationId xmlns:a16="http://schemas.microsoft.com/office/drawing/2014/main" id="{EE90F7A8-39DB-4311-8747-EBCAD0F589F9}"/>
                </a:ext>
              </a:extLst>
            </p:cNvPr>
            <p:cNvSpPr/>
            <p:nvPr/>
          </p:nvSpPr>
          <p:spPr>
            <a:xfrm>
              <a:off x="6835239" y="1338151"/>
              <a:ext cx="714694" cy="714694"/>
            </a:xfrm>
            <a:prstGeom prst="ellipse">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37" name="文本框 36">
              <a:extLst>
                <a:ext uri="{FF2B5EF4-FFF2-40B4-BE49-F238E27FC236}">
                  <a16:creationId xmlns:a16="http://schemas.microsoft.com/office/drawing/2014/main" id="{EB2EC464-9DB7-40AF-9BAB-9219DB876919}"/>
                </a:ext>
              </a:extLst>
            </p:cNvPr>
            <p:cNvSpPr txBox="1"/>
            <p:nvPr/>
          </p:nvSpPr>
          <p:spPr>
            <a:xfrm>
              <a:off x="7694839" y="1217829"/>
              <a:ext cx="800219"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身份</a:t>
              </a:r>
            </a:p>
          </p:txBody>
        </p:sp>
        <p:sp>
          <p:nvSpPr>
            <p:cNvPr id="38" name="文本框 37">
              <a:extLst>
                <a:ext uri="{FF2B5EF4-FFF2-40B4-BE49-F238E27FC236}">
                  <a16:creationId xmlns:a16="http://schemas.microsoft.com/office/drawing/2014/main" id="{729B401B-9BF3-4D08-94D1-67372880898D}"/>
                </a:ext>
              </a:extLst>
            </p:cNvPr>
            <p:cNvSpPr txBox="1"/>
            <p:nvPr/>
          </p:nvSpPr>
          <p:spPr>
            <a:xfrm>
              <a:off x="7694839" y="1661937"/>
              <a:ext cx="1107996" cy="434030"/>
            </a:xfrm>
            <a:prstGeom prst="rect">
              <a:avLst/>
            </a:prstGeom>
            <a:noFill/>
          </p:spPr>
          <p:txBody>
            <a:bodyPr wrap="none" rtlCol="0">
              <a:spAutoFit/>
            </a:bodyPr>
            <a:lstStyle/>
            <a:p>
              <a:pPr>
                <a:lnSpc>
                  <a:spcPct val="138242"/>
                </a:lnSpc>
              </a:pPr>
              <a:r>
                <a:rPr lang="zh-CN" altLang="zh-CN" sz="1800" kern="100" dirty="0">
                  <a:effectLst/>
                  <a:ea typeface="微软雅黑" panose="020B0503020204020204" pitchFamily="34" charset="-122"/>
                  <a:cs typeface="微软雅黑" panose="020B0503020204020204" pitchFamily="34" charset="-122"/>
                </a:rPr>
                <a:t>项目</a:t>
              </a:r>
              <a:r>
                <a:rPr lang="zh-CN" altLang="en-US" sz="1800" kern="100" dirty="0">
                  <a:effectLst/>
                  <a:ea typeface="微软雅黑" panose="020B0503020204020204" pitchFamily="34" charset="-122"/>
                  <a:cs typeface="微软雅黑" panose="020B0503020204020204" pitchFamily="34" charset="-122"/>
                </a:rPr>
                <a:t>成员</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39" name="arrow-pointing-left-circular-button_20407">
              <a:extLst>
                <a:ext uri="{FF2B5EF4-FFF2-40B4-BE49-F238E27FC236}">
                  <a16:creationId xmlns:a16="http://schemas.microsoft.com/office/drawing/2014/main" id="{1B86C253-6F2F-46E5-BB88-192D41DDB1B3}"/>
                </a:ext>
              </a:extLst>
            </p:cNvPr>
            <p:cNvSpPr>
              <a:spLocks noChangeAspect="1"/>
            </p:cNvSpPr>
            <p:nvPr/>
          </p:nvSpPr>
          <p:spPr bwMode="auto">
            <a:xfrm>
              <a:off x="6990024" y="1493194"/>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nvGrpSpPr>
          <p:cNvPr id="6" name="组合 5">
            <a:extLst>
              <a:ext uri="{FF2B5EF4-FFF2-40B4-BE49-F238E27FC236}">
                <a16:creationId xmlns:a16="http://schemas.microsoft.com/office/drawing/2014/main" id="{9879634E-03EA-4183-844D-E38D9105BE54}"/>
              </a:ext>
            </a:extLst>
          </p:cNvPr>
          <p:cNvGrpSpPr/>
          <p:nvPr/>
        </p:nvGrpSpPr>
        <p:grpSpPr>
          <a:xfrm>
            <a:off x="6835239" y="1789181"/>
            <a:ext cx="4458662" cy="840178"/>
            <a:chOff x="6835239" y="2366127"/>
            <a:chExt cx="4458662" cy="840178"/>
          </a:xfrm>
        </p:grpSpPr>
        <p:sp>
          <p:nvSpPr>
            <p:cNvPr id="41" name="椭圆 40">
              <a:extLst>
                <a:ext uri="{FF2B5EF4-FFF2-40B4-BE49-F238E27FC236}">
                  <a16:creationId xmlns:a16="http://schemas.microsoft.com/office/drawing/2014/main" id="{D692B03B-207C-43FC-9544-BA965F4394AC}"/>
                </a:ext>
              </a:extLst>
            </p:cNvPr>
            <p:cNvSpPr/>
            <p:nvPr/>
          </p:nvSpPr>
          <p:spPr>
            <a:xfrm>
              <a:off x="6835239" y="2486449"/>
              <a:ext cx="714694" cy="714694"/>
            </a:xfrm>
            <a:prstGeom prst="ellipse">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nvGrpSpPr>
            <p:cNvPr id="5" name="组合 4">
              <a:extLst>
                <a:ext uri="{FF2B5EF4-FFF2-40B4-BE49-F238E27FC236}">
                  <a16:creationId xmlns:a16="http://schemas.microsoft.com/office/drawing/2014/main" id="{7726CE26-2699-4812-8E83-02FCC944DB9D}"/>
                </a:ext>
              </a:extLst>
            </p:cNvPr>
            <p:cNvGrpSpPr/>
            <p:nvPr/>
          </p:nvGrpSpPr>
          <p:grpSpPr>
            <a:xfrm>
              <a:off x="6990024" y="2366127"/>
              <a:ext cx="4303877" cy="840178"/>
              <a:chOff x="6990024" y="2366127"/>
              <a:chExt cx="4303877" cy="840178"/>
            </a:xfrm>
          </p:grpSpPr>
          <p:sp>
            <p:nvSpPr>
              <p:cNvPr id="42" name="文本框 41">
                <a:extLst>
                  <a:ext uri="{FF2B5EF4-FFF2-40B4-BE49-F238E27FC236}">
                    <a16:creationId xmlns:a16="http://schemas.microsoft.com/office/drawing/2014/main" id="{4919BC84-86AA-4E90-8174-562BE2A7A5FA}"/>
                  </a:ext>
                </a:extLst>
              </p:cNvPr>
              <p:cNvSpPr txBox="1"/>
              <p:nvPr/>
            </p:nvSpPr>
            <p:spPr>
              <a:xfrm>
                <a:off x="7694839" y="2366127"/>
                <a:ext cx="1415772"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主要职责</a:t>
                </a:r>
              </a:p>
            </p:txBody>
          </p:sp>
          <p:sp>
            <p:nvSpPr>
              <p:cNvPr id="43" name="文本框 42">
                <a:extLst>
                  <a:ext uri="{FF2B5EF4-FFF2-40B4-BE49-F238E27FC236}">
                    <a16:creationId xmlns:a16="http://schemas.microsoft.com/office/drawing/2014/main" id="{0DBC8BFF-99FF-487D-8482-23A1F634E279}"/>
                  </a:ext>
                </a:extLst>
              </p:cNvPr>
              <p:cNvSpPr txBox="1"/>
              <p:nvPr/>
            </p:nvSpPr>
            <p:spPr>
              <a:xfrm>
                <a:off x="7694839" y="2810235"/>
                <a:ext cx="3599062" cy="396070"/>
              </a:xfrm>
              <a:prstGeom prst="rect">
                <a:avLst/>
              </a:prstGeom>
              <a:noFill/>
            </p:spPr>
            <p:txBody>
              <a:bodyPr wrap="none" rtlCol="0">
                <a:spAutoFit/>
              </a:bodyPr>
              <a:lstStyle/>
              <a:p>
                <a:pPr>
                  <a:lnSpc>
                    <a:spcPct val="138242"/>
                  </a:lnSpc>
                </a:pPr>
                <a:r>
                  <a:rPr lang="zh-CN" altLang="en-US"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联系相关人员与场地，负责文书工作</a:t>
                </a:r>
                <a:endParaRPr lang="en-US" altLang="zh-CN" sz="1600" dirty="0">
                  <a:solidFill>
                    <a:schemeClr val="tx1">
                      <a:lumMod val="65000"/>
                      <a:lumOff val="35000"/>
                    </a:schemeClr>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4" name="arrow-pointing-left-circular-button_20407">
                <a:extLst>
                  <a:ext uri="{FF2B5EF4-FFF2-40B4-BE49-F238E27FC236}">
                    <a16:creationId xmlns:a16="http://schemas.microsoft.com/office/drawing/2014/main" id="{F189BE2A-0DA7-4C4E-BFB3-06F64EC3D0D2}"/>
                  </a:ext>
                </a:extLst>
              </p:cNvPr>
              <p:cNvSpPr>
                <a:spLocks noChangeAspect="1"/>
              </p:cNvSpPr>
              <p:nvPr/>
            </p:nvSpPr>
            <p:spPr bwMode="auto">
              <a:xfrm>
                <a:off x="6990024" y="264149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grpSp>
      <p:grpSp>
        <p:nvGrpSpPr>
          <p:cNvPr id="7" name="组合 6">
            <a:extLst>
              <a:ext uri="{FF2B5EF4-FFF2-40B4-BE49-F238E27FC236}">
                <a16:creationId xmlns:a16="http://schemas.microsoft.com/office/drawing/2014/main" id="{914ADA26-8E69-47B5-B8CD-268D5FF849DE}"/>
              </a:ext>
            </a:extLst>
          </p:cNvPr>
          <p:cNvGrpSpPr/>
          <p:nvPr/>
        </p:nvGrpSpPr>
        <p:grpSpPr>
          <a:xfrm>
            <a:off x="6835239" y="2760881"/>
            <a:ext cx="5195396" cy="2344308"/>
            <a:chOff x="6835239" y="3514425"/>
            <a:chExt cx="5195396" cy="2344308"/>
          </a:xfrm>
        </p:grpSpPr>
        <p:sp>
          <p:nvSpPr>
            <p:cNvPr id="46" name="椭圆 45">
              <a:extLst>
                <a:ext uri="{FF2B5EF4-FFF2-40B4-BE49-F238E27FC236}">
                  <a16:creationId xmlns:a16="http://schemas.microsoft.com/office/drawing/2014/main" id="{42D4AC57-FAEE-472C-A022-B548E59A66FB}"/>
                </a:ext>
              </a:extLst>
            </p:cNvPr>
            <p:cNvSpPr/>
            <p:nvPr/>
          </p:nvSpPr>
          <p:spPr>
            <a:xfrm>
              <a:off x="6835239" y="3634747"/>
              <a:ext cx="714694" cy="714694"/>
            </a:xfrm>
            <a:prstGeom prst="ellipse">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sz="5400"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7" name="文本框 46">
              <a:extLst>
                <a:ext uri="{FF2B5EF4-FFF2-40B4-BE49-F238E27FC236}">
                  <a16:creationId xmlns:a16="http://schemas.microsoft.com/office/drawing/2014/main" id="{135B2B7D-1870-49EC-8A95-6701B76E5A0B}"/>
                </a:ext>
              </a:extLst>
            </p:cNvPr>
            <p:cNvSpPr txBox="1"/>
            <p:nvPr/>
          </p:nvSpPr>
          <p:spPr>
            <a:xfrm>
              <a:off x="7694839" y="3514425"/>
              <a:ext cx="1415772" cy="547842"/>
            </a:xfrm>
            <a:prstGeom prst="rect">
              <a:avLst/>
            </a:prstGeom>
            <a:noFill/>
          </p:spPr>
          <p:txBody>
            <a:bodyPr wrap="none" rtlCol="0">
              <a:spAutoFit/>
            </a:bodyPr>
            <a:lstStyle/>
            <a:p>
              <a:pPr>
                <a:lnSpc>
                  <a:spcPct val="138242"/>
                </a:lnSpc>
              </a:pPr>
              <a:r>
                <a:rPr lang="zh-CN" altLang="en-US" sz="2400" b="1" dirty="0">
                  <a:solidFill>
                    <a:srgbClr val="1973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项目内容</a:t>
              </a:r>
            </a:p>
          </p:txBody>
        </p:sp>
        <p:sp>
          <p:nvSpPr>
            <p:cNvPr id="48" name="文本框 47">
              <a:extLst>
                <a:ext uri="{FF2B5EF4-FFF2-40B4-BE49-F238E27FC236}">
                  <a16:creationId xmlns:a16="http://schemas.microsoft.com/office/drawing/2014/main" id="{4C0908DC-7ED0-47F8-A87A-0B317FE30F33}"/>
                </a:ext>
              </a:extLst>
            </p:cNvPr>
            <p:cNvSpPr txBox="1"/>
            <p:nvPr/>
          </p:nvSpPr>
          <p:spPr>
            <a:xfrm>
              <a:off x="7694839" y="3958533"/>
              <a:ext cx="4335796" cy="1900200"/>
            </a:xfrm>
            <a:prstGeom prst="rect">
              <a:avLst/>
            </a:prstGeom>
            <a:noFill/>
          </p:spPr>
          <p:txBody>
            <a:bodyPr wrap="square" rtlCol="0">
              <a:spAutoFit/>
            </a:bodyPr>
            <a:lstStyle/>
            <a:p>
              <a:pPr indent="304800" algn="just">
                <a:lnSpc>
                  <a:spcPct val="150000"/>
                </a:lnSpc>
              </a:pPr>
              <a:r>
                <a:rPr lang="zh-CN" altLang="en-US" sz="1600" dirty="0">
                  <a:solidFill>
                    <a:schemeClr val="tx1">
                      <a:lumMod val="65000"/>
                      <a:lumOff val="35000"/>
                    </a:schemeClr>
                  </a:solidFill>
                  <a:ea typeface="思源黑体 CN Normal" panose="020B0400000000000000" pitchFamily="34" charset="-122"/>
                  <a:cs typeface="+mn-ea"/>
                  <a:sym typeface="思源黑体 CN Normal" panose="020B0400000000000000" pitchFamily="34" charset="-122"/>
                </a:rPr>
                <a:t>前往玉州区</a:t>
              </a:r>
              <a:r>
                <a:rPr lang="zh-CN" altLang="zh-CN" sz="1600" dirty="0">
                  <a:solidFill>
                    <a:schemeClr val="tx1">
                      <a:lumMod val="65000"/>
                      <a:lumOff val="35000"/>
                    </a:schemeClr>
                  </a:solidFill>
                  <a:ea typeface="思源黑体 CN Normal" panose="020B0400000000000000" pitchFamily="34" charset="-122"/>
                  <a:cs typeface="+mn-ea"/>
                </a:rPr>
                <a:t>属地资助中心，梳理政策脉</a:t>
              </a:r>
              <a:r>
                <a:rPr lang="zh-CN" altLang="en-US" sz="1600" dirty="0">
                  <a:solidFill>
                    <a:schemeClr val="tx1">
                      <a:lumMod val="65000"/>
                      <a:lumOff val="35000"/>
                    </a:schemeClr>
                  </a:solidFill>
                  <a:ea typeface="思源黑体 CN Normal" panose="020B0400000000000000" pitchFamily="34" charset="-122"/>
                  <a:cs typeface="+mn-ea"/>
                </a:rPr>
                <a:t>落</a:t>
              </a:r>
              <a:endParaRPr lang="en-US" altLang="zh-CN" sz="1600" dirty="0">
                <a:solidFill>
                  <a:schemeClr val="tx1">
                    <a:lumMod val="65000"/>
                    <a:lumOff val="35000"/>
                  </a:schemeClr>
                </a:solidFill>
                <a:ea typeface="思源黑体 CN Normal" panose="020B0400000000000000" pitchFamily="34" charset="-122"/>
                <a:cs typeface="+mn-ea"/>
              </a:endParaRPr>
            </a:p>
            <a:p>
              <a:pPr indent="304800" algn="just">
                <a:lnSpc>
                  <a:spcPct val="150000"/>
                </a:lnSpc>
              </a:pPr>
              <a:r>
                <a:rPr lang="zh-CN" altLang="zh-CN" sz="1600" dirty="0">
                  <a:solidFill>
                    <a:schemeClr val="tx1">
                      <a:lumMod val="65000"/>
                      <a:lumOff val="35000"/>
                    </a:schemeClr>
                  </a:solidFill>
                  <a:ea typeface="思源黑体 CN Normal" panose="020B0400000000000000" pitchFamily="34" charset="-122"/>
                  <a:cs typeface="+mn-ea"/>
                </a:rPr>
                <a:t>走进</a:t>
              </a:r>
              <a:r>
                <a:rPr lang="zh-CN" altLang="en-US" sz="1600" dirty="0">
                  <a:solidFill>
                    <a:schemeClr val="tx1">
                      <a:lumMod val="65000"/>
                      <a:lumOff val="35000"/>
                    </a:schemeClr>
                  </a:solidFill>
                  <a:ea typeface="思源黑体 CN Normal" panose="020B0400000000000000" pitchFamily="34" charset="-122"/>
                  <a:cs typeface="+mn-ea"/>
                </a:rPr>
                <a:t>县级</a:t>
              </a:r>
              <a:r>
                <a:rPr lang="zh-CN" altLang="zh-CN" sz="1600" dirty="0">
                  <a:solidFill>
                    <a:schemeClr val="tx1">
                      <a:lumMod val="65000"/>
                      <a:lumOff val="35000"/>
                    </a:schemeClr>
                  </a:solidFill>
                  <a:ea typeface="思源黑体 CN Normal" panose="020B0400000000000000" pitchFamily="34" charset="-122"/>
                  <a:cs typeface="+mn-ea"/>
                </a:rPr>
                <a:t>中学，以案例解政策、用互动消顾虑，播撒</a:t>
              </a:r>
              <a:r>
                <a:rPr lang="en-US" altLang="zh-CN" sz="1600" dirty="0">
                  <a:solidFill>
                    <a:schemeClr val="tx1">
                      <a:lumMod val="65000"/>
                      <a:lumOff val="35000"/>
                    </a:schemeClr>
                  </a:solidFill>
                  <a:ea typeface="思源黑体 CN Normal" panose="020B0400000000000000" pitchFamily="34" charset="-122"/>
                  <a:cs typeface="+mn-ea"/>
                </a:rPr>
                <a:t>“</a:t>
              </a:r>
              <a:r>
                <a:rPr lang="zh-CN" altLang="zh-CN" sz="1600" dirty="0">
                  <a:solidFill>
                    <a:schemeClr val="tx1">
                      <a:lumMod val="65000"/>
                      <a:lumOff val="35000"/>
                    </a:schemeClr>
                  </a:solidFill>
                  <a:ea typeface="思源黑体 CN Normal" panose="020B0400000000000000" pitchFamily="34" charset="-122"/>
                  <a:cs typeface="+mn-ea"/>
                </a:rPr>
                <a:t>求学有路</a:t>
              </a:r>
              <a:r>
                <a:rPr lang="en-US" altLang="zh-CN" sz="1600" dirty="0">
                  <a:solidFill>
                    <a:schemeClr val="tx1">
                      <a:lumMod val="65000"/>
                      <a:lumOff val="35000"/>
                    </a:schemeClr>
                  </a:solidFill>
                  <a:ea typeface="思源黑体 CN Normal" panose="020B0400000000000000" pitchFamily="34" charset="-122"/>
                  <a:cs typeface="+mn-ea"/>
                </a:rPr>
                <a:t>”</a:t>
              </a:r>
              <a:r>
                <a:rPr lang="zh-CN" altLang="zh-CN" sz="1600" dirty="0">
                  <a:solidFill>
                    <a:schemeClr val="tx1">
                      <a:lumMod val="65000"/>
                      <a:lumOff val="35000"/>
                    </a:schemeClr>
                  </a:solidFill>
                  <a:ea typeface="思源黑体 CN Normal" panose="020B0400000000000000" pitchFamily="34" charset="-122"/>
                  <a:cs typeface="+mn-ea"/>
                </a:rPr>
                <a:t>的希望种子。</a:t>
              </a:r>
              <a:endParaRPr lang="en-US" altLang="zh-CN" sz="1600" dirty="0">
                <a:solidFill>
                  <a:schemeClr val="tx1">
                    <a:lumMod val="65000"/>
                    <a:lumOff val="35000"/>
                  </a:schemeClr>
                </a:solidFill>
                <a:ea typeface="思源黑体 CN Normal" panose="020B0400000000000000" pitchFamily="34" charset="-122"/>
                <a:cs typeface="+mn-ea"/>
              </a:endParaRPr>
            </a:p>
            <a:p>
              <a:pPr indent="304800" algn="just">
                <a:lnSpc>
                  <a:spcPct val="150000"/>
                </a:lnSpc>
              </a:pPr>
              <a:r>
                <a:rPr lang="zh-CN" altLang="zh-CN" sz="1600" dirty="0">
                  <a:solidFill>
                    <a:schemeClr val="tx1">
                      <a:lumMod val="65000"/>
                      <a:lumOff val="35000"/>
                    </a:schemeClr>
                  </a:solidFill>
                  <a:ea typeface="思源黑体 CN Normal" panose="020B0400000000000000" pitchFamily="34" charset="-122"/>
                  <a:cs typeface="+mn-ea"/>
                </a:rPr>
                <a:t>漫步本地红色街区，触摸革命印记，让精神力量穿透时光、</a:t>
              </a:r>
              <a:endParaRPr lang="en-US" altLang="zh-CN" sz="1600" dirty="0">
                <a:solidFill>
                  <a:schemeClr val="tx1">
                    <a:lumMod val="65000"/>
                    <a:lumOff val="35000"/>
                  </a:schemeClr>
                </a:solidFill>
                <a:ea typeface="思源黑体 CN Normal" panose="020B0400000000000000" pitchFamily="34" charset="-122"/>
                <a:cs typeface="+mn-ea"/>
                <a:sym typeface="思源黑体 CN Normal" panose="020B0400000000000000" pitchFamily="34" charset="-122"/>
              </a:endParaRPr>
            </a:p>
          </p:txBody>
        </p:sp>
        <p:sp>
          <p:nvSpPr>
            <p:cNvPr id="49" name="arrow-pointing-left-circular-button_20407">
              <a:extLst>
                <a:ext uri="{FF2B5EF4-FFF2-40B4-BE49-F238E27FC236}">
                  <a16:creationId xmlns:a16="http://schemas.microsoft.com/office/drawing/2014/main" id="{03D09F7A-9682-417F-B00A-AD1A57F5CE26}"/>
                </a:ext>
              </a:extLst>
            </p:cNvPr>
            <p:cNvSpPr>
              <a:spLocks noChangeAspect="1"/>
            </p:cNvSpPr>
            <p:nvPr/>
          </p:nvSpPr>
          <p:spPr bwMode="auto">
            <a:xfrm>
              <a:off x="6990024" y="3789790"/>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pPr>
                <a:lnSpc>
                  <a:spcPct val="138242"/>
                </a:lnSpc>
              </a:pPr>
              <a:endParaRPr lang="zh-CN" altLang="en-US" dirty="0">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grpSp>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89086" y="306729"/>
            <a:ext cx="798118" cy="798118"/>
          </a:xfrm>
          <a:prstGeom prst="rect">
            <a:avLst/>
          </a:prstGeom>
        </p:spPr>
      </p:pic>
      <p:sp>
        <p:nvSpPr>
          <p:cNvPr id="19" name="文本框 18">
            <a:extLst>
              <a:ext uri="{FF2B5EF4-FFF2-40B4-BE49-F238E27FC236}">
                <a16:creationId xmlns:a16="http://schemas.microsoft.com/office/drawing/2014/main" id="{6D66C69B-C0FE-50A9-6BEF-7EAC099477CE}"/>
              </a:ext>
            </a:extLst>
          </p:cNvPr>
          <p:cNvSpPr txBox="1"/>
          <p:nvPr/>
        </p:nvSpPr>
        <p:spPr>
          <a:xfrm>
            <a:off x="487353" y="424641"/>
            <a:ext cx="6096000" cy="623825"/>
          </a:xfrm>
          <a:prstGeom prst="rect">
            <a:avLst/>
          </a:prstGeom>
          <a:noFill/>
        </p:spPr>
        <p:txBody>
          <a:bodyPr wrap="square">
            <a:spAutoFit/>
          </a:bodyPr>
          <a:lstStyle/>
          <a:p>
            <a:pPr algn="ctr">
              <a:lnSpc>
                <a:spcPct val="138242"/>
              </a:lnSpc>
            </a:pPr>
            <a:r>
              <a:rPr lang="zh-CN" altLang="en-US" sz="2800" b="1" dirty="0">
                <a:solidFill>
                  <a:srgbClr val="1974A2"/>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济梦助学燃希望  扶智兴乡铸未来</a:t>
            </a:r>
          </a:p>
        </p:txBody>
      </p:sp>
      <p:pic>
        <p:nvPicPr>
          <p:cNvPr id="2" name="图片 7">
            <a:extLst>
              <a:ext uri="{FF2B5EF4-FFF2-40B4-BE49-F238E27FC236}">
                <a16:creationId xmlns:a16="http://schemas.microsoft.com/office/drawing/2014/main" id="{DB4E109F-97B7-3A3D-16CF-B6D3C35406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913" y="3087908"/>
            <a:ext cx="1980029" cy="1243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7">
            <a:extLst>
              <a:ext uri="{FF2B5EF4-FFF2-40B4-BE49-F238E27FC236}">
                <a16:creationId xmlns:a16="http://schemas.microsoft.com/office/drawing/2014/main" id="{84554F1D-2039-E5CA-196D-4B0EE7B0F1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37335" b="37384"/>
          <a:stretch>
            <a:fillRect/>
          </a:stretch>
        </p:blipFill>
        <p:spPr bwMode="auto">
          <a:xfrm>
            <a:off x="305913" y="1897801"/>
            <a:ext cx="1980029" cy="119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2">
            <a:extLst>
              <a:ext uri="{FF2B5EF4-FFF2-40B4-BE49-F238E27FC236}">
                <a16:creationId xmlns:a16="http://schemas.microsoft.com/office/drawing/2014/main" id="{6D7CB9D7-9F1D-8DF2-4483-ABABAE64450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2272633" y="1897801"/>
            <a:ext cx="1968609" cy="12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3">
            <a:extLst>
              <a:ext uri="{FF2B5EF4-FFF2-40B4-BE49-F238E27FC236}">
                <a16:creationId xmlns:a16="http://schemas.microsoft.com/office/drawing/2014/main" id="{487D66CA-814B-26B0-80BB-943AF106A65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72633" y="3141046"/>
            <a:ext cx="1980029" cy="119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6">
            <a:extLst>
              <a:ext uri="{FF2B5EF4-FFF2-40B4-BE49-F238E27FC236}">
                <a16:creationId xmlns:a16="http://schemas.microsoft.com/office/drawing/2014/main" id="{F9E920E5-6D3D-D69B-E9C2-6A56E8FA079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52662" y="1893174"/>
            <a:ext cx="1887221" cy="128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8">
            <a:extLst>
              <a:ext uri="{FF2B5EF4-FFF2-40B4-BE49-F238E27FC236}">
                <a16:creationId xmlns:a16="http://schemas.microsoft.com/office/drawing/2014/main" id="{48B4C3C0-53FD-CE0B-AFC3-AEB1C394F2F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21846" y="3161678"/>
            <a:ext cx="1926014" cy="114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图片 25">
            <a:extLst>
              <a:ext uri="{FF2B5EF4-FFF2-40B4-BE49-F238E27FC236}">
                <a16:creationId xmlns:a16="http://schemas.microsoft.com/office/drawing/2014/main" id="{A5CE8CD0-E04B-4249-9FDF-3479C1282349}"/>
              </a:ext>
            </a:extLst>
          </p:cNvPr>
          <p:cNvPicPr>
            <a:picLocks noChangeAspect="1"/>
          </p:cNvPicPr>
          <p:nvPr/>
        </p:nvPicPr>
        <p:blipFill>
          <a:blip r:embed="rId9"/>
          <a:stretch>
            <a:fillRect/>
          </a:stretch>
        </p:blipFill>
        <p:spPr>
          <a:xfrm>
            <a:off x="305913" y="4708738"/>
            <a:ext cx="3295753" cy="1258481"/>
          </a:xfrm>
          <a:prstGeom prst="rect">
            <a:avLst/>
          </a:prstGeom>
        </p:spPr>
      </p:pic>
      <p:pic>
        <p:nvPicPr>
          <p:cNvPr id="28" name="图片 27">
            <a:extLst>
              <a:ext uri="{FF2B5EF4-FFF2-40B4-BE49-F238E27FC236}">
                <a16:creationId xmlns:a16="http://schemas.microsoft.com/office/drawing/2014/main" id="{10FA4132-BE7F-BD12-5936-D1F14F0FE8CA}"/>
              </a:ext>
            </a:extLst>
          </p:cNvPr>
          <p:cNvPicPr>
            <a:picLocks noChangeAspect="1"/>
          </p:cNvPicPr>
          <p:nvPr/>
        </p:nvPicPr>
        <p:blipFill>
          <a:blip r:embed="rId10"/>
          <a:stretch>
            <a:fillRect/>
          </a:stretch>
        </p:blipFill>
        <p:spPr>
          <a:xfrm>
            <a:off x="3929672" y="4397087"/>
            <a:ext cx="2210211" cy="1707496"/>
          </a:xfrm>
          <a:prstGeom prst="rect">
            <a:avLst/>
          </a:prstGeom>
        </p:spPr>
      </p:pic>
    </p:spTree>
    <p:extLst>
      <p:ext uri="{BB962C8B-B14F-4D97-AF65-F5344CB8AC3E}">
        <p14:creationId xmlns:p14="http://schemas.microsoft.com/office/powerpoint/2010/main" val="85146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28329F55-A0F7-4022-A579-03475610C841}"/>
              </a:ext>
            </a:extLst>
          </p:cNvPr>
          <p:cNvGrpSpPr/>
          <p:nvPr/>
        </p:nvGrpSpPr>
        <p:grpSpPr>
          <a:xfrm>
            <a:off x="3281242" y="2469732"/>
            <a:ext cx="6892440" cy="1678647"/>
            <a:chOff x="3281242" y="2469732"/>
            <a:chExt cx="6892440" cy="1678647"/>
          </a:xfrm>
        </p:grpSpPr>
        <p:grpSp>
          <p:nvGrpSpPr>
            <p:cNvPr id="3" name="组合 2">
              <a:extLst>
                <a:ext uri="{FF2B5EF4-FFF2-40B4-BE49-F238E27FC236}">
                  <a16:creationId xmlns:a16="http://schemas.microsoft.com/office/drawing/2014/main" id="{47089B40-0F99-4960-A1DD-10038BC08664}"/>
                </a:ext>
              </a:extLst>
            </p:cNvPr>
            <p:cNvGrpSpPr/>
            <p:nvPr/>
          </p:nvGrpSpPr>
          <p:grpSpPr>
            <a:xfrm>
              <a:off x="3281242" y="2469732"/>
              <a:ext cx="1235687" cy="1678647"/>
              <a:chOff x="3527985" y="2373304"/>
              <a:chExt cx="1235687" cy="1678647"/>
            </a:xfrm>
          </p:grpSpPr>
          <p:sp>
            <p:nvSpPr>
              <p:cNvPr id="50" name="平行四边形 49">
                <a:extLst>
                  <a:ext uri="{FF2B5EF4-FFF2-40B4-BE49-F238E27FC236}">
                    <a16:creationId xmlns:a16="http://schemas.microsoft.com/office/drawing/2014/main" id="{D4E0D57B-9550-4053-AA89-4B296D4AEB8A}"/>
                  </a:ext>
                </a:extLst>
              </p:cNvPr>
              <p:cNvSpPr/>
              <p:nvPr/>
            </p:nvSpPr>
            <p:spPr>
              <a:xfrm>
                <a:off x="3682638" y="2373304"/>
                <a:ext cx="926380" cy="1678647"/>
              </a:xfrm>
              <a:prstGeom prst="parallelogram">
                <a:avLst>
                  <a:gd name="adj" fmla="val 49473"/>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600" b="1" dirty="0">
                  <a:latin typeface="思源黑体 CN Normal" panose="020B0400000000000000" pitchFamily="34" charset="-122"/>
                  <a:ea typeface="思源黑体 CN Normal" panose="020B0400000000000000" pitchFamily="34" charset="-122"/>
                  <a:cs typeface="+mn-ea"/>
                  <a:sym typeface="+mn-lt"/>
                </a:endParaRPr>
              </a:p>
            </p:txBody>
          </p:sp>
          <p:sp>
            <p:nvSpPr>
              <p:cNvPr id="24" name="平行四边形 23">
                <a:extLst>
                  <a:ext uri="{FF2B5EF4-FFF2-40B4-BE49-F238E27FC236}">
                    <a16:creationId xmlns:a16="http://schemas.microsoft.com/office/drawing/2014/main" id="{FAEE11E3-9820-4292-96F5-6082DE13A318}"/>
                  </a:ext>
                </a:extLst>
              </p:cNvPr>
              <p:cNvSpPr/>
              <p:nvPr/>
            </p:nvSpPr>
            <p:spPr>
              <a:xfrm>
                <a:off x="3527985" y="2594785"/>
                <a:ext cx="1235687" cy="1235687"/>
              </a:xfrm>
              <a:prstGeom prst="parallelogram">
                <a:avLst/>
              </a:prstGeom>
              <a:solidFill>
                <a:srgbClr val="1973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bg1"/>
                    </a:solidFill>
                    <a:latin typeface="思源黑体 CN Normal" panose="020B0400000000000000" pitchFamily="34" charset="-122"/>
                    <a:ea typeface="思源黑体 CN Normal" panose="020B0400000000000000" pitchFamily="34" charset="-122"/>
                    <a:cs typeface="+mn-ea"/>
                    <a:sym typeface="+mn-lt"/>
                  </a:rPr>
                  <a:t>3</a:t>
                </a:r>
                <a:endParaRPr lang="zh-CN" altLang="en-US" sz="6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2" name="组合 1">
              <a:extLst>
                <a:ext uri="{FF2B5EF4-FFF2-40B4-BE49-F238E27FC236}">
                  <a16:creationId xmlns:a16="http://schemas.microsoft.com/office/drawing/2014/main" id="{A34F1E8E-A02E-421C-B4B4-6F5369173DC5}"/>
                </a:ext>
              </a:extLst>
            </p:cNvPr>
            <p:cNvGrpSpPr/>
            <p:nvPr/>
          </p:nvGrpSpPr>
          <p:grpSpPr>
            <a:xfrm>
              <a:off x="4910703" y="2761076"/>
              <a:ext cx="5262979" cy="1038676"/>
              <a:chOff x="5026817" y="2634030"/>
              <a:chExt cx="5262979" cy="1038676"/>
            </a:xfrm>
          </p:grpSpPr>
          <p:sp>
            <p:nvSpPr>
              <p:cNvPr id="47" name="文本框 46">
                <a:extLst>
                  <a:ext uri="{FF2B5EF4-FFF2-40B4-BE49-F238E27FC236}">
                    <a16:creationId xmlns:a16="http://schemas.microsoft.com/office/drawing/2014/main" id="{348FC187-3B15-4427-92CA-90AC34055396}"/>
                  </a:ext>
                </a:extLst>
              </p:cNvPr>
              <p:cNvSpPr txBox="1"/>
              <p:nvPr/>
            </p:nvSpPr>
            <p:spPr>
              <a:xfrm>
                <a:off x="5026817" y="2634030"/>
                <a:ext cx="5262979" cy="769441"/>
              </a:xfrm>
              <a:prstGeom prst="rect">
                <a:avLst/>
              </a:prstGeom>
              <a:noFill/>
            </p:spPr>
            <p:txBody>
              <a:bodyPr wrap="none" rtlCol="0">
                <a:spAutoFit/>
              </a:bodyPr>
              <a:lstStyle/>
              <a:p>
                <a:r>
                  <a:rPr lang="zh-CN" altLang="en-US" sz="4400" dirty="0">
                    <a:solidFill>
                      <a:srgbClr val="1974A2"/>
                    </a:solidFill>
                    <a:latin typeface="思源黑体 CN Bold" panose="020B0800000000000000" pitchFamily="34" charset="-122"/>
                    <a:ea typeface="思源黑体 CN Bold" panose="020B0800000000000000" pitchFamily="34" charset="-122"/>
                    <a:cs typeface="+mn-ea"/>
                    <a:sym typeface="+mn-lt"/>
                  </a:rPr>
                  <a:t>个人成长与能力提升</a:t>
                </a:r>
              </a:p>
            </p:txBody>
          </p:sp>
          <p:sp>
            <p:nvSpPr>
              <p:cNvPr id="48" name="文本框 47">
                <a:extLst>
                  <a:ext uri="{FF2B5EF4-FFF2-40B4-BE49-F238E27FC236}">
                    <a16:creationId xmlns:a16="http://schemas.microsoft.com/office/drawing/2014/main" id="{7BC9B746-7F9C-4DF7-A800-440E7E3AB107}"/>
                  </a:ext>
                </a:extLst>
              </p:cNvPr>
              <p:cNvSpPr txBox="1"/>
              <p:nvPr/>
            </p:nvSpPr>
            <p:spPr>
              <a:xfrm>
                <a:off x="5026817" y="3364929"/>
                <a:ext cx="4869795" cy="307777"/>
              </a:xfrm>
              <a:prstGeom prst="rect">
                <a:avLst/>
              </a:prstGeom>
              <a:noFill/>
            </p:spPr>
            <p:txBody>
              <a:bodyPr wrap="none" rtlCol="0">
                <a:spAutoFit/>
              </a:bodyPr>
              <a:lstStyle/>
              <a:p>
                <a:r>
                  <a:rPr lang="en-US" altLang="zh-CN" sz="1400" i="1" dirty="0">
                    <a:solidFill>
                      <a:srgbClr val="7FCFED"/>
                    </a:solidFill>
                    <a:latin typeface="思源黑体 CN Normal" panose="020B0400000000000000" pitchFamily="34" charset="-122"/>
                    <a:ea typeface="思源黑体 CN Normal" panose="020B0400000000000000" pitchFamily="34" charset="-122"/>
                    <a:cs typeface="+mn-ea"/>
                    <a:sym typeface="+mn-lt"/>
                  </a:rPr>
                  <a:t>Personal Development and Competency Enhancement</a:t>
                </a:r>
              </a:p>
            </p:txBody>
          </p:sp>
        </p:grpSp>
        <p:cxnSp>
          <p:nvCxnSpPr>
            <p:cNvPr id="49" name="直接连接符 48">
              <a:extLst>
                <a:ext uri="{FF2B5EF4-FFF2-40B4-BE49-F238E27FC236}">
                  <a16:creationId xmlns:a16="http://schemas.microsoft.com/office/drawing/2014/main" id="{85041735-9025-40B3-AE7C-D0AA1B4CF003}"/>
                </a:ext>
              </a:extLst>
            </p:cNvPr>
            <p:cNvCxnSpPr>
              <a:cxnSpLocks/>
            </p:cNvCxnSpPr>
            <p:nvPr/>
          </p:nvCxnSpPr>
          <p:spPr>
            <a:xfrm flipH="1">
              <a:off x="4986000" y="3901351"/>
              <a:ext cx="29388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185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767ACBB-D7D1-4A41-B166-EAB5EE1A353A}"/>
              </a:ext>
            </a:extLst>
          </p:cNvPr>
          <p:cNvGrpSpPr/>
          <p:nvPr/>
        </p:nvGrpSpPr>
        <p:grpSpPr>
          <a:xfrm>
            <a:off x="1231908" y="2528574"/>
            <a:ext cx="10012028" cy="2225879"/>
            <a:chOff x="1231908" y="2528574"/>
            <a:chExt cx="10012028" cy="2225879"/>
          </a:xfrm>
        </p:grpSpPr>
        <p:sp>
          <p:nvSpPr>
            <p:cNvPr id="8" name="矩形 7">
              <a:extLst>
                <a:ext uri="{FF2B5EF4-FFF2-40B4-BE49-F238E27FC236}">
                  <a16:creationId xmlns:a16="http://schemas.microsoft.com/office/drawing/2014/main" id="{8C5955DC-E8BF-4656-B857-9ED2C471DBBC}"/>
                </a:ext>
              </a:extLst>
            </p:cNvPr>
            <p:cNvSpPr/>
            <p:nvPr/>
          </p:nvSpPr>
          <p:spPr>
            <a:xfrm>
              <a:off x="2149094" y="2664189"/>
              <a:ext cx="3609824" cy="400751"/>
            </a:xfrm>
            <a:prstGeom prst="rect">
              <a:avLst/>
            </a:prstGeom>
          </p:spPr>
          <p:txBody>
            <a:bodyPr wrap="square">
              <a:spAutoFit/>
            </a:bodyPr>
            <a:lstStyle/>
            <a:p>
              <a:pPr>
                <a:lnSpc>
                  <a:spcPct val="138242"/>
                </a:lnSpc>
              </a:pPr>
              <a:r>
                <a:rPr lang="zh-CN" altLang="en-US" sz="1600" dirty="0"/>
                <a:t>团队协作能力和组织能力</a:t>
              </a:r>
              <a:endPar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sp>
          <p:nvSpPr>
            <p:cNvPr id="10" name="矩形 9">
              <a:extLst>
                <a:ext uri="{FF2B5EF4-FFF2-40B4-BE49-F238E27FC236}">
                  <a16:creationId xmlns:a16="http://schemas.microsoft.com/office/drawing/2014/main" id="{BEFB0A52-B507-4771-A5C0-9CCA023BE167}"/>
                </a:ext>
              </a:extLst>
            </p:cNvPr>
            <p:cNvSpPr/>
            <p:nvPr/>
          </p:nvSpPr>
          <p:spPr>
            <a:xfrm>
              <a:off x="2121802" y="4141076"/>
              <a:ext cx="3609824" cy="400751"/>
            </a:xfrm>
            <a:prstGeom prst="rect">
              <a:avLst/>
            </a:prstGeom>
          </p:spPr>
          <p:txBody>
            <a:bodyPr wrap="square">
              <a:spAutoFit/>
            </a:bodyPr>
            <a:lstStyle/>
            <a:p>
              <a:pPr>
                <a:lnSpc>
                  <a:spcPct val="138242"/>
                </a:lnSpc>
              </a:pPr>
              <a:r>
                <a:rPr lang="zh-CN" altLang="en-US" sz="1600" kern="100" dirty="0">
                  <a:effectLst/>
                  <a:ea typeface="微软雅黑" panose="020B0503020204020204" pitchFamily="34" charset="-122"/>
                  <a:cs typeface="微软雅黑" panose="020B0503020204020204" pitchFamily="34" charset="-122"/>
                </a:rPr>
                <a:t>社会责任感的提升</a:t>
              </a:r>
              <a:endParaRPr lang="zh-CN" altLang="en-US" sz="1400"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sp>
          <p:nvSpPr>
            <p:cNvPr id="12" name="矩形 11">
              <a:extLst>
                <a:ext uri="{FF2B5EF4-FFF2-40B4-BE49-F238E27FC236}">
                  <a16:creationId xmlns:a16="http://schemas.microsoft.com/office/drawing/2014/main" id="{81ADACD3-4086-46F9-B6FE-024924847611}"/>
                </a:ext>
              </a:extLst>
            </p:cNvPr>
            <p:cNvSpPr/>
            <p:nvPr/>
          </p:nvSpPr>
          <p:spPr>
            <a:xfrm>
              <a:off x="7676397" y="2668169"/>
              <a:ext cx="3567539" cy="396070"/>
            </a:xfrm>
            <a:prstGeom prst="rect">
              <a:avLst/>
            </a:prstGeom>
          </p:spPr>
          <p:txBody>
            <a:bodyPr wrap="square">
              <a:spAutoFit/>
            </a:bodyPr>
            <a:lstStyle/>
            <a:p>
              <a:pPr>
                <a:lnSpc>
                  <a:spcPct val="138242"/>
                </a:lnSpc>
              </a:pPr>
              <a:r>
                <a:rPr lang="zh-CN" altLang="zh-CN" sz="1600" kern="100" dirty="0">
                  <a:effectLst/>
                  <a:ea typeface="微软雅黑" panose="020B0503020204020204" pitchFamily="34" charset="-122"/>
                  <a:cs typeface="微软雅黑" panose="020B0503020204020204" pitchFamily="34" charset="-122"/>
                </a:rPr>
                <a:t>数据整理</a:t>
              </a:r>
              <a:r>
                <a:rPr lang="zh-CN" altLang="zh-CN" sz="1600" kern="100" dirty="0">
                  <a:effectLst/>
                  <a:ea typeface="___WRD_EMBED_SUB_44"/>
                  <a:cs typeface="___WRD_EMBED_SUB_44"/>
                </a:rPr>
                <a:t>和</a:t>
              </a:r>
              <a:r>
                <a:rPr lang="zh-CN" altLang="zh-CN" sz="1600" kern="100" dirty="0">
                  <a:effectLst/>
                  <a:ea typeface="微软雅黑" panose="020B0503020204020204" pitchFamily="34" charset="-122"/>
                  <a:cs typeface="微软雅黑" panose="020B0503020204020204" pitchFamily="34" charset="-122"/>
                </a:rPr>
                <a:t>调研报告撰</a:t>
              </a:r>
              <a:r>
                <a:rPr lang="zh-CN" altLang="zh-CN" sz="1600" kern="100" dirty="0">
                  <a:effectLst/>
                  <a:ea typeface="___WRD_EMBED_SUB_44"/>
                  <a:cs typeface="___WRD_EMBED_SUB_44"/>
                </a:rPr>
                <a:t>写</a:t>
              </a:r>
              <a:endParaRPr lang="zh-CN" altLang="en-US" sz="1400"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sp>
          <p:nvSpPr>
            <p:cNvPr id="14" name="矩形 13">
              <a:extLst>
                <a:ext uri="{FF2B5EF4-FFF2-40B4-BE49-F238E27FC236}">
                  <a16:creationId xmlns:a16="http://schemas.microsoft.com/office/drawing/2014/main" id="{734E62A0-C7E0-4BFF-BD61-2C05606B0299}"/>
                </a:ext>
              </a:extLst>
            </p:cNvPr>
            <p:cNvSpPr/>
            <p:nvPr/>
          </p:nvSpPr>
          <p:spPr>
            <a:xfrm>
              <a:off x="7676396" y="4141076"/>
              <a:ext cx="3567539" cy="400751"/>
            </a:xfrm>
            <a:prstGeom prst="rect">
              <a:avLst/>
            </a:prstGeom>
          </p:spPr>
          <p:txBody>
            <a:bodyPr wrap="square">
              <a:spAutoFit/>
            </a:bodyPr>
            <a:lstStyle/>
            <a:p>
              <a:pPr>
                <a:lnSpc>
                  <a:spcPct val="138242"/>
                </a:lnSpc>
              </a:pPr>
              <a:r>
                <a:rPr lang="zh-CN" altLang="en-US" sz="1600" dirty="0"/>
                <a:t>沟通与表达能力</a:t>
              </a:r>
              <a:endParaRPr lang="zh-CN" altLang="en-US" sz="1600" dirty="0">
                <a:solidFill>
                  <a:schemeClr val="tx1">
                    <a:lumMod val="85000"/>
                    <a:lumOff val="15000"/>
                  </a:schemeClr>
                </a:solidFill>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cxnSp>
          <p:nvCxnSpPr>
            <p:cNvPr id="42" name="直接连接符 41">
              <a:extLst>
                <a:ext uri="{FF2B5EF4-FFF2-40B4-BE49-F238E27FC236}">
                  <a16:creationId xmlns:a16="http://schemas.microsoft.com/office/drawing/2014/main" id="{99FAD0EC-96D1-4F36-BB08-39EBF9592734}"/>
                </a:ext>
              </a:extLst>
            </p:cNvPr>
            <p:cNvCxnSpPr>
              <a:cxnSpLocks/>
            </p:cNvCxnSpPr>
            <p:nvPr/>
          </p:nvCxnSpPr>
          <p:spPr>
            <a:xfrm>
              <a:off x="6081486" y="3101907"/>
              <a:ext cx="0" cy="1132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76847A82-308B-4438-AD1E-5302E19F4900}"/>
                </a:ext>
              </a:extLst>
            </p:cNvPr>
            <p:cNvSpPr/>
            <p:nvPr/>
          </p:nvSpPr>
          <p:spPr>
            <a:xfrm>
              <a:off x="1231908" y="2528574"/>
              <a:ext cx="763833" cy="763833"/>
            </a:xfrm>
            <a:prstGeom prst="ellipse">
              <a:avLst/>
            </a:prstGeom>
            <a:solidFill>
              <a:srgbClr val="1973A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38242"/>
                </a:lnSpc>
              </a:pPr>
              <a:endParaRPr lang="zh-CN" altLang="en-US" sz="3200" b="1" dirty="0">
                <a:solidFill>
                  <a:schemeClr val="bg1"/>
                </a:solidFill>
                <a:effectLst/>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3" name="矩形 42">
              <a:extLst>
                <a:ext uri="{FF2B5EF4-FFF2-40B4-BE49-F238E27FC236}">
                  <a16:creationId xmlns:a16="http://schemas.microsoft.com/office/drawing/2014/main" id="{A70F7ACE-621C-4195-8FA5-1D4979988812}"/>
                </a:ext>
              </a:extLst>
            </p:cNvPr>
            <p:cNvSpPr/>
            <p:nvPr/>
          </p:nvSpPr>
          <p:spPr>
            <a:xfrm>
              <a:off x="1385261" y="2608638"/>
              <a:ext cx="457127" cy="636002"/>
            </a:xfrm>
            <a:prstGeom prst="rect">
              <a:avLst/>
            </a:prstGeom>
          </p:spPr>
          <p:txBody>
            <a:bodyPr wrap="none">
              <a:spAutoFit/>
            </a:bodyPr>
            <a:lstStyle/>
            <a:p>
              <a:r>
                <a:rPr lang="en-US" altLang="zh-CN" sz="32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1</a:t>
              </a:r>
              <a:endParaRPr lang="zh-CN" altLang="en-US" sz="3200" dirty="0"/>
            </a:p>
          </p:txBody>
        </p:sp>
        <p:sp>
          <p:nvSpPr>
            <p:cNvPr id="45" name="椭圆 44">
              <a:extLst>
                <a:ext uri="{FF2B5EF4-FFF2-40B4-BE49-F238E27FC236}">
                  <a16:creationId xmlns:a16="http://schemas.microsoft.com/office/drawing/2014/main" id="{941B6663-8FC2-4600-B116-5BC8E4D269F1}"/>
                </a:ext>
              </a:extLst>
            </p:cNvPr>
            <p:cNvSpPr/>
            <p:nvPr/>
          </p:nvSpPr>
          <p:spPr>
            <a:xfrm>
              <a:off x="1231908" y="3990620"/>
              <a:ext cx="763833" cy="763833"/>
            </a:xfrm>
            <a:prstGeom prst="ellipse">
              <a:avLst/>
            </a:prstGeom>
            <a:solidFill>
              <a:srgbClr val="7FCFE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38242"/>
                </a:lnSpc>
              </a:pPr>
              <a:endParaRPr lang="zh-CN" altLang="en-US" sz="3200" b="1" dirty="0">
                <a:solidFill>
                  <a:schemeClr val="bg1"/>
                </a:solidFill>
                <a:effectLst/>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6" name="矩形 45">
              <a:extLst>
                <a:ext uri="{FF2B5EF4-FFF2-40B4-BE49-F238E27FC236}">
                  <a16:creationId xmlns:a16="http://schemas.microsoft.com/office/drawing/2014/main" id="{2C7B6FA9-4F3E-4297-81D4-87A60AA90516}"/>
                </a:ext>
              </a:extLst>
            </p:cNvPr>
            <p:cNvSpPr/>
            <p:nvPr/>
          </p:nvSpPr>
          <p:spPr>
            <a:xfrm>
              <a:off x="1385261" y="4070684"/>
              <a:ext cx="420308" cy="584775"/>
            </a:xfrm>
            <a:prstGeom prst="rect">
              <a:avLst/>
            </a:prstGeom>
          </p:spPr>
          <p:txBody>
            <a:bodyPr wrap="none">
              <a:spAutoFit/>
            </a:bodyPr>
            <a:lstStyle/>
            <a:p>
              <a:r>
                <a:rPr lang="en-US" altLang="zh-CN" sz="32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2</a:t>
              </a:r>
              <a:endParaRPr lang="zh-CN" altLang="en-US" sz="3200" dirty="0"/>
            </a:p>
          </p:txBody>
        </p:sp>
        <p:sp>
          <p:nvSpPr>
            <p:cNvPr id="48" name="椭圆 47">
              <a:extLst>
                <a:ext uri="{FF2B5EF4-FFF2-40B4-BE49-F238E27FC236}">
                  <a16:creationId xmlns:a16="http://schemas.microsoft.com/office/drawing/2014/main" id="{0178FF68-3ADF-4C4C-8B3E-0323B027D790}"/>
                </a:ext>
              </a:extLst>
            </p:cNvPr>
            <p:cNvSpPr/>
            <p:nvPr/>
          </p:nvSpPr>
          <p:spPr>
            <a:xfrm>
              <a:off x="6759211" y="2528574"/>
              <a:ext cx="763833" cy="763833"/>
            </a:xfrm>
            <a:prstGeom prst="ellipse">
              <a:avLst/>
            </a:prstGeom>
            <a:solidFill>
              <a:srgbClr val="7FCFE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38242"/>
                </a:lnSpc>
              </a:pPr>
              <a:endParaRPr lang="zh-CN" altLang="en-US" sz="3200" b="1" dirty="0">
                <a:solidFill>
                  <a:schemeClr val="bg1"/>
                </a:solidFill>
                <a:effectLst/>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49" name="矩形 48">
              <a:extLst>
                <a:ext uri="{FF2B5EF4-FFF2-40B4-BE49-F238E27FC236}">
                  <a16:creationId xmlns:a16="http://schemas.microsoft.com/office/drawing/2014/main" id="{A2FB4147-DBD2-469E-AD3D-7463BE346124}"/>
                </a:ext>
              </a:extLst>
            </p:cNvPr>
            <p:cNvSpPr/>
            <p:nvPr/>
          </p:nvSpPr>
          <p:spPr>
            <a:xfrm>
              <a:off x="6912564" y="2608638"/>
              <a:ext cx="420308" cy="584775"/>
            </a:xfrm>
            <a:prstGeom prst="rect">
              <a:avLst/>
            </a:prstGeom>
          </p:spPr>
          <p:txBody>
            <a:bodyPr wrap="none">
              <a:spAutoFit/>
            </a:bodyPr>
            <a:lstStyle/>
            <a:p>
              <a:r>
                <a:rPr lang="en-US" altLang="zh-CN" sz="32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3</a:t>
              </a:r>
              <a:endParaRPr lang="zh-CN" altLang="en-US" sz="3200" dirty="0"/>
            </a:p>
          </p:txBody>
        </p:sp>
        <p:sp>
          <p:nvSpPr>
            <p:cNvPr id="51" name="椭圆 50">
              <a:extLst>
                <a:ext uri="{FF2B5EF4-FFF2-40B4-BE49-F238E27FC236}">
                  <a16:creationId xmlns:a16="http://schemas.microsoft.com/office/drawing/2014/main" id="{1A17AB41-29F3-48F0-A0FE-3B73E95A41E9}"/>
                </a:ext>
              </a:extLst>
            </p:cNvPr>
            <p:cNvSpPr/>
            <p:nvPr/>
          </p:nvSpPr>
          <p:spPr>
            <a:xfrm>
              <a:off x="6759211" y="3990620"/>
              <a:ext cx="763833" cy="763833"/>
            </a:xfrm>
            <a:prstGeom prst="ellipse">
              <a:avLst/>
            </a:prstGeom>
            <a:solidFill>
              <a:srgbClr val="1973A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38242"/>
                </a:lnSpc>
              </a:pPr>
              <a:endParaRPr lang="zh-CN" altLang="en-US" sz="3200" b="1" dirty="0">
                <a:solidFill>
                  <a:schemeClr val="bg1"/>
                </a:solidFill>
                <a:effectLst/>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endParaRPr>
            </a:p>
          </p:txBody>
        </p:sp>
        <p:sp>
          <p:nvSpPr>
            <p:cNvPr id="52" name="矩形 51">
              <a:extLst>
                <a:ext uri="{FF2B5EF4-FFF2-40B4-BE49-F238E27FC236}">
                  <a16:creationId xmlns:a16="http://schemas.microsoft.com/office/drawing/2014/main" id="{9F416BC9-DB69-4048-BA5A-EA46DFFDA422}"/>
                </a:ext>
              </a:extLst>
            </p:cNvPr>
            <p:cNvSpPr/>
            <p:nvPr/>
          </p:nvSpPr>
          <p:spPr>
            <a:xfrm>
              <a:off x="6912564" y="4070684"/>
              <a:ext cx="420308" cy="584775"/>
            </a:xfrm>
            <a:prstGeom prst="rect">
              <a:avLst/>
            </a:prstGeom>
          </p:spPr>
          <p:txBody>
            <a:bodyPr wrap="none">
              <a:spAutoFit/>
            </a:bodyPr>
            <a:lstStyle/>
            <a:p>
              <a:r>
                <a:rPr lang="en-US" altLang="zh-CN" sz="3200" b="1" dirty="0">
                  <a:solidFill>
                    <a:schemeClr val="bg1"/>
                  </a:solidFill>
                  <a:latin typeface="思源黑体 CN Normal" panose="020B0400000000000000" pitchFamily="34" charset="-122"/>
                  <a:ea typeface="思源黑体 CN Normal" panose="020B0400000000000000" pitchFamily="34" charset="-122"/>
                  <a:cs typeface="+mn-ea"/>
                  <a:sym typeface="思源黑体 CN Normal" panose="020B0400000000000000" pitchFamily="34" charset="-122"/>
                </a:rPr>
                <a:t>4</a:t>
              </a:r>
              <a:endParaRPr lang="zh-CN" altLang="en-US" sz="3200" dirty="0"/>
            </a:p>
          </p:txBody>
        </p:sp>
      </p:grpSp>
      <p:grpSp>
        <p:nvGrpSpPr>
          <p:cNvPr id="24" name="组合 23">
            <a:extLst>
              <a:ext uri="{FF2B5EF4-FFF2-40B4-BE49-F238E27FC236}">
                <a16:creationId xmlns:a16="http://schemas.microsoft.com/office/drawing/2014/main" id="{072DCBCA-F172-415B-AB3C-B4E9FE54DAFC}"/>
              </a:ext>
            </a:extLst>
          </p:cNvPr>
          <p:cNvGrpSpPr/>
          <p:nvPr/>
        </p:nvGrpSpPr>
        <p:grpSpPr>
          <a:xfrm>
            <a:off x="3363290" y="809380"/>
            <a:ext cx="5536965" cy="1333118"/>
            <a:chOff x="4117906" y="1083141"/>
            <a:chExt cx="5536965" cy="1333118"/>
          </a:xfrm>
        </p:grpSpPr>
        <p:sp>
          <p:nvSpPr>
            <p:cNvPr id="25" name="文本框 24">
              <a:extLst>
                <a:ext uri="{FF2B5EF4-FFF2-40B4-BE49-F238E27FC236}">
                  <a16:creationId xmlns:a16="http://schemas.microsoft.com/office/drawing/2014/main" id="{8DAEFDD7-DE05-45B6-85BB-278589B6B704}"/>
                </a:ext>
              </a:extLst>
            </p:cNvPr>
            <p:cNvSpPr txBox="1"/>
            <p:nvPr/>
          </p:nvSpPr>
          <p:spPr>
            <a:xfrm>
              <a:off x="4117906" y="1793283"/>
              <a:ext cx="5536965" cy="338554"/>
            </a:xfrm>
            <a:prstGeom prst="rect">
              <a:avLst/>
            </a:prstGeom>
            <a:noFill/>
          </p:spPr>
          <p:txBody>
            <a:bodyPr wrap="none" rtlCol="0">
              <a:spAutoFit/>
            </a:bodyPr>
            <a:lstStyle/>
            <a:p>
              <a:r>
                <a:rPr lang="en-US" altLang="zh-CN" sz="1600" i="1" dirty="0">
                  <a:solidFill>
                    <a:srgbClr val="7FCFED"/>
                  </a:solidFill>
                  <a:latin typeface="思源黑体 CN Normal" panose="020B0400000000000000" pitchFamily="34" charset="-122"/>
                  <a:ea typeface="思源黑体 CN Normal" panose="020B0400000000000000" pitchFamily="34" charset="-122"/>
                  <a:cs typeface="+mn-ea"/>
                  <a:sym typeface="+mn-lt"/>
                </a:rPr>
                <a:t>Personal Development and Competency Enhancement</a:t>
              </a:r>
            </a:p>
          </p:txBody>
        </p:sp>
        <p:sp>
          <p:nvSpPr>
            <p:cNvPr id="26" name="文本框 25">
              <a:extLst>
                <a:ext uri="{FF2B5EF4-FFF2-40B4-BE49-F238E27FC236}">
                  <a16:creationId xmlns:a16="http://schemas.microsoft.com/office/drawing/2014/main" id="{3FE16630-C13E-42D5-8163-F304BAAB4E4A}"/>
                </a:ext>
              </a:extLst>
            </p:cNvPr>
            <p:cNvSpPr txBox="1"/>
            <p:nvPr/>
          </p:nvSpPr>
          <p:spPr>
            <a:xfrm>
              <a:off x="4485534" y="1083141"/>
              <a:ext cx="4801314" cy="707886"/>
            </a:xfrm>
            <a:prstGeom prst="rect">
              <a:avLst/>
            </a:prstGeom>
            <a:noFill/>
          </p:spPr>
          <p:txBody>
            <a:bodyPr wrap="none" rtlCol="0">
              <a:spAutoFit/>
            </a:bodyPr>
            <a:lstStyle/>
            <a:p>
              <a:r>
                <a:rPr lang="zh-CN" altLang="en-US" sz="4000" dirty="0">
                  <a:solidFill>
                    <a:srgbClr val="1974A2"/>
                  </a:solidFill>
                  <a:latin typeface="思源黑体 CN Bold" panose="020B0800000000000000" pitchFamily="34" charset="-122"/>
                  <a:ea typeface="思源黑体 CN Bold" panose="020B0800000000000000" pitchFamily="34" charset="-122"/>
                  <a:cs typeface="+mn-ea"/>
                  <a:sym typeface="+mn-lt"/>
                </a:rPr>
                <a:t>个人成长与能力提升</a:t>
              </a:r>
            </a:p>
          </p:txBody>
        </p:sp>
        <p:sp>
          <p:nvSpPr>
            <p:cNvPr id="27" name="矩形: 圆角 26">
              <a:extLst>
                <a:ext uri="{FF2B5EF4-FFF2-40B4-BE49-F238E27FC236}">
                  <a16:creationId xmlns:a16="http://schemas.microsoft.com/office/drawing/2014/main" id="{1AE86421-9B2C-4E53-AC2C-992E8612F24E}"/>
                </a:ext>
              </a:extLst>
            </p:cNvPr>
            <p:cNvSpPr/>
            <p:nvPr/>
          </p:nvSpPr>
          <p:spPr>
            <a:xfrm>
              <a:off x="6535329" y="2320639"/>
              <a:ext cx="601547" cy="9562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8242"/>
                </a:lnSpc>
              </a:pPr>
              <a:endParaRPr lang="zh-CN" altLang="en-US">
                <a:latin typeface="思源黑体 CN Normal" panose="020B0400000000000000" pitchFamily="34" charset="-122"/>
                <a:ea typeface="思源黑体 CN Normal" panose="020B0400000000000000" pitchFamily="34" charset="-122"/>
                <a:sym typeface="思源黑体 CN Normal" panose="020B0400000000000000" pitchFamily="34" charset="-122"/>
              </a:endParaRPr>
            </a:p>
          </p:txBody>
        </p:sp>
      </p:gr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89086" y="306729"/>
            <a:ext cx="798118" cy="798118"/>
          </a:xfrm>
          <a:prstGeom prst="rect">
            <a:avLst/>
          </a:prstGeom>
        </p:spPr>
      </p:pic>
    </p:spTree>
    <p:extLst>
      <p:ext uri="{BB962C8B-B14F-4D97-AF65-F5344CB8AC3E}">
        <p14:creationId xmlns:p14="http://schemas.microsoft.com/office/powerpoint/2010/main" val="42190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80375C1B-8348-4DDB-985D-9CBF7D17AB84}"/>
              </a:ext>
            </a:extLst>
          </p:cNvPr>
          <p:cNvGrpSpPr/>
          <p:nvPr/>
        </p:nvGrpSpPr>
        <p:grpSpPr>
          <a:xfrm>
            <a:off x="6481134" y="4698473"/>
            <a:ext cx="2180056" cy="701065"/>
            <a:chOff x="6481134" y="4698473"/>
            <a:chExt cx="2180056" cy="701065"/>
          </a:xfrm>
        </p:grpSpPr>
        <p:sp>
          <p:nvSpPr>
            <p:cNvPr id="56" name="矩形: 圆角 55">
              <a:extLst>
                <a:ext uri="{FF2B5EF4-FFF2-40B4-BE49-F238E27FC236}">
                  <a16:creationId xmlns:a16="http://schemas.microsoft.com/office/drawing/2014/main" id="{B3225739-834F-43FE-97C2-337308943EF4}"/>
                </a:ext>
              </a:extLst>
            </p:cNvPr>
            <p:cNvSpPr/>
            <p:nvPr/>
          </p:nvSpPr>
          <p:spPr>
            <a:xfrm>
              <a:off x="6481134" y="4774673"/>
              <a:ext cx="111127" cy="43935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F4F4D363-640E-4CAE-AA45-E5C890745AF0}"/>
                </a:ext>
              </a:extLst>
            </p:cNvPr>
            <p:cNvSpPr/>
            <p:nvPr/>
          </p:nvSpPr>
          <p:spPr>
            <a:xfrm>
              <a:off x="6681161" y="4698473"/>
              <a:ext cx="1980029" cy="400110"/>
            </a:xfrm>
            <a:prstGeom prst="rect">
              <a:avLst/>
            </a:prstGeom>
          </p:spPr>
          <p:txBody>
            <a:bodyPr wrap="none">
              <a:spAutoFit/>
            </a:bodyPr>
            <a:lstStyle/>
            <a:p>
              <a:r>
                <a:rPr lang="zh-CN" altLang="en-US" sz="2000" b="1" dirty="0">
                  <a:solidFill>
                    <a:srgbClr val="1974A2"/>
                  </a:solidFill>
                  <a:latin typeface="思源黑体 CN Bold" panose="020B0800000000000000" pitchFamily="34" charset="-122"/>
                  <a:ea typeface="思源黑体 CN Bold" panose="020B0800000000000000" pitchFamily="34" charset="-122"/>
                </a:rPr>
                <a:t>答辩人：李盛鹏</a:t>
              </a:r>
            </a:p>
          </p:txBody>
        </p:sp>
        <p:sp>
          <p:nvSpPr>
            <p:cNvPr id="58" name="矩形 57">
              <a:extLst>
                <a:ext uri="{FF2B5EF4-FFF2-40B4-BE49-F238E27FC236}">
                  <a16:creationId xmlns:a16="http://schemas.microsoft.com/office/drawing/2014/main" id="{F76D5065-54BB-470F-BDF0-7534733F7118}"/>
                </a:ext>
              </a:extLst>
            </p:cNvPr>
            <p:cNvSpPr/>
            <p:nvPr/>
          </p:nvSpPr>
          <p:spPr>
            <a:xfrm>
              <a:off x="6639009" y="5060984"/>
              <a:ext cx="1328569" cy="338554"/>
            </a:xfrm>
            <a:prstGeom prst="rect">
              <a:avLst/>
            </a:prstGeom>
          </p:spPr>
          <p:txBody>
            <a:bodyPr wrap="none">
              <a:spAutoFit/>
            </a:bodyPr>
            <a:lstStyle/>
            <a:p>
              <a:pPr algn="ctr"/>
              <a:r>
                <a:rPr lang="en-US" altLang="zh-CN" sz="1600" i="1" dirty="0">
                  <a:solidFill>
                    <a:srgbClr val="7FCFED">
                      <a:alpha val="80000"/>
                    </a:srgbClr>
                  </a:solidFill>
                  <a:latin typeface="思源黑体 CN Normal" panose="020B0400000000000000" pitchFamily="34" charset="-122"/>
                  <a:ea typeface="思源黑体 CN Normal" panose="020B0400000000000000" pitchFamily="34" charset="-122"/>
                </a:rPr>
                <a:t>Respondent</a:t>
              </a:r>
              <a:endParaRPr lang="zh-CN" altLang="en-US" sz="1600" i="1" dirty="0">
                <a:solidFill>
                  <a:srgbClr val="7FCFED">
                    <a:alpha val="80000"/>
                  </a:srgbClr>
                </a:solidFill>
                <a:latin typeface="思源黑体 CN Normal" panose="020B0400000000000000" pitchFamily="34" charset="-122"/>
                <a:ea typeface="思源黑体 CN Normal" panose="020B0400000000000000" pitchFamily="34" charset="-122"/>
              </a:endParaRPr>
            </a:p>
          </p:txBody>
        </p:sp>
      </p:grpSp>
      <p:grpSp>
        <p:nvGrpSpPr>
          <p:cNvPr id="4" name="组合 3">
            <a:extLst>
              <a:ext uri="{FF2B5EF4-FFF2-40B4-BE49-F238E27FC236}">
                <a16:creationId xmlns:a16="http://schemas.microsoft.com/office/drawing/2014/main" id="{BC95A43A-F8B5-4D40-8717-1F13DAFE2192}"/>
              </a:ext>
            </a:extLst>
          </p:cNvPr>
          <p:cNvGrpSpPr/>
          <p:nvPr/>
        </p:nvGrpSpPr>
        <p:grpSpPr>
          <a:xfrm>
            <a:off x="3780174" y="1536834"/>
            <a:ext cx="5910691" cy="2581238"/>
            <a:chOff x="3780174" y="1536834"/>
            <a:chExt cx="5910691" cy="2581238"/>
          </a:xfrm>
        </p:grpSpPr>
        <p:sp>
          <p:nvSpPr>
            <p:cNvPr id="34" name="矩形 33">
              <a:extLst>
                <a:ext uri="{FF2B5EF4-FFF2-40B4-BE49-F238E27FC236}">
                  <a16:creationId xmlns:a16="http://schemas.microsoft.com/office/drawing/2014/main" id="{1DD06F86-4458-4DED-991B-46E94D9B2680}"/>
                </a:ext>
              </a:extLst>
            </p:cNvPr>
            <p:cNvSpPr/>
            <p:nvPr/>
          </p:nvSpPr>
          <p:spPr>
            <a:xfrm>
              <a:off x="3828363" y="3287075"/>
              <a:ext cx="5862502" cy="830997"/>
            </a:xfrm>
            <a:prstGeom prst="rect">
              <a:avLst/>
            </a:prstGeom>
          </p:spPr>
          <p:txBody>
            <a:bodyPr wrap="none">
              <a:spAutoFit/>
            </a:bodyPr>
            <a:lstStyle/>
            <a:p>
              <a:r>
                <a:rPr lang="zh-CN" altLang="en-US" sz="4800" b="1" dirty="0">
                  <a:solidFill>
                    <a:srgbClr val="1974A2"/>
                  </a:solidFill>
                  <a:latin typeface="思源黑体 CN Bold" panose="020B0800000000000000" pitchFamily="34" charset="-122"/>
                  <a:ea typeface="思源黑体 CN Bold" panose="020B0800000000000000" pitchFamily="34" charset="-122"/>
                </a:rPr>
                <a:t>请各位老师批评指正</a:t>
              </a:r>
            </a:p>
          </p:txBody>
        </p:sp>
        <p:grpSp>
          <p:nvGrpSpPr>
            <p:cNvPr id="3" name="组合 2">
              <a:extLst>
                <a:ext uri="{FF2B5EF4-FFF2-40B4-BE49-F238E27FC236}">
                  <a16:creationId xmlns:a16="http://schemas.microsoft.com/office/drawing/2014/main" id="{0670CA41-C892-4389-A887-C8EF69F3FB09}"/>
                </a:ext>
              </a:extLst>
            </p:cNvPr>
            <p:cNvGrpSpPr/>
            <p:nvPr/>
          </p:nvGrpSpPr>
          <p:grpSpPr>
            <a:xfrm>
              <a:off x="3780174" y="1536834"/>
              <a:ext cx="4631653" cy="1652700"/>
              <a:chOff x="3780174" y="1536834"/>
              <a:chExt cx="4631653" cy="1652700"/>
            </a:xfrm>
          </p:grpSpPr>
          <p:sp>
            <p:nvSpPr>
              <p:cNvPr id="35" name="矩形 34">
                <a:extLst>
                  <a:ext uri="{FF2B5EF4-FFF2-40B4-BE49-F238E27FC236}">
                    <a16:creationId xmlns:a16="http://schemas.microsoft.com/office/drawing/2014/main" id="{98A78281-952D-41F8-906A-5A851FCE6BE7}"/>
                  </a:ext>
                </a:extLst>
              </p:cNvPr>
              <p:cNvSpPr/>
              <p:nvPr/>
            </p:nvSpPr>
            <p:spPr>
              <a:xfrm>
                <a:off x="3780174" y="1989205"/>
                <a:ext cx="4631653" cy="1200329"/>
              </a:xfrm>
              <a:prstGeom prst="rect">
                <a:avLst/>
              </a:prstGeom>
            </p:spPr>
            <p:txBody>
              <a:bodyPr wrap="none">
                <a:spAutoFit/>
              </a:bodyPr>
              <a:lstStyle/>
              <a:p>
                <a:r>
                  <a:rPr lang="en-US" altLang="zh-CN" sz="7200" b="1" dirty="0">
                    <a:solidFill>
                      <a:srgbClr val="1974A2"/>
                    </a:solidFill>
                    <a:latin typeface="思源黑体 CN Bold" panose="020B0800000000000000" pitchFamily="34" charset="-122"/>
                    <a:ea typeface="思源黑体 CN Bold" panose="020B0800000000000000" pitchFamily="34" charset="-122"/>
                  </a:rPr>
                  <a:t>T</a:t>
                </a:r>
                <a:r>
                  <a:rPr lang="en-US" altLang="zh-CN" sz="6000" b="1" dirty="0">
                    <a:solidFill>
                      <a:srgbClr val="1974A2"/>
                    </a:solidFill>
                    <a:latin typeface="思源黑体 CN Bold" panose="020B0800000000000000" pitchFamily="34" charset="-122"/>
                    <a:ea typeface="思源黑体 CN Bold" panose="020B0800000000000000" pitchFamily="34" charset="-122"/>
                  </a:rPr>
                  <a:t>hanks you</a:t>
                </a:r>
                <a:endParaRPr lang="zh-CN" altLang="en-US" sz="6000" b="1" dirty="0">
                  <a:solidFill>
                    <a:srgbClr val="1974A2"/>
                  </a:solidFill>
                  <a:latin typeface="思源黑体 CN Bold" panose="020B0800000000000000" pitchFamily="34" charset="-122"/>
                  <a:ea typeface="思源黑体 CN Bold" panose="020B0800000000000000" pitchFamily="34" charset="-122"/>
                </a:endParaRPr>
              </a:p>
            </p:txBody>
          </p:sp>
          <p:grpSp>
            <p:nvGrpSpPr>
              <p:cNvPr id="2" name="组合 1">
                <a:extLst>
                  <a:ext uri="{FF2B5EF4-FFF2-40B4-BE49-F238E27FC236}">
                    <a16:creationId xmlns:a16="http://schemas.microsoft.com/office/drawing/2014/main" id="{7FD56C18-0132-4D01-B021-7E587E54E9BA}"/>
                  </a:ext>
                </a:extLst>
              </p:cNvPr>
              <p:cNvGrpSpPr/>
              <p:nvPr/>
            </p:nvGrpSpPr>
            <p:grpSpPr>
              <a:xfrm>
                <a:off x="6131899" y="1536834"/>
                <a:ext cx="469010" cy="354830"/>
                <a:chOff x="5967956" y="1536834"/>
                <a:chExt cx="469010" cy="354830"/>
              </a:xfrm>
            </p:grpSpPr>
            <p:grpSp>
              <p:nvGrpSpPr>
                <p:cNvPr id="64" name="组合 63">
                  <a:extLst>
                    <a:ext uri="{FF2B5EF4-FFF2-40B4-BE49-F238E27FC236}">
                      <a16:creationId xmlns:a16="http://schemas.microsoft.com/office/drawing/2014/main" id="{E3DC4BB0-46B0-4170-B583-2D9BE6720223}"/>
                    </a:ext>
                  </a:extLst>
                </p:cNvPr>
                <p:cNvGrpSpPr/>
                <p:nvPr/>
              </p:nvGrpSpPr>
              <p:grpSpPr>
                <a:xfrm>
                  <a:off x="5967956" y="1536834"/>
                  <a:ext cx="387438" cy="354830"/>
                  <a:chOff x="4941356" y="961075"/>
                  <a:chExt cx="526684" cy="482356"/>
                </a:xfrm>
              </p:grpSpPr>
              <p:sp>
                <p:nvSpPr>
                  <p:cNvPr id="60" name="任意多边形: 形状 59">
                    <a:extLst>
                      <a:ext uri="{FF2B5EF4-FFF2-40B4-BE49-F238E27FC236}">
                        <a16:creationId xmlns:a16="http://schemas.microsoft.com/office/drawing/2014/main" id="{488B5DAA-2707-48B8-BABE-0768EB36D330}"/>
                      </a:ext>
                    </a:extLst>
                  </p:cNvPr>
                  <p:cNvSpPr/>
                  <p:nvPr/>
                </p:nvSpPr>
                <p:spPr>
                  <a:xfrm>
                    <a:off x="4941356" y="961075"/>
                    <a:ext cx="526684" cy="277537"/>
                  </a:xfrm>
                  <a:custGeom>
                    <a:avLst/>
                    <a:gdLst>
                      <a:gd name="connsiteX0" fmla="*/ 845205 w 1691059"/>
                      <a:gd name="connsiteY0" fmla="*/ 891755 h 891108"/>
                      <a:gd name="connsiteX1" fmla="*/ 823298 w 1691059"/>
                      <a:gd name="connsiteY1" fmla="*/ 886040 h 891108"/>
                      <a:gd name="connsiteX2" fmla="*/ 24150 w 1691059"/>
                      <a:gd name="connsiteY2" fmla="*/ 459320 h 891108"/>
                      <a:gd name="connsiteX3" fmla="*/ 338 w 1691059"/>
                      <a:gd name="connsiteY3" fmla="*/ 417410 h 891108"/>
                      <a:gd name="connsiteX4" fmla="*/ 27960 w 1691059"/>
                      <a:gd name="connsiteY4" fmla="*/ 377405 h 891108"/>
                      <a:gd name="connsiteX5" fmla="*/ 881400 w 1691059"/>
                      <a:gd name="connsiteY5" fmla="*/ 4025 h 891108"/>
                      <a:gd name="connsiteX6" fmla="*/ 922358 w 1691059"/>
                      <a:gd name="connsiteY6" fmla="*/ 5930 h 891108"/>
                      <a:gd name="connsiteX7" fmla="*/ 1669118 w 1691059"/>
                      <a:gd name="connsiteY7" fmla="*/ 432650 h 891108"/>
                      <a:gd name="connsiteX8" fmla="*/ 1691978 w 1691059"/>
                      <a:gd name="connsiteY8" fmla="*/ 474560 h 891108"/>
                      <a:gd name="connsiteX9" fmla="*/ 1665308 w 1691059"/>
                      <a:gd name="connsiteY9" fmla="*/ 514565 h 891108"/>
                      <a:gd name="connsiteX10" fmla="*/ 865208 w 1691059"/>
                      <a:gd name="connsiteY10" fmla="*/ 887945 h 891108"/>
                      <a:gd name="connsiteX11" fmla="*/ 845205 w 1691059"/>
                      <a:gd name="connsiteY11" fmla="*/ 891755 h 891108"/>
                      <a:gd name="connsiteX12" fmla="*/ 149880 w 1691059"/>
                      <a:gd name="connsiteY12" fmla="*/ 423125 h 891108"/>
                      <a:gd name="connsiteX13" fmla="*/ 846158 w 1691059"/>
                      <a:gd name="connsiteY13" fmla="*/ 794600 h 891108"/>
                      <a:gd name="connsiteX14" fmla="*/ 1545293 w 1691059"/>
                      <a:gd name="connsiteY14" fmla="*/ 468845 h 891108"/>
                      <a:gd name="connsiteX15" fmla="*/ 895688 w 1691059"/>
                      <a:gd name="connsiteY15" fmla="*/ 97370 h 891108"/>
                      <a:gd name="connsiteX16" fmla="*/ 149880 w 1691059"/>
                      <a:gd name="connsiteY16" fmla="*/ 423125 h 89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1059" h="891108">
                        <a:moveTo>
                          <a:pt x="845205" y="891755"/>
                        </a:moveTo>
                        <a:cubicBezTo>
                          <a:pt x="837585" y="891755"/>
                          <a:pt x="829965" y="889850"/>
                          <a:pt x="823298" y="886040"/>
                        </a:cubicBezTo>
                        <a:lnTo>
                          <a:pt x="24150" y="459320"/>
                        </a:lnTo>
                        <a:cubicBezTo>
                          <a:pt x="8910" y="450748"/>
                          <a:pt x="-615" y="434555"/>
                          <a:pt x="338" y="417410"/>
                        </a:cubicBezTo>
                        <a:cubicBezTo>
                          <a:pt x="1290" y="400265"/>
                          <a:pt x="11768" y="384073"/>
                          <a:pt x="27960" y="377405"/>
                        </a:cubicBezTo>
                        <a:lnTo>
                          <a:pt x="881400" y="4025"/>
                        </a:lnTo>
                        <a:cubicBezTo>
                          <a:pt x="894735" y="-1690"/>
                          <a:pt x="909975" y="-737"/>
                          <a:pt x="922358" y="5930"/>
                        </a:cubicBezTo>
                        <a:lnTo>
                          <a:pt x="1669118" y="432650"/>
                        </a:lnTo>
                        <a:cubicBezTo>
                          <a:pt x="1684358" y="441223"/>
                          <a:pt x="1692930" y="457415"/>
                          <a:pt x="1691978" y="474560"/>
                        </a:cubicBezTo>
                        <a:cubicBezTo>
                          <a:pt x="1691026" y="491705"/>
                          <a:pt x="1681501" y="506945"/>
                          <a:pt x="1665308" y="514565"/>
                        </a:cubicBezTo>
                        <a:lnTo>
                          <a:pt x="865208" y="887945"/>
                        </a:lnTo>
                        <a:cubicBezTo>
                          <a:pt x="858540" y="889850"/>
                          <a:pt x="851873" y="891755"/>
                          <a:pt x="845205" y="891755"/>
                        </a:cubicBezTo>
                        <a:close/>
                        <a:moveTo>
                          <a:pt x="149880" y="423125"/>
                        </a:moveTo>
                        <a:lnTo>
                          <a:pt x="846158" y="794600"/>
                        </a:lnTo>
                        <a:lnTo>
                          <a:pt x="1545293" y="468845"/>
                        </a:lnTo>
                        <a:lnTo>
                          <a:pt x="895688" y="97370"/>
                        </a:lnTo>
                        <a:lnTo>
                          <a:pt x="149880" y="423125"/>
                        </a:ln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sp>
                <p:nvSpPr>
                  <p:cNvPr id="61" name="任意多边形: 形状 60">
                    <a:extLst>
                      <a:ext uri="{FF2B5EF4-FFF2-40B4-BE49-F238E27FC236}">
                        <a16:creationId xmlns:a16="http://schemas.microsoft.com/office/drawing/2014/main" id="{A746AD4E-F400-42A1-A14A-B979AA18249E}"/>
                      </a:ext>
                    </a:extLst>
                  </p:cNvPr>
                  <p:cNvSpPr/>
                  <p:nvPr/>
                </p:nvSpPr>
                <p:spPr>
                  <a:xfrm>
                    <a:off x="5023053" y="1236002"/>
                    <a:ext cx="363290" cy="207429"/>
                  </a:xfrm>
                  <a:custGeom>
                    <a:avLst/>
                    <a:gdLst>
                      <a:gd name="connsiteX0" fmla="*/ 590823 w 1166440"/>
                      <a:gd name="connsiteY0" fmla="*/ 667023 h 666005"/>
                      <a:gd name="connsiteX1" fmla="*/ 25990 w 1166440"/>
                      <a:gd name="connsiteY1" fmla="*/ 547960 h 666005"/>
                      <a:gd name="connsiteX2" fmla="*/ 273 w 1166440"/>
                      <a:gd name="connsiteY2" fmla="*/ 507003 h 666005"/>
                      <a:gd name="connsiteX3" fmla="*/ 273 w 1166440"/>
                      <a:gd name="connsiteY3" fmla="*/ 45992 h 666005"/>
                      <a:gd name="connsiteX4" fmla="*/ 45993 w 1166440"/>
                      <a:gd name="connsiteY4" fmla="*/ 273 h 666005"/>
                      <a:gd name="connsiteX5" fmla="*/ 91713 w 1166440"/>
                      <a:gd name="connsiteY5" fmla="*/ 45992 h 666005"/>
                      <a:gd name="connsiteX6" fmla="*/ 91713 w 1166440"/>
                      <a:gd name="connsiteY6" fmla="*/ 477475 h 666005"/>
                      <a:gd name="connsiteX7" fmla="*/ 1075645 w 1166440"/>
                      <a:gd name="connsiteY7" fmla="*/ 477475 h 666005"/>
                      <a:gd name="connsiteX8" fmla="*/ 1075645 w 1166440"/>
                      <a:gd name="connsiteY8" fmla="*/ 97428 h 666005"/>
                      <a:gd name="connsiteX9" fmla="*/ 1121365 w 1166440"/>
                      <a:gd name="connsiteY9" fmla="*/ 51708 h 666005"/>
                      <a:gd name="connsiteX10" fmla="*/ 1167085 w 1166440"/>
                      <a:gd name="connsiteY10" fmla="*/ 97428 h 666005"/>
                      <a:gd name="connsiteX11" fmla="*/ 1167085 w 1166440"/>
                      <a:gd name="connsiteY11" fmla="*/ 507003 h 666005"/>
                      <a:gd name="connsiteX12" fmla="*/ 1140415 w 1166440"/>
                      <a:gd name="connsiteY12" fmla="*/ 548913 h 666005"/>
                      <a:gd name="connsiteX13" fmla="*/ 590823 w 1166440"/>
                      <a:gd name="connsiteY13" fmla="*/ 667023 h 6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6440" h="666005">
                        <a:moveTo>
                          <a:pt x="590823" y="667023"/>
                        </a:moveTo>
                        <a:cubicBezTo>
                          <a:pt x="269830" y="667023"/>
                          <a:pt x="40278" y="554628"/>
                          <a:pt x="25990" y="547960"/>
                        </a:cubicBezTo>
                        <a:cubicBezTo>
                          <a:pt x="10750" y="540340"/>
                          <a:pt x="273" y="524148"/>
                          <a:pt x="273" y="507003"/>
                        </a:cubicBezTo>
                        <a:lnTo>
                          <a:pt x="273" y="45992"/>
                        </a:lnTo>
                        <a:cubicBezTo>
                          <a:pt x="273" y="21228"/>
                          <a:pt x="20275" y="273"/>
                          <a:pt x="45993" y="273"/>
                        </a:cubicBezTo>
                        <a:cubicBezTo>
                          <a:pt x="71710" y="273"/>
                          <a:pt x="91713" y="20275"/>
                          <a:pt x="91713" y="45992"/>
                        </a:cubicBezTo>
                        <a:lnTo>
                          <a:pt x="91713" y="477475"/>
                        </a:lnTo>
                        <a:cubicBezTo>
                          <a:pt x="197440" y="521290"/>
                          <a:pt x="619398" y="671785"/>
                          <a:pt x="1075645" y="477475"/>
                        </a:cubicBezTo>
                        <a:lnTo>
                          <a:pt x="1075645" y="97428"/>
                        </a:lnTo>
                        <a:cubicBezTo>
                          <a:pt x="1075645" y="72662"/>
                          <a:pt x="1095648" y="51708"/>
                          <a:pt x="1121365" y="51708"/>
                        </a:cubicBezTo>
                        <a:cubicBezTo>
                          <a:pt x="1147083" y="51708"/>
                          <a:pt x="1167085" y="71710"/>
                          <a:pt x="1167085" y="97428"/>
                        </a:cubicBezTo>
                        <a:lnTo>
                          <a:pt x="1167085" y="507003"/>
                        </a:lnTo>
                        <a:cubicBezTo>
                          <a:pt x="1167085" y="525100"/>
                          <a:pt x="1156608" y="541293"/>
                          <a:pt x="1140415" y="548913"/>
                        </a:cubicBezTo>
                        <a:cubicBezTo>
                          <a:pt x="944200" y="637495"/>
                          <a:pt x="755605" y="667023"/>
                          <a:pt x="590823" y="667023"/>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
              <p:nvSpPr>
                <p:cNvPr id="62" name="任意多边形: 形状 61">
                  <a:extLst>
                    <a:ext uri="{FF2B5EF4-FFF2-40B4-BE49-F238E27FC236}">
                      <a16:creationId xmlns:a16="http://schemas.microsoft.com/office/drawing/2014/main" id="{7516A9E1-74EA-4E10-9C90-1E52664DE8D6}"/>
                    </a:ext>
                  </a:extLst>
                </p:cNvPr>
                <p:cNvSpPr/>
                <p:nvPr/>
              </p:nvSpPr>
              <p:spPr>
                <a:xfrm>
                  <a:off x="6408575" y="1780417"/>
                  <a:ext cx="28391" cy="111247"/>
                </a:xfrm>
                <a:custGeom>
                  <a:avLst/>
                  <a:gdLst>
                    <a:gd name="connsiteX0" fmla="*/ 45992 w 91157"/>
                    <a:gd name="connsiteY0" fmla="*/ 358412 h 357187"/>
                    <a:gd name="connsiteX1" fmla="*/ 273 w 91157"/>
                    <a:gd name="connsiteY1" fmla="*/ 312692 h 357187"/>
                    <a:gd name="connsiteX2" fmla="*/ 273 w 91157"/>
                    <a:gd name="connsiteY2" fmla="*/ 45992 h 357187"/>
                    <a:gd name="connsiteX3" fmla="*/ 45992 w 91157"/>
                    <a:gd name="connsiteY3" fmla="*/ 273 h 357187"/>
                    <a:gd name="connsiteX4" fmla="*/ 91713 w 91157"/>
                    <a:gd name="connsiteY4" fmla="*/ 45992 h 357187"/>
                    <a:gd name="connsiteX5" fmla="*/ 91713 w 91157"/>
                    <a:gd name="connsiteY5" fmla="*/ 312692 h 357187"/>
                    <a:gd name="connsiteX6" fmla="*/ 45992 w 91157"/>
                    <a:gd name="connsiteY6" fmla="*/ 358412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57" h="357187">
                      <a:moveTo>
                        <a:pt x="45992" y="358412"/>
                      </a:moveTo>
                      <a:cubicBezTo>
                        <a:pt x="20275" y="358412"/>
                        <a:pt x="273" y="338410"/>
                        <a:pt x="273" y="312692"/>
                      </a:cubicBezTo>
                      <a:lnTo>
                        <a:pt x="273" y="45992"/>
                      </a:lnTo>
                      <a:cubicBezTo>
                        <a:pt x="273" y="21227"/>
                        <a:pt x="20275" y="273"/>
                        <a:pt x="45992" y="273"/>
                      </a:cubicBezTo>
                      <a:cubicBezTo>
                        <a:pt x="71710" y="273"/>
                        <a:pt x="91713" y="20275"/>
                        <a:pt x="91713" y="45992"/>
                      </a:cubicBezTo>
                      <a:lnTo>
                        <a:pt x="91713" y="312692"/>
                      </a:lnTo>
                      <a:cubicBezTo>
                        <a:pt x="91713" y="337458"/>
                        <a:pt x="71710" y="358412"/>
                        <a:pt x="45992" y="358412"/>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grpSp>
      </p:grpSp>
    </p:spTree>
    <p:extLst>
      <p:ext uri="{BB962C8B-B14F-4D97-AF65-F5344CB8AC3E}">
        <p14:creationId xmlns:p14="http://schemas.microsoft.com/office/powerpoint/2010/main" val="288730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492</Words>
  <Application>Microsoft Office PowerPoint</Application>
  <PresentationFormat>宽屏</PresentationFormat>
  <Paragraphs>86</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___WRD_EMBED_SUB_44</vt:lpstr>
      <vt:lpstr>quote-cjk-patch</vt:lpstr>
      <vt:lpstr>等线</vt:lpstr>
      <vt:lpstr>思源黑体 CN Bold</vt:lpstr>
      <vt:lpstr>思源黑体 CN Normal</vt:lpstr>
      <vt:lpstr>微软雅黑</vt:lpstr>
      <vt:lpstr>Arial</vt:lpstr>
      <vt:lpstr>Segoe UI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58263148@qq.com</dc:creator>
  <cp:lastModifiedBy>盛鹏 李</cp:lastModifiedBy>
  <cp:revision>331</cp:revision>
  <dcterms:created xsi:type="dcterms:W3CDTF">2021-05-28T07:09:29Z</dcterms:created>
  <dcterms:modified xsi:type="dcterms:W3CDTF">2025-11-15T02:23:51Z</dcterms:modified>
</cp:coreProperties>
</file>