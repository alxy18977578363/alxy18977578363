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808" r:id="rId2"/>
    <p:sldId id="807" r:id="rId3"/>
    <p:sldId id="799" r:id="rId4"/>
    <p:sldId id="800" r:id="rId5"/>
    <p:sldId id="803" r:id="rId6"/>
    <p:sldId id="797" r:id="rId7"/>
    <p:sldId id="798" r:id="rId8"/>
    <p:sldId id="426" r:id="rId9"/>
    <p:sldId id="266" r:id="rId10"/>
    <p:sldId id="788" r:id="rId11"/>
    <p:sldId id="423" r:id="rId12"/>
    <p:sldId id="809" r:id="rId13"/>
    <p:sldId id="810" r:id="rId14"/>
    <p:sldId id="811" r:id="rId15"/>
    <p:sldId id="812" r:id="rId16"/>
    <p:sldId id="813" r:id="rId17"/>
    <p:sldId id="814" r:id="rId18"/>
    <p:sldId id="81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CFED"/>
    <a:srgbClr val="1973A2"/>
    <a:srgbClr val="1974A2"/>
    <a:srgbClr val="FFFFFF"/>
    <a:srgbClr val="7ECFED"/>
    <a:srgbClr val="16668E"/>
    <a:srgbClr val="0F7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48" d="100"/>
          <a:sy n="48" d="100"/>
        </p:scale>
        <p:origin x="72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88EEF-A970-4319-98E0-EBB1D071AB08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0DE39-9C00-4A0A-8757-7DFBDE4DA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879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D1DC36-B914-42C3-8AA8-8F89DC05B998}"/>
              </a:ext>
            </a:extLst>
          </p:cNvPr>
          <p:cNvSpPr/>
          <p:nvPr userDrawn="1"/>
        </p:nvSpPr>
        <p:spPr>
          <a:xfrm>
            <a:off x="0" y="-26809"/>
            <a:ext cx="12192000" cy="6884809"/>
          </a:xfrm>
          <a:prstGeom prst="rect">
            <a:avLst/>
          </a:prstGeom>
          <a:solidFill>
            <a:srgbClr val="166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剪去对角 21">
            <a:extLst>
              <a:ext uri="{FF2B5EF4-FFF2-40B4-BE49-F238E27FC236}">
                <a16:creationId xmlns:a16="http://schemas.microsoft.com/office/drawing/2014/main" id="{3E2F5B59-5CD3-4301-B154-3495E6B3A8DE}"/>
              </a:ext>
            </a:extLst>
          </p:cNvPr>
          <p:cNvSpPr/>
          <p:nvPr userDrawn="1"/>
        </p:nvSpPr>
        <p:spPr>
          <a:xfrm flipH="1" flipV="1">
            <a:off x="387431" y="384977"/>
            <a:ext cx="11448566" cy="6115809"/>
          </a:xfrm>
          <a:prstGeom prst="snip2DiagRect">
            <a:avLst>
              <a:gd name="adj1" fmla="val 0"/>
              <a:gd name="adj2" fmla="val 4956"/>
            </a:avLst>
          </a:prstGeom>
          <a:solidFill>
            <a:schemeClr val="bg1"/>
          </a:solidFill>
          <a:ln w="12700">
            <a:solidFill>
              <a:srgbClr val="7FCFED">
                <a:alpha val="2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2D05688-A0BE-4156-885E-189917571774}"/>
              </a:ext>
            </a:extLst>
          </p:cNvPr>
          <p:cNvGrpSpPr/>
          <p:nvPr userDrawn="1"/>
        </p:nvGrpSpPr>
        <p:grpSpPr>
          <a:xfrm>
            <a:off x="368703" y="384977"/>
            <a:ext cx="2324103" cy="2132215"/>
            <a:chOff x="0" y="0"/>
            <a:chExt cx="3336146" cy="3060700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A602525A-7E19-47E8-A117-7D53F7202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028" y="2170"/>
              <a:ext cx="2706118" cy="2465259"/>
            </a:xfrm>
            <a:prstGeom prst="rect">
              <a:avLst/>
            </a:prstGeom>
          </p:spPr>
        </p:pic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2FDF6857-9002-4FCF-81BC-E3641055A34C}"/>
                </a:ext>
              </a:extLst>
            </p:cNvPr>
            <p:cNvGrpSpPr/>
            <p:nvPr/>
          </p:nvGrpSpPr>
          <p:grpSpPr>
            <a:xfrm>
              <a:off x="0" y="0"/>
              <a:ext cx="1983086" cy="3060700"/>
              <a:chOff x="0" y="0"/>
              <a:chExt cx="1983086" cy="3060700"/>
            </a:xfrm>
          </p:grpSpPr>
          <p:sp>
            <p:nvSpPr>
              <p:cNvPr id="27" name="直角三角形 26">
                <a:extLst>
                  <a:ext uri="{FF2B5EF4-FFF2-40B4-BE49-F238E27FC236}">
                    <a16:creationId xmlns:a16="http://schemas.microsoft.com/office/drawing/2014/main" id="{334EDFBF-21BB-4181-B121-051B0B447BE0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1983086" cy="3060700"/>
              </a:xfrm>
              <a:prstGeom prst="rtTriangle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637AAF0D-39C7-4B9D-A5E5-B3782A434FF6}"/>
                  </a:ext>
                </a:extLst>
              </p:cNvPr>
              <p:cNvSpPr/>
              <p:nvPr/>
            </p:nvSpPr>
            <p:spPr>
              <a:xfrm>
                <a:off x="505256" y="0"/>
                <a:ext cx="1061103" cy="1358900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平行四边形 28">
                <a:extLst>
                  <a:ext uri="{FF2B5EF4-FFF2-40B4-BE49-F238E27FC236}">
                    <a16:creationId xmlns:a16="http://schemas.microsoft.com/office/drawing/2014/main" id="{06FB9E34-541D-4CC6-91A7-6675D8E4479B}"/>
                  </a:ext>
                </a:extLst>
              </p:cNvPr>
              <p:cNvSpPr/>
              <p:nvPr/>
            </p:nvSpPr>
            <p:spPr>
              <a:xfrm>
                <a:off x="109538" y="838951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" name="平行四边形 29">
                <a:extLst>
                  <a:ext uri="{FF2B5EF4-FFF2-40B4-BE49-F238E27FC236}">
                    <a16:creationId xmlns:a16="http://schemas.microsoft.com/office/drawing/2014/main" id="{5BB85C6F-03EF-4CD1-8CAE-300E656F2341}"/>
                  </a:ext>
                </a:extLst>
              </p:cNvPr>
              <p:cNvSpPr/>
              <p:nvPr/>
            </p:nvSpPr>
            <p:spPr>
              <a:xfrm>
                <a:off x="205473" y="239228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B7CBE96-8FD6-42E3-8185-72FBC86EDCB5}"/>
              </a:ext>
            </a:extLst>
          </p:cNvPr>
          <p:cNvGrpSpPr/>
          <p:nvPr userDrawn="1"/>
        </p:nvGrpSpPr>
        <p:grpSpPr>
          <a:xfrm flipH="1" flipV="1">
            <a:off x="9512216" y="4368571"/>
            <a:ext cx="2324103" cy="2132215"/>
            <a:chOff x="0" y="0"/>
            <a:chExt cx="3336146" cy="3060700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8881AE3-7CBD-4768-834D-F31009944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028" y="2170"/>
              <a:ext cx="2706118" cy="2465259"/>
            </a:xfrm>
            <a:prstGeom prst="rect">
              <a:avLst/>
            </a:prstGeom>
          </p:spPr>
        </p:pic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9A8B61C1-295E-491D-BCDA-0CFDA78E316E}"/>
                </a:ext>
              </a:extLst>
            </p:cNvPr>
            <p:cNvGrpSpPr/>
            <p:nvPr/>
          </p:nvGrpSpPr>
          <p:grpSpPr>
            <a:xfrm>
              <a:off x="0" y="0"/>
              <a:ext cx="1983086" cy="3060700"/>
              <a:chOff x="0" y="0"/>
              <a:chExt cx="1983086" cy="3060700"/>
            </a:xfrm>
          </p:grpSpPr>
          <p:sp>
            <p:nvSpPr>
              <p:cNvPr id="34" name="直角三角形 33">
                <a:extLst>
                  <a:ext uri="{FF2B5EF4-FFF2-40B4-BE49-F238E27FC236}">
                    <a16:creationId xmlns:a16="http://schemas.microsoft.com/office/drawing/2014/main" id="{93AD6555-FBF4-47DB-8F90-3E84F1EBB1B0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1983086" cy="3060700"/>
              </a:xfrm>
              <a:prstGeom prst="rtTriangle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AD58F084-C4B5-4127-A3C8-0C2F1BC820AB}"/>
                  </a:ext>
                </a:extLst>
              </p:cNvPr>
              <p:cNvSpPr/>
              <p:nvPr/>
            </p:nvSpPr>
            <p:spPr>
              <a:xfrm>
                <a:off x="505256" y="0"/>
                <a:ext cx="1061103" cy="1358900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D461A1F1-F65D-4F10-8BF4-56B8D3B46869}"/>
                  </a:ext>
                </a:extLst>
              </p:cNvPr>
              <p:cNvSpPr/>
              <p:nvPr/>
            </p:nvSpPr>
            <p:spPr>
              <a:xfrm>
                <a:off x="109538" y="838951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104FF62B-1A92-4A34-AC7E-2FAE3D9F42FA}"/>
                  </a:ext>
                </a:extLst>
              </p:cNvPr>
              <p:cNvSpPr/>
              <p:nvPr/>
            </p:nvSpPr>
            <p:spPr>
              <a:xfrm>
                <a:off x="205473" y="239228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3289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剪去对角 22">
            <a:extLst>
              <a:ext uri="{FF2B5EF4-FFF2-40B4-BE49-F238E27FC236}">
                <a16:creationId xmlns:a16="http://schemas.microsoft.com/office/drawing/2014/main" id="{95EE0CB9-6189-4F3F-B715-ECAE0F858EC6}"/>
              </a:ext>
            </a:extLst>
          </p:cNvPr>
          <p:cNvSpPr/>
          <p:nvPr userDrawn="1"/>
        </p:nvSpPr>
        <p:spPr>
          <a:xfrm flipH="1" flipV="1">
            <a:off x="387431" y="384977"/>
            <a:ext cx="11448566" cy="6115809"/>
          </a:xfrm>
          <a:prstGeom prst="snip2DiagRect">
            <a:avLst>
              <a:gd name="adj1" fmla="val 0"/>
              <a:gd name="adj2" fmla="val 4956"/>
            </a:avLst>
          </a:prstGeom>
          <a:solidFill>
            <a:srgbClr val="1974A2"/>
          </a:solidFill>
          <a:ln w="12700">
            <a:solidFill>
              <a:srgbClr val="7ECFED">
                <a:alpha val="2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03DC2F3-91A1-43E1-844F-758F97DE4745}"/>
              </a:ext>
            </a:extLst>
          </p:cNvPr>
          <p:cNvGrpSpPr/>
          <p:nvPr userDrawn="1"/>
        </p:nvGrpSpPr>
        <p:grpSpPr>
          <a:xfrm>
            <a:off x="-3" y="1"/>
            <a:ext cx="2166277" cy="1987420"/>
            <a:chOff x="0" y="0"/>
            <a:chExt cx="3336146" cy="306070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35D3DE3-1244-4057-B522-6D726849D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028" y="2170"/>
              <a:ext cx="2706118" cy="2465259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A763764-07B6-4040-B10F-603080B2FA81}"/>
                </a:ext>
              </a:extLst>
            </p:cNvPr>
            <p:cNvGrpSpPr/>
            <p:nvPr/>
          </p:nvGrpSpPr>
          <p:grpSpPr>
            <a:xfrm>
              <a:off x="0" y="0"/>
              <a:ext cx="1983086" cy="3060700"/>
              <a:chOff x="0" y="0"/>
              <a:chExt cx="1983086" cy="3060700"/>
            </a:xfrm>
          </p:grpSpPr>
          <p:sp>
            <p:nvSpPr>
              <p:cNvPr id="11" name="直角三角形 10">
                <a:extLst>
                  <a:ext uri="{FF2B5EF4-FFF2-40B4-BE49-F238E27FC236}">
                    <a16:creationId xmlns:a16="http://schemas.microsoft.com/office/drawing/2014/main" id="{5E80730B-E9C9-4E6C-A92A-850A0352C3FC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1983086" cy="3060700"/>
              </a:xfrm>
              <a:prstGeom prst="rtTriangle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平行四边形 11">
                <a:extLst>
                  <a:ext uri="{FF2B5EF4-FFF2-40B4-BE49-F238E27FC236}">
                    <a16:creationId xmlns:a16="http://schemas.microsoft.com/office/drawing/2014/main" id="{14563337-93E8-4CB2-AFDF-F15A3C9EA31D}"/>
                  </a:ext>
                </a:extLst>
              </p:cNvPr>
              <p:cNvSpPr/>
              <p:nvPr/>
            </p:nvSpPr>
            <p:spPr>
              <a:xfrm>
                <a:off x="505256" y="0"/>
                <a:ext cx="1061103" cy="1358900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平行四边形 12">
                <a:extLst>
                  <a:ext uri="{FF2B5EF4-FFF2-40B4-BE49-F238E27FC236}">
                    <a16:creationId xmlns:a16="http://schemas.microsoft.com/office/drawing/2014/main" id="{F3D9B1C1-61A4-4C47-80D0-5233627CEEEC}"/>
                  </a:ext>
                </a:extLst>
              </p:cNvPr>
              <p:cNvSpPr/>
              <p:nvPr/>
            </p:nvSpPr>
            <p:spPr>
              <a:xfrm>
                <a:off x="109538" y="838951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" name="平行四边形 13">
                <a:extLst>
                  <a:ext uri="{FF2B5EF4-FFF2-40B4-BE49-F238E27FC236}">
                    <a16:creationId xmlns:a16="http://schemas.microsoft.com/office/drawing/2014/main" id="{F4BAA035-7E5D-4CEC-878F-420A00879E1C}"/>
                  </a:ext>
                </a:extLst>
              </p:cNvPr>
              <p:cNvSpPr/>
              <p:nvPr/>
            </p:nvSpPr>
            <p:spPr>
              <a:xfrm>
                <a:off x="205473" y="239228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962F6F0-AAD8-43DC-9FFC-EAB57A75C8BE}"/>
              </a:ext>
            </a:extLst>
          </p:cNvPr>
          <p:cNvGrpSpPr/>
          <p:nvPr userDrawn="1"/>
        </p:nvGrpSpPr>
        <p:grpSpPr>
          <a:xfrm flipH="1" flipV="1">
            <a:off x="10025723" y="4870580"/>
            <a:ext cx="2166277" cy="1987420"/>
            <a:chOff x="0" y="0"/>
            <a:chExt cx="3336146" cy="306070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9B3F3EF-70A2-4440-B7DC-E5FA727C0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028" y="2170"/>
              <a:ext cx="2706118" cy="2465259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766B3ADE-3E10-4B2C-A99D-0A98542F9BFB}"/>
                </a:ext>
              </a:extLst>
            </p:cNvPr>
            <p:cNvGrpSpPr/>
            <p:nvPr/>
          </p:nvGrpSpPr>
          <p:grpSpPr>
            <a:xfrm>
              <a:off x="0" y="0"/>
              <a:ext cx="1983086" cy="3060700"/>
              <a:chOff x="0" y="0"/>
              <a:chExt cx="1983086" cy="3060700"/>
            </a:xfrm>
          </p:grpSpPr>
          <p:sp>
            <p:nvSpPr>
              <p:cNvPr id="18" name="直角三角形 17">
                <a:extLst>
                  <a:ext uri="{FF2B5EF4-FFF2-40B4-BE49-F238E27FC236}">
                    <a16:creationId xmlns:a16="http://schemas.microsoft.com/office/drawing/2014/main" id="{17845AA5-35CC-4569-AE98-CA80C969CCB7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1983086" cy="3060700"/>
              </a:xfrm>
              <a:prstGeom prst="rtTriangle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平行四边形 18">
                <a:extLst>
                  <a:ext uri="{FF2B5EF4-FFF2-40B4-BE49-F238E27FC236}">
                    <a16:creationId xmlns:a16="http://schemas.microsoft.com/office/drawing/2014/main" id="{63970F3C-38A1-42E2-BC85-4A498174727F}"/>
                  </a:ext>
                </a:extLst>
              </p:cNvPr>
              <p:cNvSpPr/>
              <p:nvPr/>
            </p:nvSpPr>
            <p:spPr>
              <a:xfrm>
                <a:off x="505256" y="0"/>
                <a:ext cx="1061103" cy="1358900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平行四边形 19">
                <a:extLst>
                  <a:ext uri="{FF2B5EF4-FFF2-40B4-BE49-F238E27FC236}">
                    <a16:creationId xmlns:a16="http://schemas.microsoft.com/office/drawing/2014/main" id="{95CE12E1-0FF1-4020-AF8A-2D6A3C592A8E}"/>
                  </a:ext>
                </a:extLst>
              </p:cNvPr>
              <p:cNvSpPr/>
              <p:nvPr/>
            </p:nvSpPr>
            <p:spPr>
              <a:xfrm>
                <a:off x="109538" y="838951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D4E6E38B-42B8-4B8E-8DAA-6FC1A80C2A1F}"/>
                  </a:ext>
                </a:extLst>
              </p:cNvPr>
              <p:cNvSpPr/>
              <p:nvPr/>
            </p:nvSpPr>
            <p:spPr>
              <a:xfrm>
                <a:off x="205473" y="239228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596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剪去对角 38">
            <a:extLst>
              <a:ext uri="{FF2B5EF4-FFF2-40B4-BE49-F238E27FC236}">
                <a16:creationId xmlns:a16="http://schemas.microsoft.com/office/drawing/2014/main" id="{464ACB94-02C7-4564-A76E-9DD429CF9034}"/>
              </a:ext>
            </a:extLst>
          </p:cNvPr>
          <p:cNvSpPr/>
          <p:nvPr userDrawn="1"/>
        </p:nvSpPr>
        <p:spPr>
          <a:xfrm rot="5400000" flipH="1" flipV="1">
            <a:off x="3772330" y="-2661652"/>
            <a:ext cx="4667148" cy="12211812"/>
          </a:xfrm>
          <a:prstGeom prst="snip2DiagRect">
            <a:avLst>
              <a:gd name="adj1" fmla="val 0"/>
              <a:gd name="adj2" fmla="val 3731"/>
            </a:avLst>
          </a:prstGeom>
          <a:solidFill>
            <a:srgbClr val="1974A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962F6F0-AAD8-43DC-9FFC-EAB57A75C8BE}"/>
              </a:ext>
            </a:extLst>
          </p:cNvPr>
          <p:cNvGrpSpPr/>
          <p:nvPr userDrawn="1"/>
        </p:nvGrpSpPr>
        <p:grpSpPr>
          <a:xfrm flipH="1" flipV="1">
            <a:off x="10025723" y="4870580"/>
            <a:ext cx="2166277" cy="1987420"/>
            <a:chOff x="0" y="0"/>
            <a:chExt cx="3336146" cy="306070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9B3F3EF-70A2-4440-B7DC-E5FA727C0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028" y="2170"/>
              <a:ext cx="2706118" cy="2465259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766B3ADE-3E10-4B2C-A99D-0A98542F9BFB}"/>
                </a:ext>
              </a:extLst>
            </p:cNvPr>
            <p:cNvGrpSpPr/>
            <p:nvPr/>
          </p:nvGrpSpPr>
          <p:grpSpPr>
            <a:xfrm>
              <a:off x="0" y="0"/>
              <a:ext cx="1983086" cy="3060700"/>
              <a:chOff x="0" y="0"/>
              <a:chExt cx="1983086" cy="3060700"/>
            </a:xfrm>
          </p:grpSpPr>
          <p:sp>
            <p:nvSpPr>
              <p:cNvPr id="18" name="直角三角形 17">
                <a:extLst>
                  <a:ext uri="{FF2B5EF4-FFF2-40B4-BE49-F238E27FC236}">
                    <a16:creationId xmlns:a16="http://schemas.microsoft.com/office/drawing/2014/main" id="{17845AA5-35CC-4569-AE98-CA80C969CCB7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1983086" cy="3060700"/>
              </a:xfrm>
              <a:prstGeom prst="rtTriangle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平行四边形 18">
                <a:extLst>
                  <a:ext uri="{FF2B5EF4-FFF2-40B4-BE49-F238E27FC236}">
                    <a16:creationId xmlns:a16="http://schemas.microsoft.com/office/drawing/2014/main" id="{63970F3C-38A1-42E2-BC85-4A498174727F}"/>
                  </a:ext>
                </a:extLst>
              </p:cNvPr>
              <p:cNvSpPr/>
              <p:nvPr/>
            </p:nvSpPr>
            <p:spPr>
              <a:xfrm>
                <a:off x="505256" y="0"/>
                <a:ext cx="1061103" cy="1358900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平行四边形 19">
                <a:extLst>
                  <a:ext uri="{FF2B5EF4-FFF2-40B4-BE49-F238E27FC236}">
                    <a16:creationId xmlns:a16="http://schemas.microsoft.com/office/drawing/2014/main" id="{95CE12E1-0FF1-4020-AF8A-2D6A3C592A8E}"/>
                  </a:ext>
                </a:extLst>
              </p:cNvPr>
              <p:cNvSpPr/>
              <p:nvPr/>
            </p:nvSpPr>
            <p:spPr>
              <a:xfrm>
                <a:off x="109538" y="838951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D4E6E38B-42B8-4B8E-8DAA-6FC1A80C2A1F}"/>
                  </a:ext>
                </a:extLst>
              </p:cNvPr>
              <p:cNvSpPr/>
              <p:nvPr/>
            </p:nvSpPr>
            <p:spPr>
              <a:xfrm>
                <a:off x="205473" y="239228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570092B-6DAD-4C22-B2B2-D62A437B8415}"/>
              </a:ext>
            </a:extLst>
          </p:cNvPr>
          <p:cNvGrpSpPr/>
          <p:nvPr userDrawn="1"/>
        </p:nvGrpSpPr>
        <p:grpSpPr>
          <a:xfrm>
            <a:off x="0" y="0"/>
            <a:ext cx="2166277" cy="1987420"/>
            <a:chOff x="0" y="0"/>
            <a:chExt cx="3336146" cy="3060700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7469BDCB-B74B-4295-9C10-48D5478EE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028" y="2170"/>
              <a:ext cx="2706118" cy="2465259"/>
            </a:xfrm>
            <a:prstGeom prst="rect">
              <a:avLst/>
            </a:prstGeom>
          </p:spPr>
        </p:pic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3950679-A9F7-4AE6-BDA1-E6D8FFCDC994}"/>
                </a:ext>
              </a:extLst>
            </p:cNvPr>
            <p:cNvGrpSpPr/>
            <p:nvPr/>
          </p:nvGrpSpPr>
          <p:grpSpPr>
            <a:xfrm>
              <a:off x="0" y="0"/>
              <a:ext cx="1983086" cy="3060700"/>
              <a:chOff x="0" y="0"/>
              <a:chExt cx="1983086" cy="3060700"/>
            </a:xfrm>
          </p:grpSpPr>
          <p:sp>
            <p:nvSpPr>
              <p:cNvPr id="45" name="直角三角形 44">
                <a:extLst>
                  <a:ext uri="{FF2B5EF4-FFF2-40B4-BE49-F238E27FC236}">
                    <a16:creationId xmlns:a16="http://schemas.microsoft.com/office/drawing/2014/main" id="{12F301D5-36B1-476A-94F1-87EC864448EC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1983086" cy="3060700"/>
              </a:xfrm>
              <a:prstGeom prst="rtTriangle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平行四边形 45">
                <a:extLst>
                  <a:ext uri="{FF2B5EF4-FFF2-40B4-BE49-F238E27FC236}">
                    <a16:creationId xmlns:a16="http://schemas.microsoft.com/office/drawing/2014/main" id="{F0CE8A56-8076-47FE-A8D2-D3F4DC7A1D3C}"/>
                  </a:ext>
                </a:extLst>
              </p:cNvPr>
              <p:cNvSpPr/>
              <p:nvPr/>
            </p:nvSpPr>
            <p:spPr>
              <a:xfrm>
                <a:off x="505256" y="0"/>
                <a:ext cx="1061103" cy="1358900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平行四边形 46">
                <a:extLst>
                  <a:ext uri="{FF2B5EF4-FFF2-40B4-BE49-F238E27FC236}">
                    <a16:creationId xmlns:a16="http://schemas.microsoft.com/office/drawing/2014/main" id="{0098CDF6-3915-46B9-B8A9-987EC22E0ED8}"/>
                  </a:ext>
                </a:extLst>
              </p:cNvPr>
              <p:cNvSpPr/>
              <p:nvPr/>
            </p:nvSpPr>
            <p:spPr>
              <a:xfrm>
                <a:off x="109538" y="838951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平行四边形 47">
                <a:extLst>
                  <a:ext uri="{FF2B5EF4-FFF2-40B4-BE49-F238E27FC236}">
                    <a16:creationId xmlns:a16="http://schemas.microsoft.com/office/drawing/2014/main" id="{56901AA5-1125-492B-80CC-12DC51B858B2}"/>
                  </a:ext>
                </a:extLst>
              </p:cNvPr>
              <p:cNvSpPr/>
              <p:nvPr/>
            </p:nvSpPr>
            <p:spPr>
              <a:xfrm>
                <a:off x="205473" y="239228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2" name="矩形: 剪去对角 21">
            <a:extLst>
              <a:ext uri="{FF2B5EF4-FFF2-40B4-BE49-F238E27FC236}">
                <a16:creationId xmlns:a16="http://schemas.microsoft.com/office/drawing/2014/main" id="{133F1FF8-D694-462C-9A20-1E4B7890B3E4}"/>
              </a:ext>
            </a:extLst>
          </p:cNvPr>
          <p:cNvSpPr/>
          <p:nvPr userDrawn="1"/>
        </p:nvSpPr>
        <p:spPr>
          <a:xfrm flipH="1" flipV="1">
            <a:off x="328080" y="1427140"/>
            <a:ext cx="11535840" cy="4049731"/>
          </a:xfrm>
          <a:prstGeom prst="snip2DiagRect">
            <a:avLst>
              <a:gd name="adj1" fmla="val 0"/>
              <a:gd name="adj2" fmla="val 4956"/>
            </a:avLst>
          </a:prstGeom>
          <a:solidFill>
            <a:schemeClr val="bg1"/>
          </a:solidFill>
          <a:ln w="12700">
            <a:solidFill>
              <a:srgbClr val="7FCFED">
                <a:alpha val="2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2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剪去对角 35">
            <a:extLst>
              <a:ext uri="{FF2B5EF4-FFF2-40B4-BE49-F238E27FC236}">
                <a16:creationId xmlns:a16="http://schemas.microsoft.com/office/drawing/2014/main" id="{DD792382-CE07-484F-A0C5-219D6371979D}"/>
              </a:ext>
            </a:extLst>
          </p:cNvPr>
          <p:cNvSpPr/>
          <p:nvPr userDrawn="1"/>
        </p:nvSpPr>
        <p:spPr>
          <a:xfrm flipH="1" flipV="1">
            <a:off x="208120" y="188425"/>
            <a:ext cx="11801155" cy="6517173"/>
          </a:xfrm>
          <a:prstGeom prst="snip2DiagRect">
            <a:avLst>
              <a:gd name="adj1" fmla="val 0"/>
              <a:gd name="adj2" fmla="val 4956"/>
            </a:avLst>
          </a:prstGeom>
          <a:solidFill>
            <a:schemeClr val="bg1"/>
          </a:solidFill>
          <a:ln w="12700">
            <a:solidFill>
              <a:srgbClr val="7ECFED">
                <a:alpha val="2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AF55AB6-E0E1-419F-9954-67E6673673C8}"/>
              </a:ext>
            </a:extLst>
          </p:cNvPr>
          <p:cNvGrpSpPr/>
          <p:nvPr userDrawn="1"/>
        </p:nvGrpSpPr>
        <p:grpSpPr>
          <a:xfrm flipH="1" flipV="1">
            <a:off x="10985499" y="5752290"/>
            <a:ext cx="1206500" cy="1106886"/>
            <a:chOff x="0" y="0"/>
            <a:chExt cx="3336146" cy="306070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1968368A-E5C2-4F4A-9FF2-80076FADA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028" y="2170"/>
              <a:ext cx="2706118" cy="2465259"/>
            </a:xfrm>
            <a:prstGeom prst="rect">
              <a:avLst/>
            </a:prstGeom>
          </p:spPr>
        </p:pic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A6C2BE6-C592-4848-B680-F7601A9A6072}"/>
                </a:ext>
              </a:extLst>
            </p:cNvPr>
            <p:cNvGrpSpPr/>
            <p:nvPr/>
          </p:nvGrpSpPr>
          <p:grpSpPr>
            <a:xfrm>
              <a:off x="0" y="0"/>
              <a:ext cx="1983086" cy="3060700"/>
              <a:chOff x="0" y="0"/>
              <a:chExt cx="1983086" cy="3060700"/>
            </a:xfrm>
          </p:grpSpPr>
          <p:sp>
            <p:nvSpPr>
              <p:cNvPr id="20" name="直角三角形 19">
                <a:extLst>
                  <a:ext uri="{FF2B5EF4-FFF2-40B4-BE49-F238E27FC236}">
                    <a16:creationId xmlns:a16="http://schemas.microsoft.com/office/drawing/2014/main" id="{57200FB3-9DCA-4B2F-8CD0-5E039692F027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1983086" cy="3060700"/>
              </a:xfrm>
              <a:prstGeom prst="rtTriangle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D19D8A16-80F6-4A3F-8941-1BB23D77F1F8}"/>
                  </a:ext>
                </a:extLst>
              </p:cNvPr>
              <p:cNvSpPr/>
              <p:nvPr/>
            </p:nvSpPr>
            <p:spPr>
              <a:xfrm>
                <a:off x="505256" y="0"/>
                <a:ext cx="1061103" cy="1358900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7000123D-359C-44D0-890A-C1EC0DAEB558}"/>
                  </a:ext>
                </a:extLst>
              </p:cNvPr>
              <p:cNvSpPr/>
              <p:nvPr/>
            </p:nvSpPr>
            <p:spPr>
              <a:xfrm>
                <a:off x="109538" y="838951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平行四边形 37">
                <a:extLst>
                  <a:ext uri="{FF2B5EF4-FFF2-40B4-BE49-F238E27FC236}">
                    <a16:creationId xmlns:a16="http://schemas.microsoft.com/office/drawing/2014/main" id="{BE6DFBCF-90C2-46E6-9168-EB435481F712}"/>
                  </a:ext>
                </a:extLst>
              </p:cNvPr>
              <p:cNvSpPr/>
              <p:nvPr/>
            </p:nvSpPr>
            <p:spPr>
              <a:xfrm>
                <a:off x="205473" y="239228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AF5696C-147C-40A5-9DD0-75ABBB6AA487}"/>
              </a:ext>
            </a:extLst>
          </p:cNvPr>
          <p:cNvGrpSpPr/>
          <p:nvPr userDrawn="1"/>
        </p:nvGrpSpPr>
        <p:grpSpPr>
          <a:xfrm>
            <a:off x="0" y="0"/>
            <a:ext cx="1206500" cy="1106886"/>
            <a:chOff x="0" y="0"/>
            <a:chExt cx="3336146" cy="3060700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5BF3F9A6-C122-4294-A096-EC0B00663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028" y="2170"/>
              <a:ext cx="2706118" cy="2465259"/>
            </a:xfrm>
            <a:prstGeom prst="rect">
              <a:avLst/>
            </a:prstGeom>
          </p:spPr>
        </p:pic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FA670319-8C27-49AF-B16A-D3B3AF64587F}"/>
                </a:ext>
              </a:extLst>
            </p:cNvPr>
            <p:cNvGrpSpPr/>
            <p:nvPr/>
          </p:nvGrpSpPr>
          <p:grpSpPr>
            <a:xfrm>
              <a:off x="0" y="0"/>
              <a:ext cx="1983086" cy="3060700"/>
              <a:chOff x="0" y="0"/>
              <a:chExt cx="1983086" cy="3060700"/>
            </a:xfrm>
          </p:grpSpPr>
          <p:sp>
            <p:nvSpPr>
              <p:cNvPr id="32" name="直角三角形 31">
                <a:extLst>
                  <a:ext uri="{FF2B5EF4-FFF2-40B4-BE49-F238E27FC236}">
                    <a16:creationId xmlns:a16="http://schemas.microsoft.com/office/drawing/2014/main" id="{0963C6CE-02DD-452D-B60D-B6A686E1DABE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1983086" cy="3060700"/>
              </a:xfrm>
              <a:prstGeom prst="rtTriangle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平行四边形 32">
                <a:extLst>
                  <a:ext uri="{FF2B5EF4-FFF2-40B4-BE49-F238E27FC236}">
                    <a16:creationId xmlns:a16="http://schemas.microsoft.com/office/drawing/2014/main" id="{40D64535-AB6E-42E4-BCA3-8549412845DA}"/>
                  </a:ext>
                </a:extLst>
              </p:cNvPr>
              <p:cNvSpPr/>
              <p:nvPr/>
            </p:nvSpPr>
            <p:spPr>
              <a:xfrm>
                <a:off x="505256" y="0"/>
                <a:ext cx="1061103" cy="1358900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平行四边形 33">
                <a:extLst>
                  <a:ext uri="{FF2B5EF4-FFF2-40B4-BE49-F238E27FC236}">
                    <a16:creationId xmlns:a16="http://schemas.microsoft.com/office/drawing/2014/main" id="{20E8AE14-2127-445F-A9CE-8A38552DEE17}"/>
                  </a:ext>
                </a:extLst>
              </p:cNvPr>
              <p:cNvSpPr/>
              <p:nvPr/>
            </p:nvSpPr>
            <p:spPr>
              <a:xfrm>
                <a:off x="109538" y="838951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BF4E8B8F-9AF4-4805-923D-BDFFAFB7616B}"/>
                  </a:ext>
                </a:extLst>
              </p:cNvPr>
              <p:cNvSpPr/>
              <p:nvPr/>
            </p:nvSpPr>
            <p:spPr>
              <a:xfrm>
                <a:off x="205473" y="239228"/>
                <a:ext cx="632475" cy="809978"/>
              </a:xfrm>
              <a:prstGeom prst="parallelogram">
                <a:avLst>
                  <a:gd name="adj" fmla="val 853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263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81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16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4" r:id="rId3"/>
    <p:sldLayoutId id="2147483651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6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5.svg"/><Relationship Id="rId7" Type="http://schemas.openxmlformats.org/officeDocument/2006/relationships/image" Target="../media/image1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7.svg"/><Relationship Id="rId10" Type="http://schemas.openxmlformats.org/officeDocument/2006/relationships/image" Target="../media/image21.jpeg"/><Relationship Id="rId4" Type="http://schemas.openxmlformats.org/officeDocument/2006/relationships/image" Target="../media/image16.png"/><Relationship Id="rId9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AAAD6-01CA-9D1C-3844-C0BD0946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954E86D-04A7-D43E-F32F-A226D0B53D55}"/>
              </a:ext>
            </a:extLst>
          </p:cNvPr>
          <p:cNvSpPr txBox="1"/>
          <p:nvPr/>
        </p:nvSpPr>
        <p:spPr>
          <a:xfrm>
            <a:off x="2226342" y="2125154"/>
            <a:ext cx="77393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latinLnBrk="0">
              <a:buNone/>
            </a:pPr>
            <a:r>
              <a:rPr lang="zh-CN" altLang="en-US" sz="4800" b="1" dirty="0">
                <a:solidFill>
                  <a:srgbClr val="1974A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     寻脉乡土</a:t>
            </a:r>
            <a:r>
              <a:rPr lang="en-US" altLang="zh-CN" sz="4800" b="1" dirty="0">
                <a:solidFill>
                  <a:srgbClr val="1974A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·</a:t>
            </a:r>
            <a:r>
              <a:rPr lang="zh-CN" altLang="en-US" sz="4800" b="1" dirty="0">
                <a:solidFill>
                  <a:srgbClr val="1974A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数字赋能</a:t>
            </a:r>
            <a:endParaRPr lang="en-US" altLang="zh-CN" sz="4800" b="1" dirty="0">
              <a:solidFill>
                <a:srgbClr val="1974A2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</a:endParaRPr>
          </a:p>
          <a:p>
            <a:pPr algn="l" rtl="0" latinLnBrk="0">
              <a:buNone/>
            </a:pPr>
            <a:r>
              <a:rPr lang="en-US" altLang="zh-CN" sz="4800" b="1" dirty="0">
                <a:solidFill>
                  <a:srgbClr val="1974A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——</a:t>
            </a:r>
            <a:r>
              <a:rPr lang="zh-CN" altLang="en-US" sz="4800" b="1" dirty="0">
                <a:solidFill>
                  <a:srgbClr val="1974A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乡村振兴实践调研项目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BFD3DA-4D35-3EFA-5ABA-5BE63DE3A5E4}"/>
              </a:ext>
            </a:extLst>
          </p:cNvPr>
          <p:cNvSpPr txBox="1"/>
          <p:nvPr/>
        </p:nvSpPr>
        <p:spPr>
          <a:xfrm>
            <a:off x="3685899" y="4144492"/>
            <a:ext cx="6619147" cy="43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8242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调研团队：李盛鹏 陈灏航 吕奎辰 钟康华</a:t>
            </a:r>
          </a:p>
        </p:txBody>
      </p:sp>
    </p:spTree>
    <p:extLst>
      <p:ext uri="{BB962C8B-B14F-4D97-AF65-F5344CB8AC3E}">
        <p14:creationId xmlns:p14="http://schemas.microsoft.com/office/powerpoint/2010/main" val="422558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B588-4D8C-ED8C-5E24-A6B9AF0D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5975D701-DFF9-FEF8-75DC-6CA8A14ED5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17096A6B-F610-926E-6C5D-371D98928E12}"/>
              </a:ext>
            </a:extLst>
          </p:cNvPr>
          <p:cNvSpPr/>
          <p:nvPr/>
        </p:nvSpPr>
        <p:spPr>
          <a:xfrm>
            <a:off x="3437068" y="1292156"/>
            <a:ext cx="834137" cy="814803"/>
          </a:xfrm>
          <a:prstGeom prst="ellipse">
            <a:avLst/>
          </a:prstGeom>
          <a:solidFill>
            <a:srgbClr val="1974A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38242"/>
              </a:lnSpc>
            </a:pPr>
            <a:r>
              <a:rPr lang="en-US" altLang="zh-CN" sz="20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01</a:t>
            </a:r>
            <a:endParaRPr lang="zh-CN" altLang="en-US" sz="2000" b="1" spc="30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302035-6070-FD7E-60E0-CC4CF729595F}"/>
              </a:ext>
            </a:extLst>
          </p:cNvPr>
          <p:cNvSpPr txBox="1"/>
          <p:nvPr/>
        </p:nvSpPr>
        <p:spPr>
          <a:xfrm>
            <a:off x="5159681" y="1407280"/>
            <a:ext cx="2606342" cy="699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8242"/>
              </a:lnSpc>
            </a:pPr>
            <a:r>
              <a:rPr lang="zh-CN" altLang="en-US" sz="32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项目简介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688163D-7DC2-30E3-2AF3-86BFF9FFF54C}"/>
              </a:ext>
            </a:extLst>
          </p:cNvPr>
          <p:cNvSpPr/>
          <p:nvPr/>
        </p:nvSpPr>
        <p:spPr>
          <a:xfrm>
            <a:off x="3437068" y="2504782"/>
            <a:ext cx="834137" cy="814803"/>
          </a:xfrm>
          <a:prstGeom prst="ellipse">
            <a:avLst/>
          </a:prstGeom>
          <a:solidFill>
            <a:srgbClr val="1974A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38242"/>
              </a:lnSpc>
            </a:pPr>
            <a:r>
              <a:rPr lang="en-US" altLang="zh-CN" sz="20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02</a:t>
            </a:r>
            <a:endParaRPr lang="zh-CN" altLang="en-US" sz="2000" b="1" spc="30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18CB0A4-D3E3-7CAB-EE72-A51B071B7758}"/>
              </a:ext>
            </a:extLst>
          </p:cNvPr>
          <p:cNvSpPr/>
          <p:nvPr/>
        </p:nvSpPr>
        <p:spPr>
          <a:xfrm>
            <a:off x="3437066" y="3696181"/>
            <a:ext cx="834137" cy="814803"/>
          </a:xfrm>
          <a:prstGeom prst="ellipse">
            <a:avLst/>
          </a:prstGeom>
          <a:solidFill>
            <a:srgbClr val="1974A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38242"/>
              </a:lnSpc>
            </a:pPr>
            <a:r>
              <a:rPr lang="en-US" altLang="zh-CN" sz="20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03</a:t>
            </a:r>
            <a:endParaRPr lang="zh-CN" altLang="en-US" sz="2000" b="1" spc="30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C4156B-3813-AF0F-EB44-0E9FD908DB82}"/>
              </a:ext>
            </a:extLst>
          </p:cNvPr>
          <p:cNvSpPr txBox="1"/>
          <p:nvPr/>
        </p:nvSpPr>
        <p:spPr>
          <a:xfrm>
            <a:off x="5159681" y="2504782"/>
            <a:ext cx="2606342" cy="699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8242"/>
              </a:lnSpc>
            </a:pPr>
            <a:r>
              <a:rPr lang="zh-CN" altLang="en-US" sz="32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项目过程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B1A836-E3D7-8D89-4EFA-B8731A5AEB10}"/>
              </a:ext>
            </a:extLst>
          </p:cNvPr>
          <p:cNvSpPr txBox="1"/>
          <p:nvPr/>
        </p:nvSpPr>
        <p:spPr>
          <a:xfrm>
            <a:off x="5159681" y="3811305"/>
            <a:ext cx="2606342" cy="699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8242"/>
              </a:lnSpc>
            </a:pPr>
            <a:r>
              <a:rPr lang="zh-CN" altLang="en-US" sz="32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创新点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73ACE9-C1E4-D2FE-79FA-395F19D5FF91}"/>
              </a:ext>
            </a:extLst>
          </p:cNvPr>
          <p:cNvSpPr txBox="1"/>
          <p:nvPr/>
        </p:nvSpPr>
        <p:spPr>
          <a:xfrm>
            <a:off x="397182" y="239013"/>
            <a:ext cx="2606342" cy="77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8242"/>
              </a:lnSpc>
            </a:pPr>
            <a:r>
              <a:rPr lang="zh-CN" altLang="en-US" sz="36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目录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18CB0A4-D3E3-7CAB-EE72-A51B071B7758}"/>
              </a:ext>
            </a:extLst>
          </p:cNvPr>
          <p:cNvSpPr/>
          <p:nvPr/>
        </p:nvSpPr>
        <p:spPr>
          <a:xfrm>
            <a:off x="3437067" y="4887580"/>
            <a:ext cx="834137" cy="814803"/>
          </a:xfrm>
          <a:prstGeom prst="ellipse">
            <a:avLst/>
          </a:prstGeom>
          <a:solidFill>
            <a:srgbClr val="1974A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38242"/>
              </a:lnSpc>
            </a:pPr>
            <a:r>
              <a:rPr lang="en-US" altLang="zh-CN" sz="20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04</a:t>
            </a:r>
            <a:endParaRPr lang="zh-CN" altLang="en-US" sz="2000" b="1" spc="30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B1A836-E3D7-8D89-4EFA-B8731A5AEB10}"/>
              </a:ext>
            </a:extLst>
          </p:cNvPr>
          <p:cNvSpPr txBox="1"/>
          <p:nvPr/>
        </p:nvSpPr>
        <p:spPr>
          <a:xfrm>
            <a:off x="5159681" y="4945141"/>
            <a:ext cx="2606342" cy="70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8242"/>
              </a:lnSpc>
            </a:pPr>
            <a:r>
              <a:rPr lang="zh-CN" altLang="en-US" sz="32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展望</a:t>
            </a:r>
          </a:p>
        </p:txBody>
      </p:sp>
    </p:spTree>
    <p:extLst>
      <p:ext uri="{BB962C8B-B14F-4D97-AF65-F5344CB8AC3E}">
        <p14:creationId xmlns:p14="http://schemas.microsoft.com/office/powerpoint/2010/main" val="112105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9215A-4C69-8FA2-B774-0A02576E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0959176-7A61-EBD0-B43C-CC60EA580060}"/>
              </a:ext>
            </a:extLst>
          </p:cNvPr>
          <p:cNvGrpSpPr/>
          <p:nvPr/>
        </p:nvGrpSpPr>
        <p:grpSpPr>
          <a:xfrm>
            <a:off x="3281242" y="2469732"/>
            <a:ext cx="4643558" cy="1678647"/>
            <a:chOff x="3281242" y="2469732"/>
            <a:chExt cx="4643558" cy="1678647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BE3AE74-6AEA-5F0D-2214-B7550CB3BE91}"/>
                </a:ext>
              </a:extLst>
            </p:cNvPr>
            <p:cNvGrpSpPr/>
            <p:nvPr/>
          </p:nvGrpSpPr>
          <p:grpSpPr>
            <a:xfrm>
              <a:off x="3281242" y="2469732"/>
              <a:ext cx="1235687" cy="1678647"/>
              <a:chOff x="3527985" y="2373304"/>
              <a:chExt cx="1235687" cy="1678647"/>
            </a:xfrm>
          </p:grpSpPr>
          <p:sp>
            <p:nvSpPr>
              <p:cNvPr id="50" name="平行四边形 49">
                <a:extLst>
                  <a:ext uri="{FF2B5EF4-FFF2-40B4-BE49-F238E27FC236}">
                    <a16:creationId xmlns:a16="http://schemas.microsoft.com/office/drawing/2014/main" id="{30FAC03E-3681-EBB5-6F96-A019D18B88FE}"/>
                  </a:ext>
                </a:extLst>
              </p:cNvPr>
              <p:cNvSpPr/>
              <p:nvPr/>
            </p:nvSpPr>
            <p:spPr>
              <a:xfrm>
                <a:off x="3682638" y="2373304"/>
                <a:ext cx="926380" cy="1678647"/>
              </a:xfrm>
              <a:prstGeom prst="parallelogram">
                <a:avLst>
                  <a:gd name="adj" fmla="val 49473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6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A2D62488-0F86-2F0A-110B-E2E8681D895B}"/>
                  </a:ext>
                </a:extLst>
              </p:cNvPr>
              <p:cNvSpPr/>
              <p:nvPr/>
            </p:nvSpPr>
            <p:spPr>
              <a:xfrm>
                <a:off x="3527985" y="2594785"/>
                <a:ext cx="1235687" cy="1235687"/>
              </a:xfrm>
              <a:prstGeom prst="parallelogram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600" b="1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+mn-lt"/>
                  </a:rPr>
                  <a:t>1</a:t>
                </a:r>
                <a:endParaRPr lang="zh-CN" altLang="en-US" sz="66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82F36B0-B880-8188-F0FC-8753B472FDDC}"/>
                </a:ext>
              </a:extLst>
            </p:cNvPr>
            <p:cNvSpPr txBox="1"/>
            <p:nvPr/>
          </p:nvSpPr>
          <p:spPr>
            <a:xfrm>
              <a:off x="4910703" y="2761076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1974A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项目简介</a:t>
              </a: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7F63824-ADAA-6E97-48EF-0C4397E06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6000" y="3901351"/>
              <a:ext cx="2938800" cy="0"/>
            </a:xfrm>
            <a:prstGeom prst="line">
              <a:avLst/>
            </a:prstGeom>
            <a:ln>
              <a:solidFill>
                <a:srgbClr val="7FCFE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074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9F011-6956-55CE-4D3D-3D8373AB7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5">
            <a:extLst>
              <a:ext uri="{FF2B5EF4-FFF2-40B4-BE49-F238E27FC236}">
                <a16:creationId xmlns:a16="http://schemas.microsoft.com/office/drawing/2014/main" id="{AE84385D-3757-32E5-C3B9-F0A8DB650783}"/>
              </a:ext>
            </a:extLst>
          </p:cNvPr>
          <p:cNvSpPr/>
          <p:nvPr/>
        </p:nvSpPr>
        <p:spPr>
          <a:xfrm>
            <a:off x="660401" y="2488376"/>
            <a:ext cx="10935854" cy="193759"/>
          </a:xfrm>
          <a:custGeom>
            <a:avLst/>
            <a:gdLst>
              <a:gd name="connsiteX0" fmla="*/ 0 w 9683261"/>
              <a:gd name="connsiteY0" fmla="*/ 211015 h 211015"/>
              <a:gd name="connsiteX1" fmla="*/ 9683261 w 9683261"/>
              <a:gd name="connsiteY1" fmla="*/ 211015 h 211015"/>
              <a:gd name="connsiteX2" fmla="*/ 9319846 w 9683261"/>
              <a:gd name="connsiteY2" fmla="*/ 0 h 211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83261" h="211015">
                <a:moveTo>
                  <a:pt x="0" y="211015"/>
                </a:moveTo>
                <a:lnTo>
                  <a:pt x="9683261" y="211015"/>
                </a:lnTo>
                <a:lnTo>
                  <a:pt x="9319846" y="0"/>
                </a:lnTo>
              </a:path>
            </a:pathLst>
          </a:custGeom>
          <a:noFill/>
          <a:ln w="63500">
            <a:solidFill>
              <a:srgbClr val="7FCFED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8242"/>
              </a:lnSpc>
            </a:pPr>
            <a:endParaRPr lang="zh-CN" altLang="en-US">
              <a:solidFill>
                <a:srgbClr val="F7E8C9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6D73153-59D7-3C34-0620-547352FFF75D}"/>
              </a:ext>
            </a:extLst>
          </p:cNvPr>
          <p:cNvGrpSpPr/>
          <p:nvPr/>
        </p:nvGrpSpPr>
        <p:grpSpPr>
          <a:xfrm>
            <a:off x="1031949" y="1508514"/>
            <a:ext cx="2442216" cy="1712605"/>
            <a:chOff x="1031949" y="2745707"/>
            <a:chExt cx="2442216" cy="1712605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E18F7F4-BDB3-7404-97EC-3790AE8BD5F2}"/>
                </a:ext>
              </a:extLst>
            </p:cNvPr>
            <p:cNvSpPr/>
            <p:nvPr/>
          </p:nvSpPr>
          <p:spPr>
            <a:xfrm>
              <a:off x="1728589" y="3409371"/>
              <a:ext cx="1048941" cy="1048941"/>
            </a:xfrm>
            <a:prstGeom prst="ellipse">
              <a:avLst/>
            </a:prstGeom>
            <a:solidFill>
              <a:srgbClr val="1974A2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38242"/>
                </a:lnSpc>
              </a:pPr>
              <a:r>
                <a:rPr lang="en-US" altLang="zh-CN" sz="3600" b="1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01</a:t>
              </a:r>
              <a:endParaRPr lang="zh-CN" altLang="en-US" sz="36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469E3AA-128A-23F9-084D-EF3BF24ABC78}"/>
                </a:ext>
              </a:extLst>
            </p:cNvPr>
            <p:cNvSpPr txBox="1"/>
            <p:nvPr/>
          </p:nvSpPr>
          <p:spPr>
            <a:xfrm>
              <a:off x="1031949" y="2745707"/>
              <a:ext cx="2442216" cy="54784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defRPr sz="2000">
                  <a:solidFill>
                    <a:schemeClr val="accent1"/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国家战略驱动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B055845-E6F1-5250-87EE-62BBD4B60226}"/>
              </a:ext>
            </a:extLst>
          </p:cNvPr>
          <p:cNvGrpSpPr/>
          <p:nvPr/>
        </p:nvGrpSpPr>
        <p:grpSpPr>
          <a:xfrm>
            <a:off x="3613530" y="1508514"/>
            <a:ext cx="2387549" cy="1712605"/>
            <a:chOff x="3613530" y="2745707"/>
            <a:chExt cx="2387549" cy="1712605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3B8F052-0812-DAEE-83A5-7D7B20AFC785}"/>
                </a:ext>
              </a:extLst>
            </p:cNvPr>
            <p:cNvSpPr/>
            <p:nvPr/>
          </p:nvSpPr>
          <p:spPr>
            <a:xfrm>
              <a:off x="4282835" y="3409371"/>
              <a:ext cx="1048941" cy="1048941"/>
            </a:xfrm>
            <a:prstGeom prst="ellipse">
              <a:avLst/>
            </a:prstGeom>
            <a:solidFill>
              <a:srgbClr val="7FCFED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38242"/>
                </a:lnSpc>
              </a:pPr>
              <a:r>
                <a:rPr lang="en-US" altLang="zh-CN" sz="3600" b="1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02</a:t>
              </a:r>
              <a:endParaRPr lang="zh-CN" altLang="en-US" sz="36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F260A99-B245-9FA1-9C6E-344B4AD77696}"/>
                </a:ext>
              </a:extLst>
            </p:cNvPr>
            <p:cNvSpPr txBox="1"/>
            <p:nvPr/>
          </p:nvSpPr>
          <p:spPr>
            <a:xfrm>
              <a:off x="3613530" y="2745707"/>
              <a:ext cx="2387549" cy="54784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defRPr sz="2000">
                  <a:solidFill>
                    <a:schemeClr val="accent1"/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4A2"/>
                  </a:solidFill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现实困境突出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88C32D6-8F0E-54CB-2DDA-7609D6473A56}"/>
              </a:ext>
            </a:extLst>
          </p:cNvPr>
          <p:cNvGrpSpPr/>
          <p:nvPr/>
        </p:nvGrpSpPr>
        <p:grpSpPr>
          <a:xfrm>
            <a:off x="6167201" y="1508514"/>
            <a:ext cx="2430698" cy="1712605"/>
            <a:chOff x="6167201" y="2745707"/>
            <a:chExt cx="2430698" cy="171260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E9F039B-ED98-1B33-6C8C-736869D26338}"/>
                </a:ext>
              </a:extLst>
            </p:cNvPr>
            <p:cNvSpPr/>
            <p:nvPr/>
          </p:nvSpPr>
          <p:spPr>
            <a:xfrm>
              <a:off x="6837081" y="3409371"/>
              <a:ext cx="1048941" cy="1048941"/>
            </a:xfrm>
            <a:prstGeom prst="ellipse">
              <a:avLst/>
            </a:prstGeom>
            <a:solidFill>
              <a:srgbClr val="1974A2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38242"/>
                </a:lnSpc>
              </a:pPr>
              <a:r>
                <a:rPr lang="en-US" altLang="zh-CN" sz="3600" b="1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03</a:t>
              </a:r>
              <a:endParaRPr lang="zh-CN" altLang="en-US" sz="36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84E8D0F-E148-D1A5-4074-7108A5B14CB0}"/>
                </a:ext>
              </a:extLst>
            </p:cNvPr>
            <p:cNvSpPr txBox="1"/>
            <p:nvPr/>
          </p:nvSpPr>
          <p:spPr>
            <a:xfrm>
              <a:off x="6167201" y="2745707"/>
              <a:ext cx="2430698" cy="54784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defRPr sz="2000">
                  <a:solidFill>
                    <a:schemeClr val="accent1"/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4A2"/>
                  </a:solidFill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本地资源禀赋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F34C8F2-A8A6-224C-E991-0A51C687DDA2}"/>
              </a:ext>
            </a:extLst>
          </p:cNvPr>
          <p:cNvGrpSpPr/>
          <p:nvPr/>
        </p:nvGrpSpPr>
        <p:grpSpPr>
          <a:xfrm>
            <a:off x="8764021" y="1508514"/>
            <a:ext cx="2303551" cy="1712605"/>
            <a:chOff x="8764021" y="2745707"/>
            <a:chExt cx="2303551" cy="1712605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5AC180E-0FE9-B171-7935-3AFD057134D1}"/>
                </a:ext>
              </a:extLst>
            </p:cNvPr>
            <p:cNvSpPr/>
            <p:nvPr/>
          </p:nvSpPr>
          <p:spPr>
            <a:xfrm>
              <a:off x="9391327" y="3409371"/>
              <a:ext cx="1048941" cy="1048941"/>
            </a:xfrm>
            <a:prstGeom prst="ellipse">
              <a:avLst/>
            </a:prstGeom>
            <a:solidFill>
              <a:srgbClr val="7FCFED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38242"/>
                </a:lnSpc>
              </a:pPr>
              <a:r>
                <a:rPr lang="en-US" altLang="zh-CN" sz="3600" b="1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04</a:t>
              </a:r>
              <a:endParaRPr lang="zh-CN" altLang="en-US" sz="36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4F86D8B-B2DF-53CF-BF73-E57A725F560A}"/>
                </a:ext>
              </a:extLst>
            </p:cNvPr>
            <p:cNvSpPr txBox="1"/>
            <p:nvPr/>
          </p:nvSpPr>
          <p:spPr>
            <a:xfrm>
              <a:off x="8764021" y="2745707"/>
              <a:ext cx="2303551" cy="54784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defRPr sz="2000">
                  <a:solidFill>
                    <a:schemeClr val="accent1"/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4A2"/>
                  </a:solidFill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技术机遇显现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99325D3A-E188-FDA5-CDD5-04AA2A317785}"/>
              </a:ext>
            </a:extLst>
          </p:cNvPr>
          <p:cNvSpPr txBox="1"/>
          <p:nvPr/>
        </p:nvSpPr>
        <p:spPr>
          <a:xfrm>
            <a:off x="1053981" y="412090"/>
            <a:ext cx="1723549" cy="661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8242"/>
              </a:lnSpc>
            </a:pPr>
            <a:r>
              <a:rPr lang="zh-CN" altLang="en-US" sz="30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项目背景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10D6DAA-EA7F-13D5-A9AE-4B06853CC4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437E5B3-A6BF-FCBB-7A14-9A01DCAD9C65}"/>
              </a:ext>
            </a:extLst>
          </p:cNvPr>
          <p:cNvSpPr/>
          <p:nvPr/>
        </p:nvSpPr>
        <p:spPr>
          <a:xfrm>
            <a:off x="938103" y="3429000"/>
            <a:ext cx="2393592" cy="2101271"/>
          </a:xfrm>
          <a:prstGeom prst="rect">
            <a:avLst/>
          </a:prstGeom>
          <a:solidFill>
            <a:srgbClr val="197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8242"/>
              </a:lnSpc>
            </a:pPr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2C12F9F-CC66-0CBC-C9BB-387CF30510E0}"/>
              </a:ext>
            </a:extLst>
          </p:cNvPr>
          <p:cNvSpPr txBox="1"/>
          <p:nvPr/>
        </p:nvSpPr>
        <p:spPr>
          <a:xfrm>
            <a:off x="966426" y="3927801"/>
            <a:ext cx="2329096" cy="988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乡村振兴 </a:t>
            </a:r>
            <a:r>
              <a:rPr lang="en-US" altLang="zh-CN" b="1" dirty="0">
                <a:solidFill>
                  <a:schemeClr val="bg1"/>
                </a:solidFill>
              </a:rPr>
              <a:t>+ </a:t>
            </a:r>
            <a:r>
              <a:rPr lang="zh-CN" altLang="en-US" b="1" dirty="0">
                <a:solidFill>
                  <a:schemeClr val="bg1"/>
                </a:solidFill>
              </a:rPr>
              <a:t>数字中国 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双重政策叠加  </a:t>
            </a:r>
            <a:endParaRPr lang="en-US" altLang="zh-CN" b="1" dirty="0">
              <a:solidFill>
                <a:schemeClr val="bg1"/>
              </a:solidFill>
            </a:endParaRPr>
          </a:p>
          <a:p>
            <a:pPr>
              <a:lnSpc>
                <a:spcPct val="138242"/>
              </a:lnSpc>
            </a:pPr>
            <a:endParaRPr lang="en-US" altLang="zh-CN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5736929-3FF0-0ED0-9428-17848E724E6A}"/>
              </a:ext>
            </a:extLst>
          </p:cNvPr>
          <p:cNvSpPr/>
          <p:nvPr/>
        </p:nvSpPr>
        <p:spPr>
          <a:xfrm>
            <a:off x="3541406" y="3429000"/>
            <a:ext cx="2459984" cy="2101271"/>
          </a:xfrm>
          <a:prstGeom prst="rect">
            <a:avLst/>
          </a:prstGeom>
          <a:solidFill>
            <a:srgbClr val="7FC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8242"/>
              </a:lnSpc>
            </a:pPr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67F44E-8B9A-5B25-285C-7C92E99522A4}"/>
              </a:ext>
            </a:extLst>
          </p:cNvPr>
          <p:cNvSpPr txBox="1"/>
          <p:nvPr/>
        </p:nvSpPr>
        <p:spPr>
          <a:xfrm>
            <a:off x="3557796" y="3915831"/>
            <a:ext cx="2482704" cy="154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传统文化传承乏力</a:t>
            </a:r>
          </a:p>
          <a:p>
            <a:r>
              <a:rPr lang="zh-CN" altLang="en-US" b="1" dirty="0">
                <a:solidFill>
                  <a:schemeClr val="bg1"/>
                </a:solidFill>
              </a:rPr>
              <a:t>青年人才持续外流</a:t>
            </a:r>
          </a:p>
          <a:p>
            <a:r>
              <a:rPr lang="zh-CN" altLang="en-US" b="1" dirty="0">
                <a:solidFill>
                  <a:schemeClr val="bg1"/>
                </a:solidFill>
              </a:rPr>
              <a:t>乡村产业缺乏科技支撑</a:t>
            </a: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pPr>
              <a:lnSpc>
                <a:spcPct val="138242"/>
              </a:lnSpc>
            </a:pPr>
            <a:endParaRPr lang="en-US" altLang="zh-CN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573335C-9D46-2DE8-2CA2-DBB86E7D0F52}"/>
              </a:ext>
            </a:extLst>
          </p:cNvPr>
          <p:cNvSpPr/>
          <p:nvPr/>
        </p:nvSpPr>
        <p:spPr>
          <a:xfrm>
            <a:off x="6189145" y="3429000"/>
            <a:ext cx="2482704" cy="2101271"/>
          </a:xfrm>
          <a:prstGeom prst="rect">
            <a:avLst/>
          </a:prstGeom>
          <a:solidFill>
            <a:srgbClr val="197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8242"/>
              </a:lnSpc>
            </a:pPr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C1B3F5-F535-A133-3721-9D642B7A8FC1}"/>
              </a:ext>
            </a:extLst>
          </p:cNvPr>
          <p:cNvSpPr txBox="1"/>
          <p:nvPr/>
        </p:nvSpPr>
        <p:spPr>
          <a:xfrm>
            <a:off x="6189145" y="3759398"/>
            <a:ext cx="2482704" cy="209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高山村：</a:t>
            </a:r>
            <a:r>
              <a:rPr lang="en-US" altLang="zh-CN" b="1" dirty="0">
                <a:solidFill>
                  <a:schemeClr val="bg1"/>
                </a:solidFill>
              </a:rPr>
              <a:t>600</a:t>
            </a:r>
            <a:r>
              <a:rPr lang="zh-CN" altLang="en-US" b="1" dirty="0">
                <a:solidFill>
                  <a:schemeClr val="bg1"/>
                </a:solidFill>
              </a:rPr>
              <a:t>年宗祠文化、活态国学教育</a:t>
            </a:r>
          </a:p>
          <a:p>
            <a:r>
              <a:rPr lang="zh-CN" altLang="en-US" b="1" dirty="0">
                <a:solidFill>
                  <a:schemeClr val="bg1"/>
                </a:solidFill>
              </a:rPr>
              <a:t>万花楼：南宋地标重建，承载“玉林八景”与科举记忆</a:t>
            </a: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pPr>
              <a:lnSpc>
                <a:spcPct val="138242"/>
              </a:lnSpc>
            </a:pPr>
            <a:endParaRPr lang="en-US" altLang="zh-CN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59C033F-F47F-69A0-C7B7-E8A8A8F83CEB}"/>
              </a:ext>
            </a:extLst>
          </p:cNvPr>
          <p:cNvSpPr/>
          <p:nvPr/>
        </p:nvSpPr>
        <p:spPr>
          <a:xfrm>
            <a:off x="8834232" y="3429000"/>
            <a:ext cx="2355183" cy="2101271"/>
          </a:xfrm>
          <a:prstGeom prst="rect">
            <a:avLst/>
          </a:prstGeom>
          <a:solidFill>
            <a:srgbClr val="7FC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8242"/>
              </a:lnSpc>
            </a:pPr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1F46D73-DED8-C75B-3DE3-19B8C877D932}"/>
              </a:ext>
            </a:extLst>
          </p:cNvPr>
          <p:cNvSpPr txBox="1"/>
          <p:nvPr/>
        </p:nvSpPr>
        <p:spPr>
          <a:xfrm>
            <a:off x="8870392" y="3817613"/>
            <a:ext cx="2355182" cy="1265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AI</a:t>
            </a:r>
            <a:r>
              <a:rPr lang="zh-CN" altLang="en-US" b="1" dirty="0">
                <a:solidFill>
                  <a:schemeClr val="bg1"/>
                </a:solidFill>
              </a:rPr>
              <a:t>、大数据、</a:t>
            </a:r>
            <a:r>
              <a:rPr lang="en-US" altLang="zh-CN" b="1" dirty="0">
                <a:solidFill>
                  <a:schemeClr val="bg1"/>
                </a:solidFill>
              </a:rPr>
              <a:t>VR</a:t>
            </a:r>
            <a:r>
              <a:rPr lang="zh-CN" altLang="en-US" b="1" dirty="0">
                <a:solidFill>
                  <a:schemeClr val="bg1"/>
                </a:solidFill>
              </a:rPr>
              <a:t>等数字工具可低成本赋能小微主体</a:t>
            </a:r>
            <a:endParaRPr lang="en-US" altLang="zh-CN" b="1" dirty="0">
              <a:solidFill>
                <a:schemeClr val="bg1"/>
              </a:solidFill>
            </a:endParaRPr>
          </a:p>
          <a:p>
            <a:pPr>
              <a:lnSpc>
                <a:spcPct val="138242"/>
              </a:lnSpc>
            </a:pPr>
            <a:endParaRPr lang="en-US" altLang="zh-CN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066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56DF8-AF04-97CC-E976-F2B26111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C201AC86-2FE2-4C59-849B-BD950EBCAE10}"/>
              </a:ext>
            </a:extLst>
          </p:cNvPr>
          <p:cNvSpPr txBox="1"/>
          <p:nvPr/>
        </p:nvSpPr>
        <p:spPr>
          <a:xfrm>
            <a:off x="391101" y="1588560"/>
            <a:ext cx="5553150" cy="3680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38242"/>
              </a:lnSpc>
            </a:pPr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本项目由同济大学四名同学组成实践团队，于</a:t>
            </a:r>
            <a:r>
              <a:rPr lang="en-US" altLang="zh-C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2025</a:t>
            </a:r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年</a:t>
            </a:r>
            <a:r>
              <a:rPr lang="en-US" altLang="zh-C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7</a:t>
            </a:r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月下旬赴广西玉林市玉州区开展实地调研。</a:t>
            </a:r>
            <a:endParaRPr lang="en-US" altLang="zh-CN" sz="19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</a:endParaRPr>
          </a:p>
          <a:p>
            <a:pPr indent="457200">
              <a:lnSpc>
                <a:spcPct val="138242"/>
              </a:lnSpc>
            </a:pPr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我们聚焦“文化基因挖掘”与“数字技术赋能”两大主线，深入高山村、万花楼文旅城及玉柴集团三大典型场景，通过田野访谈、企业参访、政校座谈等方式，系统梳理乡村文化资源现状，并探索数字技术在文旅推广、农业监测、文创开发等领域的落地路径。项目旨在形成可复制、可持续的“数字</a:t>
            </a:r>
            <a:r>
              <a:rPr lang="en-US" altLang="zh-C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+</a:t>
            </a:r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文化”乡村振兴模式。</a:t>
            </a:r>
            <a:endParaRPr lang="zh-CN" altLang="en-US" sz="19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ACCDB77-E2F4-C085-353F-5A581EACD5D7}"/>
              </a:ext>
            </a:extLst>
          </p:cNvPr>
          <p:cNvSpPr txBox="1"/>
          <p:nvPr/>
        </p:nvSpPr>
        <p:spPr>
          <a:xfrm>
            <a:off x="788184" y="609575"/>
            <a:ext cx="2153538" cy="661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8242"/>
              </a:lnSpc>
            </a:pPr>
            <a:r>
              <a:rPr lang="zh-CN" altLang="en-US" sz="30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项目简介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8C97851-C40E-904A-7692-AAACE1D747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E4170A29-FE0D-BD4D-8C29-F506629292D3}"/>
              </a:ext>
            </a:extLst>
          </p:cNvPr>
          <p:cNvGrpSpPr/>
          <p:nvPr/>
        </p:nvGrpSpPr>
        <p:grpSpPr>
          <a:xfrm>
            <a:off x="6477722" y="1665981"/>
            <a:ext cx="5010423" cy="3603458"/>
            <a:chOff x="6404427" y="1467853"/>
            <a:chExt cx="5010423" cy="3603458"/>
          </a:xfrm>
        </p:grpSpPr>
        <p:pic>
          <p:nvPicPr>
            <p:cNvPr id="4" name="图片 3" descr="IMG_3472">
              <a:extLst>
                <a:ext uri="{FF2B5EF4-FFF2-40B4-BE49-F238E27FC236}">
                  <a16:creationId xmlns:a16="http://schemas.microsoft.com/office/drawing/2014/main" id="{FB2D29BA-395E-1B11-C648-0D6E772F6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4318" y="3228985"/>
              <a:ext cx="2495322" cy="1842326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185A5D2-67D5-5110-1897-163838880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09639" y="1467853"/>
              <a:ext cx="2505211" cy="1761132"/>
            </a:xfrm>
            <a:prstGeom prst="rect">
              <a:avLst/>
            </a:prstGeom>
          </p:spPr>
        </p:pic>
        <p:pic>
          <p:nvPicPr>
            <p:cNvPr id="11" name="图片 10" descr="全景">
              <a:extLst>
                <a:ext uri="{FF2B5EF4-FFF2-40B4-BE49-F238E27FC236}">
                  <a16:creationId xmlns:a16="http://schemas.microsoft.com/office/drawing/2014/main" id="{568ED058-7C39-75A9-E630-108BE9A5F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10748" y="3228985"/>
              <a:ext cx="2504102" cy="1842326"/>
            </a:xfrm>
            <a:prstGeom prst="rect">
              <a:avLst/>
            </a:prstGeom>
          </p:spPr>
        </p:pic>
        <p:pic>
          <p:nvPicPr>
            <p:cNvPr id="15" name="图片 14" descr="IMG_256">
              <a:extLst>
                <a:ext uri="{FF2B5EF4-FFF2-40B4-BE49-F238E27FC236}">
                  <a16:creationId xmlns:a16="http://schemas.microsoft.com/office/drawing/2014/main" id="{7576EE32-F24F-E010-5D21-64D66B20C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4427" y="1467853"/>
              <a:ext cx="2505212" cy="176113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520437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156B230-61DF-4CEA-8021-F8D56ACB7B3E}"/>
              </a:ext>
            </a:extLst>
          </p:cNvPr>
          <p:cNvGrpSpPr/>
          <p:nvPr/>
        </p:nvGrpSpPr>
        <p:grpSpPr>
          <a:xfrm>
            <a:off x="3281242" y="2469732"/>
            <a:ext cx="4643558" cy="1678647"/>
            <a:chOff x="3281242" y="2469732"/>
            <a:chExt cx="4643558" cy="1678647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7089B40-0F99-4960-A1DD-10038BC08664}"/>
                </a:ext>
              </a:extLst>
            </p:cNvPr>
            <p:cNvGrpSpPr/>
            <p:nvPr/>
          </p:nvGrpSpPr>
          <p:grpSpPr>
            <a:xfrm>
              <a:off x="3281242" y="2469732"/>
              <a:ext cx="1235687" cy="1678647"/>
              <a:chOff x="3527985" y="2373304"/>
              <a:chExt cx="1235687" cy="1678647"/>
            </a:xfrm>
          </p:grpSpPr>
          <p:sp>
            <p:nvSpPr>
              <p:cNvPr id="50" name="平行四边形 49">
                <a:extLst>
                  <a:ext uri="{FF2B5EF4-FFF2-40B4-BE49-F238E27FC236}">
                    <a16:creationId xmlns:a16="http://schemas.microsoft.com/office/drawing/2014/main" id="{D4E0D57B-9550-4053-AA89-4B296D4AEB8A}"/>
                  </a:ext>
                </a:extLst>
              </p:cNvPr>
              <p:cNvSpPr/>
              <p:nvPr/>
            </p:nvSpPr>
            <p:spPr>
              <a:xfrm>
                <a:off x="3682638" y="2373304"/>
                <a:ext cx="926380" cy="1678647"/>
              </a:xfrm>
              <a:prstGeom prst="parallelogram">
                <a:avLst>
                  <a:gd name="adj" fmla="val 49473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6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FAEE11E3-9820-4292-96F5-6082DE13A318}"/>
                  </a:ext>
                </a:extLst>
              </p:cNvPr>
              <p:cNvSpPr/>
              <p:nvPr/>
            </p:nvSpPr>
            <p:spPr>
              <a:xfrm>
                <a:off x="3527985" y="2594785"/>
                <a:ext cx="1235687" cy="1235687"/>
              </a:xfrm>
              <a:prstGeom prst="parallelogram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600" b="1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+mn-lt"/>
                  </a:rPr>
                  <a:t>2</a:t>
                </a:r>
                <a:endParaRPr lang="zh-CN" altLang="en-US" sz="66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48FC187-3B15-4427-92CA-90AC34055396}"/>
                </a:ext>
              </a:extLst>
            </p:cNvPr>
            <p:cNvSpPr txBox="1"/>
            <p:nvPr/>
          </p:nvSpPr>
          <p:spPr>
            <a:xfrm>
              <a:off x="4910703" y="2761076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1974A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项目过程</a:t>
              </a: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5041735-9025-40B3-AE7C-D0AA1B4CF0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6000" y="3901351"/>
              <a:ext cx="2938800" cy="0"/>
            </a:xfrm>
            <a:prstGeom prst="line">
              <a:avLst/>
            </a:prstGeom>
            <a:ln>
              <a:solidFill>
                <a:srgbClr val="7FCFE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608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B966-0CDF-3E89-66F5-C0E6FC543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5">
            <a:extLst>
              <a:ext uri="{FF2B5EF4-FFF2-40B4-BE49-F238E27FC236}">
                <a16:creationId xmlns:a16="http://schemas.microsoft.com/office/drawing/2014/main" id="{13473FD5-2C49-1469-3ED3-4FB4A9EF651C}"/>
              </a:ext>
            </a:extLst>
          </p:cNvPr>
          <p:cNvSpPr/>
          <p:nvPr/>
        </p:nvSpPr>
        <p:spPr>
          <a:xfrm>
            <a:off x="660401" y="3725569"/>
            <a:ext cx="10935854" cy="193759"/>
          </a:xfrm>
          <a:custGeom>
            <a:avLst/>
            <a:gdLst>
              <a:gd name="connsiteX0" fmla="*/ 0 w 9683261"/>
              <a:gd name="connsiteY0" fmla="*/ 211015 h 211015"/>
              <a:gd name="connsiteX1" fmla="*/ 9683261 w 9683261"/>
              <a:gd name="connsiteY1" fmla="*/ 211015 h 211015"/>
              <a:gd name="connsiteX2" fmla="*/ 9319846 w 9683261"/>
              <a:gd name="connsiteY2" fmla="*/ 0 h 211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83261" h="211015">
                <a:moveTo>
                  <a:pt x="0" y="211015"/>
                </a:moveTo>
                <a:lnTo>
                  <a:pt x="9683261" y="211015"/>
                </a:lnTo>
                <a:lnTo>
                  <a:pt x="9319846" y="0"/>
                </a:lnTo>
              </a:path>
            </a:pathLst>
          </a:custGeom>
          <a:noFill/>
          <a:ln w="63500">
            <a:solidFill>
              <a:srgbClr val="7FCFED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8242"/>
              </a:lnSpc>
            </a:pPr>
            <a:endParaRPr lang="zh-CN" altLang="en-US">
              <a:solidFill>
                <a:srgbClr val="F7E8C9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0BA9F19-7CBD-E40F-350E-F372CD6C97FF}"/>
              </a:ext>
            </a:extLst>
          </p:cNvPr>
          <p:cNvGrpSpPr/>
          <p:nvPr/>
        </p:nvGrpSpPr>
        <p:grpSpPr>
          <a:xfrm>
            <a:off x="1293589" y="2665502"/>
            <a:ext cx="1918939" cy="1792810"/>
            <a:chOff x="1293589" y="2665502"/>
            <a:chExt cx="1918939" cy="179281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56227EF-7CD4-FD91-0AEC-FDE9918CB1B9}"/>
                </a:ext>
              </a:extLst>
            </p:cNvPr>
            <p:cNvSpPr/>
            <p:nvPr/>
          </p:nvSpPr>
          <p:spPr>
            <a:xfrm>
              <a:off x="1728589" y="3409371"/>
              <a:ext cx="1048941" cy="1048941"/>
            </a:xfrm>
            <a:prstGeom prst="ellipse">
              <a:avLst/>
            </a:prstGeom>
            <a:solidFill>
              <a:srgbClr val="1974A2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38242"/>
                </a:lnSpc>
              </a:pPr>
              <a:r>
                <a:rPr lang="en-US" altLang="zh-CN" sz="3600" b="1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01</a:t>
              </a:r>
              <a:endParaRPr lang="zh-CN" altLang="en-US" sz="36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4F4E8C5-A626-D012-5FDD-3184E9018B7F}"/>
                </a:ext>
              </a:extLst>
            </p:cNvPr>
            <p:cNvSpPr txBox="1"/>
            <p:nvPr/>
          </p:nvSpPr>
          <p:spPr>
            <a:xfrm>
              <a:off x="1293589" y="2665502"/>
              <a:ext cx="1918939" cy="63299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defRPr sz="2000">
                  <a:solidFill>
                    <a:schemeClr val="accent1"/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38242"/>
                </a:lnSpc>
              </a:pPr>
              <a:r>
                <a:rPr lang="zh-CN" altLang="en-US" sz="28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田野调查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A1342C9-0ABB-055A-2AF7-C335AB762F67}"/>
              </a:ext>
            </a:extLst>
          </p:cNvPr>
          <p:cNvGrpSpPr/>
          <p:nvPr/>
        </p:nvGrpSpPr>
        <p:grpSpPr>
          <a:xfrm>
            <a:off x="3847835" y="2642124"/>
            <a:ext cx="1918939" cy="1816188"/>
            <a:chOff x="3847835" y="2642124"/>
            <a:chExt cx="1918939" cy="1816188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AA17402-9340-7B33-A88F-E06CFE83DB19}"/>
                </a:ext>
              </a:extLst>
            </p:cNvPr>
            <p:cNvSpPr/>
            <p:nvPr/>
          </p:nvSpPr>
          <p:spPr>
            <a:xfrm>
              <a:off x="4282835" y="3409371"/>
              <a:ext cx="1048941" cy="1048941"/>
            </a:xfrm>
            <a:prstGeom prst="ellipse">
              <a:avLst/>
            </a:prstGeom>
            <a:solidFill>
              <a:srgbClr val="7FCFED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38242"/>
                </a:lnSpc>
              </a:pPr>
              <a:r>
                <a:rPr lang="en-US" altLang="zh-CN" sz="3600" b="1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02</a:t>
              </a:r>
              <a:endParaRPr lang="zh-CN" altLang="en-US" sz="36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634EE8C-0CAE-53FB-5CFE-647E9DBF4211}"/>
                </a:ext>
              </a:extLst>
            </p:cNvPr>
            <p:cNvSpPr txBox="1"/>
            <p:nvPr/>
          </p:nvSpPr>
          <p:spPr>
            <a:xfrm>
              <a:off x="3847835" y="2642124"/>
              <a:ext cx="1918939" cy="63299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defRPr sz="2000">
                  <a:solidFill>
                    <a:schemeClr val="accent1"/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38242"/>
                </a:lnSpc>
              </a:pPr>
              <a:r>
                <a:rPr lang="zh-CN" altLang="en-US" sz="28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企业参访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E6B9614-07F6-86E3-AD98-E07EDE904461}"/>
              </a:ext>
            </a:extLst>
          </p:cNvPr>
          <p:cNvGrpSpPr/>
          <p:nvPr/>
        </p:nvGrpSpPr>
        <p:grpSpPr>
          <a:xfrm>
            <a:off x="6235384" y="2650222"/>
            <a:ext cx="2199657" cy="1808090"/>
            <a:chOff x="6235384" y="2650222"/>
            <a:chExt cx="2199657" cy="1808090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898503F-25BB-8B88-D20A-B0EFA8D3182B}"/>
                </a:ext>
              </a:extLst>
            </p:cNvPr>
            <p:cNvSpPr/>
            <p:nvPr/>
          </p:nvSpPr>
          <p:spPr>
            <a:xfrm>
              <a:off x="6837081" y="3409371"/>
              <a:ext cx="1048941" cy="1048941"/>
            </a:xfrm>
            <a:prstGeom prst="ellipse">
              <a:avLst/>
            </a:prstGeom>
            <a:solidFill>
              <a:srgbClr val="1974A2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38242"/>
                </a:lnSpc>
              </a:pPr>
              <a:r>
                <a:rPr lang="en-US" altLang="zh-CN" sz="3600" b="1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03</a:t>
              </a:r>
              <a:endParaRPr lang="zh-CN" altLang="en-US" sz="36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FD9A6B3-90A5-AD43-8EF1-547FAC1F7BF7}"/>
                </a:ext>
              </a:extLst>
            </p:cNvPr>
            <p:cNvSpPr txBox="1"/>
            <p:nvPr/>
          </p:nvSpPr>
          <p:spPr>
            <a:xfrm>
              <a:off x="6235384" y="2650222"/>
              <a:ext cx="2199657" cy="62382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defRPr sz="2000">
                  <a:solidFill>
                    <a:schemeClr val="accent1"/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38242"/>
                </a:lnSpc>
              </a:pPr>
              <a:r>
                <a:rPr lang="zh-CN" altLang="en-US" sz="28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文化记录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8AABAF1-28ED-D83B-E45C-26D4D9C39A53}"/>
              </a:ext>
            </a:extLst>
          </p:cNvPr>
          <p:cNvGrpSpPr/>
          <p:nvPr/>
        </p:nvGrpSpPr>
        <p:grpSpPr>
          <a:xfrm>
            <a:off x="8764021" y="2665502"/>
            <a:ext cx="2303551" cy="1792810"/>
            <a:chOff x="8764021" y="2665502"/>
            <a:chExt cx="2303551" cy="179281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C662016-234E-4EC9-F333-34310F55F4E6}"/>
                </a:ext>
              </a:extLst>
            </p:cNvPr>
            <p:cNvSpPr/>
            <p:nvPr/>
          </p:nvSpPr>
          <p:spPr>
            <a:xfrm>
              <a:off x="9391327" y="3409371"/>
              <a:ext cx="1048941" cy="1048941"/>
            </a:xfrm>
            <a:prstGeom prst="ellipse">
              <a:avLst/>
            </a:prstGeom>
            <a:solidFill>
              <a:srgbClr val="7FCFED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38242"/>
                </a:lnSpc>
              </a:pPr>
              <a:r>
                <a:rPr lang="en-US" altLang="zh-CN" sz="3600" b="1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04</a:t>
              </a:r>
              <a:endParaRPr lang="zh-CN" altLang="en-US" sz="3600" b="1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E7EBE85-25CD-2254-D298-11C02681E3CD}"/>
                </a:ext>
              </a:extLst>
            </p:cNvPr>
            <p:cNvSpPr txBox="1"/>
            <p:nvPr/>
          </p:nvSpPr>
          <p:spPr>
            <a:xfrm>
              <a:off x="8764021" y="2665502"/>
              <a:ext cx="2303551" cy="62382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defRPr sz="2000">
                  <a:solidFill>
                    <a:schemeClr val="accent1"/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38242"/>
                </a:lnSpc>
              </a:pPr>
              <a:r>
                <a:rPr lang="zh-CN" altLang="en-US" sz="28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座谈会交流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6EFD0FD5-1A2D-EF2C-4A98-81F2A22A67A1}"/>
              </a:ext>
            </a:extLst>
          </p:cNvPr>
          <p:cNvSpPr txBox="1"/>
          <p:nvPr/>
        </p:nvSpPr>
        <p:spPr>
          <a:xfrm>
            <a:off x="3345906" y="306729"/>
            <a:ext cx="4224233" cy="756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8242"/>
              </a:lnSpc>
            </a:pPr>
            <a:r>
              <a:rPr lang="zh-CN" altLang="en-US" sz="35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项目启动与整体安排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A7E84F0-A1CD-6AED-18AA-1D7C143E10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B586E1BC-8F2E-E38C-FDFD-4C48717EEFBD}"/>
              </a:ext>
            </a:extLst>
          </p:cNvPr>
          <p:cNvGrpSpPr/>
          <p:nvPr/>
        </p:nvGrpSpPr>
        <p:grpSpPr>
          <a:xfrm>
            <a:off x="3429941" y="1284554"/>
            <a:ext cx="4600108" cy="484054"/>
            <a:chOff x="1985858" y="1491727"/>
            <a:chExt cx="4600108" cy="484054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0F71D0E0-F489-5851-87AA-48EF08F2C06D}"/>
                </a:ext>
              </a:extLst>
            </p:cNvPr>
            <p:cNvGrpSpPr/>
            <p:nvPr/>
          </p:nvGrpSpPr>
          <p:grpSpPr>
            <a:xfrm>
              <a:off x="1985858" y="1491727"/>
              <a:ext cx="1387522" cy="484054"/>
              <a:chOff x="1985858" y="1491727"/>
              <a:chExt cx="1387522" cy="484054"/>
            </a:xfrm>
          </p:grpSpPr>
          <p:sp>
            <p:nvSpPr>
              <p:cNvPr id="26" name="圆角矩形 13">
                <a:extLst>
                  <a:ext uri="{FF2B5EF4-FFF2-40B4-BE49-F238E27FC236}">
                    <a16:creationId xmlns:a16="http://schemas.microsoft.com/office/drawing/2014/main" id="{9B7436AD-3B8F-8E62-3F94-29B030E3E29C}"/>
                  </a:ext>
                </a:extLst>
              </p:cNvPr>
              <p:cNvSpPr/>
              <p:nvPr/>
            </p:nvSpPr>
            <p:spPr>
              <a:xfrm>
                <a:off x="1985858" y="1546659"/>
                <a:ext cx="1387522" cy="429122"/>
              </a:xfrm>
              <a:prstGeom prst="roundRect">
                <a:avLst>
                  <a:gd name="adj" fmla="val 50000"/>
                </a:avLst>
              </a:prstGeom>
              <a:solidFill>
                <a:srgbClr val="1974A2"/>
              </a:solidFill>
              <a:ln>
                <a:solidFill>
                  <a:srgbClr val="1974A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lnSpc>
                    <a:spcPct val="138242"/>
                  </a:lnSpc>
                </a:pPr>
                <a:endParaRPr lang="zh-CN" altLang="en-US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F1DFB83-99E7-34CF-A051-C8BC5A7B2208}"/>
                  </a:ext>
                </a:extLst>
              </p:cNvPr>
              <p:cNvSpPr/>
              <p:nvPr/>
            </p:nvSpPr>
            <p:spPr>
              <a:xfrm>
                <a:off x="2159203" y="1491727"/>
                <a:ext cx="1107996" cy="434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auto">
                  <a:lnSpc>
                    <a:spcPct val="138242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思源黑体 CN Normal" panose="020B0400000000000000" pitchFamily="34" charset="-122"/>
                  </a:rPr>
                  <a:t>调研时间</a:t>
                </a:r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9C452E7-94F1-77D2-933E-F6D1E4513D9D}"/>
                </a:ext>
              </a:extLst>
            </p:cNvPr>
            <p:cNvSpPr txBox="1"/>
            <p:nvPr/>
          </p:nvSpPr>
          <p:spPr>
            <a:xfrm>
              <a:off x="3546725" y="1574369"/>
              <a:ext cx="30392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2025</a:t>
              </a:r>
              <a:r>
                <a:rPr lang="zh-CN" altLang="en-US" b="1" dirty="0"/>
                <a:t>年</a:t>
              </a:r>
              <a:r>
                <a:rPr lang="en-US" altLang="zh-CN" b="1" dirty="0"/>
                <a:t>7</a:t>
              </a:r>
              <a:r>
                <a:rPr lang="zh-CN" altLang="en-US" b="1" dirty="0"/>
                <a:t>月</a:t>
              </a:r>
              <a:r>
                <a:rPr lang="en-US" altLang="zh-CN" b="1" dirty="0"/>
                <a:t>29</a:t>
              </a:r>
              <a:r>
                <a:rPr lang="zh-CN" altLang="en-US" b="1" dirty="0"/>
                <a:t>日 </a:t>
              </a:r>
              <a:r>
                <a:rPr lang="en-US" altLang="zh-CN" b="1" dirty="0"/>
                <a:t>- 8</a:t>
              </a:r>
              <a:r>
                <a:rPr lang="zh-CN" altLang="en-US" b="1" dirty="0"/>
                <a:t>月</a:t>
              </a:r>
              <a:r>
                <a:rPr lang="en-US" altLang="zh-CN" b="1" dirty="0"/>
                <a:t>3</a:t>
              </a:r>
              <a:r>
                <a:rPr lang="zh-CN" altLang="en-US" b="1" dirty="0"/>
                <a:t>日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415C58B-C493-C9F9-C70E-3BB5750E5E7A}"/>
              </a:ext>
            </a:extLst>
          </p:cNvPr>
          <p:cNvGrpSpPr/>
          <p:nvPr/>
        </p:nvGrpSpPr>
        <p:grpSpPr>
          <a:xfrm>
            <a:off x="3429941" y="1984259"/>
            <a:ext cx="4673667" cy="452731"/>
            <a:chOff x="1996490" y="1436720"/>
            <a:chExt cx="4673667" cy="45273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636718C8-9CE1-0DB9-2D5E-1FF520CFC469}"/>
                </a:ext>
              </a:extLst>
            </p:cNvPr>
            <p:cNvGrpSpPr/>
            <p:nvPr/>
          </p:nvGrpSpPr>
          <p:grpSpPr>
            <a:xfrm>
              <a:off x="1996490" y="1436720"/>
              <a:ext cx="1387522" cy="452731"/>
              <a:chOff x="1996490" y="1436720"/>
              <a:chExt cx="1387522" cy="452731"/>
            </a:xfrm>
          </p:grpSpPr>
          <p:sp>
            <p:nvSpPr>
              <p:cNvPr id="37" name="圆角矩形 13">
                <a:extLst>
                  <a:ext uri="{FF2B5EF4-FFF2-40B4-BE49-F238E27FC236}">
                    <a16:creationId xmlns:a16="http://schemas.microsoft.com/office/drawing/2014/main" id="{C275ADAE-03E7-FED7-E17A-2012A885759D}"/>
                  </a:ext>
                </a:extLst>
              </p:cNvPr>
              <p:cNvSpPr/>
              <p:nvPr/>
            </p:nvSpPr>
            <p:spPr>
              <a:xfrm>
                <a:off x="1996490" y="1486744"/>
                <a:ext cx="1387522" cy="402707"/>
              </a:xfrm>
              <a:prstGeom prst="roundRect">
                <a:avLst>
                  <a:gd name="adj" fmla="val 50000"/>
                </a:avLst>
              </a:prstGeom>
              <a:solidFill>
                <a:srgbClr val="1974A2"/>
              </a:solidFill>
              <a:ln>
                <a:solidFill>
                  <a:srgbClr val="1974A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lnSpc>
                    <a:spcPct val="138242"/>
                  </a:lnSpc>
                </a:pPr>
                <a:endParaRPr lang="zh-CN" altLang="en-US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A33CD05-B98E-13A0-0CC0-DE0D589CC31D}"/>
                  </a:ext>
                </a:extLst>
              </p:cNvPr>
              <p:cNvSpPr/>
              <p:nvPr/>
            </p:nvSpPr>
            <p:spPr>
              <a:xfrm>
                <a:off x="2169835" y="1436720"/>
                <a:ext cx="1107996" cy="434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auto">
                  <a:lnSpc>
                    <a:spcPct val="138242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思源黑体 CN Normal" panose="020B0400000000000000" pitchFamily="34" charset="-122"/>
                  </a:rPr>
                  <a:t>调研地点</a:t>
                </a:r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BA5F4C8-8EF2-1F5B-3DEB-6C3FC9AD84EF}"/>
                </a:ext>
              </a:extLst>
            </p:cNvPr>
            <p:cNvSpPr txBox="1"/>
            <p:nvPr/>
          </p:nvSpPr>
          <p:spPr>
            <a:xfrm>
              <a:off x="3630916" y="1509901"/>
              <a:ext cx="30392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广西壮族自治区玉林市</a:t>
              </a:r>
            </a:p>
          </p:txBody>
        </p:sp>
      </p:grpSp>
      <p:pic>
        <p:nvPicPr>
          <p:cNvPr id="39" name="图片 38" descr="IMG_256">
            <a:extLst>
              <a:ext uri="{FF2B5EF4-FFF2-40B4-BE49-F238E27FC236}">
                <a16:creationId xmlns:a16="http://schemas.microsoft.com/office/drawing/2014/main" id="{9CD6D0E2-533C-CFD9-5F8C-DD4AB9A2E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89" y="4651479"/>
            <a:ext cx="2570738" cy="182819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" name="图片 39" descr="IMG_256">
            <a:extLst>
              <a:ext uri="{FF2B5EF4-FFF2-40B4-BE49-F238E27FC236}">
                <a16:creationId xmlns:a16="http://schemas.microsoft.com/office/drawing/2014/main" id="{C3846809-006F-0BA4-D416-70B1D683E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608" y="4651479"/>
            <a:ext cx="2570738" cy="18203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" name="图片 40" descr="IMG_256">
            <a:extLst>
              <a:ext uri="{FF2B5EF4-FFF2-40B4-BE49-F238E27FC236}">
                <a16:creationId xmlns:a16="http://schemas.microsoft.com/office/drawing/2014/main" id="{C074D7EC-3123-035A-0058-15D3C1135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345" y="4651479"/>
            <a:ext cx="2570737" cy="182769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" name="图片 45" descr="全景">
            <a:extLst>
              <a:ext uri="{FF2B5EF4-FFF2-40B4-BE49-F238E27FC236}">
                <a16:creationId xmlns:a16="http://schemas.microsoft.com/office/drawing/2014/main" id="{0389B6AF-BFBD-05CF-CBC4-3182835AEA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264" y="4644108"/>
            <a:ext cx="2570736" cy="183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8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FB80266-2E29-4423-9FDF-61776108CDE3}"/>
              </a:ext>
            </a:extLst>
          </p:cNvPr>
          <p:cNvGrpSpPr/>
          <p:nvPr/>
        </p:nvGrpSpPr>
        <p:grpSpPr>
          <a:xfrm>
            <a:off x="5099660" y="4800413"/>
            <a:ext cx="6055457" cy="1755338"/>
            <a:chOff x="5216366" y="4203719"/>
            <a:chExt cx="6055457" cy="1755338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AEEBB0A-0483-4073-8407-D61E16846578}"/>
                </a:ext>
              </a:extLst>
            </p:cNvPr>
            <p:cNvSpPr txBox="1"/>
            <p:nvPr/>
          </p:nvSpPr>
          <p:spPr>
            <a:xfrm>
              <a:off x="5899195" y="4709035"/>
              <a:ext cx="2394978" cy="1250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访谈村党委主任，调研乡村特色发展路径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了解“活态传承”教育模式，如汉服课堂、国学诵读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7BA7A9E-0D28-4C6F-B0EF-664E6CD8C38C}"/>
                </a:ext>
              </a:extLst>
            </p:cNvPr>
            <p:cNvSpPr txBox="1"/>
            <p:nvPr/>
          </p:nvSpPr>
          <p:spPr>
            <a:xfrm>
              <a:off x="6004270" y="4214635"/>
              <a:ext cx="2169160" cy="555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互动</a:t>
              </a:r>
              <a:endParaRPr lang="zh-CN" sz="2400" b="1" dirty="0">
                <a:solidFill>
                  <a:srgbClr val="1974A2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6C299E2-0CA7-45BA-AB51-FED44C8B37BA}"/>
                </a:ext>
              </a:extLst>
            </p:cNvPr>
            <p:cNvSpPr txBox="1"/>
            <p:nvPr/>
          </p:nvSpPr>
          <p:spPr>
            <a:xfrm>
              <a:off x="9041692" y="4704555"/>
              <a:ext cx="2164100" cy="1250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拍摄建筑细节，采集建模素材</a:t>
              </a:r>
            </a:p>
            <a:p>
              <a:pPr>
                <a:lnSpc>
                  <a:spcPct val="138242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记录文创产品“一本高粽”设计思路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EDB4735-EBDC-4F50-8C1D-CE39AAB10853}"/>
                </a:ext>
              </a:extLst>
            </p:cNvPr>
            <p:cNvSpPr txBox="1"/>
            <p:nvPr/>
          </p:nvSpPr>
          <p:spPr>
            <a:xfrm>
              <a:off x="9102663" y="4203719"/>
              <a:ext cx="2169160" cy="555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亮点</a:t>
              </a:r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30732A46-61B4-4A24-B57D-6B6A4D261FCB}"/>
                </a:ext>
              </a:extLst>
            </p:cNvPr>
            <p:cNvGrpSpPr/>
            <p:nvPr/>
          </p:nvGrpSpPr>
          <p:grpSpPr>
            <a:xfrm>
              <a:off x="5216366" y="4272799"/>
              <a:ext cx="702310" cy="702310"/>
              <a:chOff x="1110850" y="3452050"/>
              <a:chExt cx="702310" cy="702310"/>
            </a:xfrm>
          </p:grpSpPr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402B85C1-7455-4318-9C2C-FBC3A524060E}"/>
                  </a:ext>
                </a:extLst>
              </p:cNvPr>
              <p:cNvSpPr/>
              <p:nvPr/>
            </p:nvSpPr>
            <p:spPr>
              <a:xfrm>
                <a:off x="1110850" y="3452050"/>
                <a:ext cx="702310" cy="702310"/>
              </a:xfrm>
              <a:prstGeom prst="ellipse">
                <a:avLst/>
              </a:prstGeom>
              <a:solidFill>
                <a:srgbClr val="1974A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lnSpc>
                    <a:spcPct val="138242"/>
                  </a:lnSpc>
                </a:pPr>
                <a:endParaRPr lang="zh-CN" altLang="en-US" sz="3200" b="1" dirty="0">
                  <a:solidFill>
                    <a:schemeClr val="bg1"/>
                  </a:solidFill>
                  <a:effectLst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FA0E25ED-D534-40C9-AC0E-959B9A484EA4}"/>
                  </a:ext>
                </a:extLst>
              </p:cNvPr>
              <p:cNvSpPr/>
              <p:nvPr/>
            </p:nvSpPr>
            <p:spPr>
              <a:xfrm>
                <a:off x="1257490" y="3507758"/>
                <a:ext cx="42030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思源黑体 CN Normal" panose="020B0400000000000000" pitchFamily="34" charset="-122"/>
                  </a:rPr>
                  <a:t>1</a:t>
                </a:r>
                <a:endParaRPr lang="zh-CN" altLang="en-US" sz="3200" dirty="0"/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27626119-46F9-4234-AD95-EF479F1EFA2A}"/>
                </a:ext>
              </a:extLst>
            </p:cNvPr>
            <p:cNvGrpSpPr/>
            <p:nvPr/>
          </p:nvGrpSpPr>
          <p:grpSpPr>
            <a:xfrm>
              <a:off x="8303356" y="4272799"/>
              <a:ext cx="702310" cy="702310"/>
              <a:chOff x="1193748" y="3452050"/>
              <a:chExt cx="702310" cy="702310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BAD51D94-2827-4CB4-BACE-4E2AF8DD3C13}"/>
                  </a:ext>
                </a:extLst>
              </p:cNvPr>
              <p:cNvSpPr/>
              <p:nvPr/>
            </p:nvSpPr>
            <p:spPr>
              <a:xfrm>
                <a:off x="1193748" y="3452050"/>
                <a:ext cx="702310" cy="702310"/>
              </a:xfrm>
              <a:prstGeom prst="ellipse">
                <a:avLst/>
              </a:prstGeom>
              <a:solidFill>
                <a:srgbClr val="7FCFED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lnSpc>
                    <a:spcPct val="138242"/>
                  </a:lnSpc>
                </a:pPr>
                <a:endParaRPr lang="zh-CN" altLang="en-US" sz="3200" b="1" dirty="0">
                  <a:solidFill>
                    <a:srgbClr val="7FCFED"/>
                  </a:solidFill>
                  <a:effectLst/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3D0AF2F2-8131-4F3A-A032-94B2CF4675FA}"/>
                  </a:ext>
                </a:extLst>
              </p:cNvPr>
              <p:cNvSpPr/>
              <p:nvPr/>
            </p:nvSpPr>
            <p:spPr>
              <a:xfrm>
                <a:off x="1316631" y="3507758"/>
                <a:ext cx="42030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思源黑体 CN Normal" panose="020B0400000000000000" pitchFamily="34" charset="-122"/>
                  </a:rPr>
                  <a:t>2</a:t>
                </a:r>
                <a:endParaRPr lang="zh-CN" altLang="en-US" sz="3200" dirty="0"/>
              </a:p>
            </p:txBody>
          </p:sp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66720F9-23E8-4E3D-9C0E-11BECE18EA4D}"/>
              </a:ext>
            </a:extLst>
          </p:cNvPr>
          <p:cNvGrpSpPr/>
          <p:nvPr/>
        </p:nvGrpSpPr>
        <p:grpSpPr>
          <a:xfrm>
            <a:off x="744704" y="306729"/>
            <a:ext cx="3433891" cy="1497132"/>
            <a:chOff x="1075197" y="11597"/>
            <a:chExt cx="3433891" cy="1411632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4615C9F-5621-46FA-8F35-3170FDE6D0F8}"/>
                </a:ext>
              </a:extLst>
            </p:cNvPr>
            <p:cNvSpPr txBox="1"/>
            <p:nvPr/>
          </p:nvSpPr>
          <p:spPr>
            <a:xfrm>
              <a:off x="1450220" y="11597"/>
              <a:ext cx="3058868" cy="1110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27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乡土寻根：高山村文化调研</a:t>
              </a: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9FCAF599-F12F-4F13-AFE4-1E6BA2E73922}"/>
                </a:ext>
              </a:extLst>
            </p:cNvPr>
            <p:cNvSpPr/>
            <p:nvPr/>
          </p:nvSpPr>
          <p:spPr>
            <a:xfrm rot="5400000">
              <a:off x="822233" y="1074646"/>
              <a:ext cx="601547" cy="95620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0746202-7734-59BB-A15A-7BD3644A4482}"/>
              </a:ext>
            </a:extLst>
          </p:cNvPr>
          <p:cNvGrpSpPr/>
          <p:nvPr/>
        </p:nvGrpSpPr>
        <p:grpSpPr>
          <a:xfrm>
            <a:off x="288034" y="1803862"/>
            <a:ext cx="4443454" cy="838756"/>
            <a:chOff x="1288243" y="4955846"/>
            <a:chExt cx="2113280" cy="506864"/>
          </a:xfrm>
        </p:grpSpPr>
        <p:sp>
          <p:nvSpPr>
            <p:cNvPr id="14" name="圆角矩形 13"/>
            <p:cNvSpPr/>
            <p:nvPr/>
          </p:nvSpPr>
          <p:spPr>
            <a:xfrm>
              <a:off x="1288243" y="4955849"/>
              <a:ext cx="2001111" cy="506861"/>
            </a:xfrm>
            <a:prstGeom prst="roundRect">
              <a:avLst>
                <a:gd name="adj" fmla="val 50000"/>
              </a:avLst>
            </a:prstGeom>
            <a:solidFill>
              <a:srgbClr val="1974A2"/>
            </a:solidFill>
            <a:ln>
              <a:solidFill>
                <a:srgbClr val="1974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38242"/>
                </a:lnSpc>
              </a:pPr>
              <a:endParaRPr lang="zh-CN" altLang="en-US" sz="20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288243" y="4955846"/>
              <a:ext cx="2113280" cy="50686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974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38242"/>
                </a:lnSpc>
              </a:pPr>
              <a:endPara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23CBE01-977D-4665-9BF3-41ED6EA47A32}"/>
                </a:ext>
              </a:extLst>
            </p:cNvPr>
            <p:cNvSpPr/>
            <p:nvPr/>
          </p:nvSpPr>
          <p:spPr>
            <a:xfrm>
              <a:off x="1373746" y="5062122"/>
              <a:ext cx="1880142" cy="3452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lnSpc>
                  <a:spcPct val="138242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古巷“青云巷”与“安贞门”文化解读</a:t>
              </a:r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pic>
        <p:nvPicPr>
          <p:cNvPr id="8" name="图片 7" descr="女人站在街道上走&#10;&#10;AI 生成的内容可能不正确。">
            <a:extLst>
              <a:ext uri="{FF2B5EF4-FFF2-40B4-BE49-F238E27FC236}">
                <a16:creationId xmlns:a16="http://schemas.microsoft.com/office/drawing/2014/main" id="{0A5079E3-1C46-C142-F2EE-6E8ABF97FB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3" r="18653"/>
          <a:stretch>
            <a:fillRect/>
          </a:stretch>
        </p:blipFill>
        <p:spPr>
          <a:xfrm>
            <a:off x="5147040" y="797745"/>
            <a:ext cx="2814821" cy="2017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 descr="IMG_256">
            <a:extLst>
              <a:ext uri="{FF2B5EF4-FFF2-40B4-BE49-F238E27FC236}">
                <a16:creationId xmlns:a16="http://schemas.microsoft.com/office/drawing/2014/main" id="{D9D69CE5-7539-4F33-E9B1-D9BC3D678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53" y="797745"/>
            <a:ext cx="2814821" cy="201756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FDB757F-B46D-82CB-D085-4C8FACB73D3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3" r="17466"/>
          <a:stretch>
            <a:fillRect/>
          </a:stretch>
        </p:blipFill>
        <p:spPr>
          <a:xfrm>
            <a:off x="7937953" y="2805134"/>
            <a:ext cx="2814821" cy="1913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 descr="IMG_256">
            <a:extLst>
              <a:ext uri="{FF2B5EF4-FFF2-40B4-BE49-F238E27FC236}">
                <a16:creationId xmlns:a16="http://schemas.microsoft.com/office/drawing/2014/main" id="{0EB5FFC4-ECE8-006E-AAA8-5895D7CADC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7040" y="2805134"/>
            <a:ext cx="2814821" cy="191315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850458E8-F6E9-B16E-FB33-70AD6443D532}"/>
              </a:ext>
            </a:extLst>
          </p:cNvPr>
          <p:cNvGrpSpPr/>
          <p:nvPr/>
        </p:nvGrpSpPr>
        <p:grpSpPr>
          <a:xfrm>
            <a:off x="288034" y="2922957"/>
            <a:ext cx="4443454" cy="838756"/>
            <a:chOff x="1288243" y="4955846"/>
            <a:chExt cx="2113280" cy="506864"/>
          </a:xfrm>
        </p:grpSpPr>
        <p:sp>
          <p:nvSpPr>
            <p:cNvPr id="24" name="圆角矩形 13">
              <a:extLst>
                <a:ext uri="{FF2B5EF4-FFF2-40B4-BE49-F238E27FC236}">
                  <a16:creationId xmlns:a16="http://schemas.microsoft.com/office/drawing/2014/main" id="{4258CF75-4515-50C5-5C9E-EE5B7CCBE2A9}"/>
                </a:ext>
              </a:extLst>
            </p:cNvPr>
            <p:cNvSpPr/>
            <p:nvPr/>
          </p:nvSpPr>
          <p:spPr>
            <a:xfrm>
              <a:off x="1288243" y="4955849"/>
              <a:ext cx="2001111" cy="506861"/>
            </a:xfrm>
            <a:prstGeom prst="roundRect">
              <a:avLst>
                <a:gd name="adj" fmla="val 50000"/>
              </a:avLst>
            </a:prstGeom>
            <a:solidFill>
              <a:srgbClr val="1974A2"/>
            </a:solidFill>
            <a:ln>
              <a:solidFill>
                <a:srgbClr val="1974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38242"/>
                </a:lnSpc>
              </a:pPr>
              <a:endParaRPr lang="zh-CN" altLang="en-US" sz="20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5" name="圆角矩形 12">
              <a:extLst>
                <a:ext uri="{FF2B5EF4-FFF2-40B4-BE49-F238E27FC236}">
                  <a16:creationId xmlns:a16="http://schemas.microsoft.com/office/drawing/2014/main" id="{A313F122-26E7-A967-4A88-73BF8A8EC85A}"/>
                </a:ext>
              </a:extLst>
            </p:cNvPr>
            <p:cNvSpPr/>
            <p:nvPr/>
          </p:nvSpPr>
          <p:spPr>
            <a:xfrm>
              <a:off x="1288243" y="4955846"/>
              <a:ext cx="2113280" cy="50686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974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38242"/>
                </a:lnSpc>
              </a:pPr>
              <a:endPara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EB88456-AD3F-F907-23B5-C8CC85622F87}"/>
                </a:ext>
              </a:extLst>
            </p:cNvPr>
            <p:cNvSpPr/>
            <p:nvPr/>
          </p:nvSpPr>
          <p:spPr>
            <a:xfrm>
              <a:off x="1666100" y="5062122"/>
              <a:ext cx="1295434" cy="2622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lnSpc>
                  <a:spcPct val="138242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宗祠建筑与科举文化探源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626A91C-9BB1-A9BC-B978-BF362ED47E41}"/>
              </a:ext>
            </a:extLst>
          </p:cNvPr>
          <p:cNvGrpSpPr/>
          <p:nvPr/>
        </p:nvGrpSpPr>
        <p:grpSpPr>
          <a:xfrm>
            <a:off x="288034" y="4042047"/>
            <a:ext cx="4443454" cy="838756"/>
            <a:chOff x="1288243" y="4955846"/>
            <a:chExt cx="2113280" cy="506864"/>
          </a:xfrm>
        </p:grpSpPr>
        <p:sp>
          <p:nvSpPr>
            <p:cNvPr id="31" name="圆角矩形 13">
              <a:extLst>
                <a:ext uri="{FF2B5EF4-FFF2-40B4-BE49-F238E27FC236}">
                  <a16:creationId xmlns:a16="http://schemas.microsoft.com/office/drawing/2014/main" id="{5F3DDC52-5A4D-B44E-7BF2-531511761970}"/>
                </a:ext>
              </a:extLst>
            </p:cNvPr>
            <p:cNvSpPr/>
            <p:nvPr/>
          </p:nvSpPr>
          <p:spPr>
            <a:xfrm>
              <a:off x="1288243" y="4955849"/>
              <a:ext cx="2001111" cy="506861"/>
            </a:xfrm>
            <a:prstGeom prst="roundRect">
              <a:avLst>
                <a:gd name="adj" fmla="val 50000"/>
              </a:avLst>
            </a:prstGeom>
            <a:solidFill>
              <a:srgbClr val="1974A2"/>
            </a:solidFill>
            <a:ln>
              <a:solidFill>
                <a:srgbClr val="1974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38242"/>
                </a:lnSpc>
              </a:pPr>
              <a:endParaRPr lang="zh-CN" altLang="en-US" sz="20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32" name="圆角矩形 12">
              <a:extLst>
                <a:ext uri="{FF2B5EF4-FFF2-40B4-BE49-F238E27FC236}">
                  <a16:creationId xmlns:a16="http://schemas.microsoft.com/office/drawing/2014/main" id="{181BD30C-47D4-118B-822C-DBB28FA6E780}"/>
                </a:ext>
              </a:extLst>
            </p:cNvPr>
            <p:cNvSpPr/>
            <p:nvPr/>
          </p:nvSpPr>
          <p:spPr>
            <a:xfrm>
              <a:off x="1288243" y="4955846"/>
              <a:ext cx="2113280" cy="50686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974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38242"/>
                </a:lnSpc>
              </a:pPr>
              <a:endPara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C26D7D2-B6C7-9C29-38E9-7D043FA9E855}"/>
                </a:ext>
              </a:extLst>
            </p:cNvPr>
            <p:cNvSpPr/>
            <p:nvPr/>
          </p:nvSpPr>
          <p:spPr>
            <a:xfrm>
              <a:off x="1391643" y="5062122"/>
              <a:ext cx="1844346" cy="2622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auto">
                <a:lnSpc>
                  <a:spcPct val="138242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壁画、碑文、蒸尝田等历史遗迹记录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6337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223F497-374F-47B6-B792-EC57481A2E2F}"/>
              </a:ext>
            </a:extLst>
          </p:cNvPr>
          <p:cNvGrpSpPr/>
          <p:nvPr/>
        </p:nvGrpSpPr>
        <p:grpSpPr>
          <a:xfrm>
            <a:off x="6097608" y="3982584"/>
            <a:ext cx="3528627" cy="2506241"/>
            <a:chOff x="9097556" y="2800643"/>
            <a:chExt cx="1523251" cy="250624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A7A4C08-3656-4B6A-9EB9-396407D9A6E6}"/>
                </a:ext>
              </a:extLst>
            </p:cNvPr>
            <p:cNvSpPr txBox="1"/>
            <p:nvPr/>
          </p:nvSpPr>
          <p:spPr>
            <a:xfrm>
              <a:off x="9101750" y="4410228"/>
              <a:ext cx="1519057" cy="896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8242"/>
                </a:lnSpc>
              </a:pPr>
              <a:r>
                <a:rPr lang="zh-CN" altLang="en-US" sz="20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生产看板自动生成</a:t>
              </a:r>
            </a:p>
            <a:p>
              <a:pPr algn="ctr">
                <a:lnSpc>
                  <a:spcPct val="138242"/>
                </a:lnSpc>
              </a:pPr>
              <a:r>
                <a:rPr lang="zh-CN" altLang="en-US" sz="20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实时数据监控与远程维护系统</a:t>
              </a:r>
            </a:p>
          </p:txBody>
        </p:sp>
        <p:pic>
          <p:nvPicPr>
            <p:cNvPr id="6" name="图片 5" descr="bussiness-man">
              <a:extLst>
                <a:ext uri="{FF2B5EF4-FFF2-40B4-BE49-F238E27FC236}">
                  <a16:creationId xmlns:a16="http://schemas.microsoft.com/office/drawing/2014/main" id="{A201C065-1F77-4B0C-B776-43714E507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97556" y="2800643"/>
              <a:ext cx="1080000" cy="1080000"/>
            </a:xfrm>
            <a:prstGeom prst="rect">
              <a:avLst/>
            </a:prstGeom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7DCB62A-5CC7-4C04-B7BB-9134031A0AF7}"/>
              </a:ext>
            </a:extLst>
          </p:cNvPr>
          <p:cNvGrpSpPr/>
          <p:nvPr/>
        </p:nvGrpSpPr>
        <p:grpSpPr>
          <a:xfrm>
            <a:off x="626481" y="-11578"/>
            <a:ext cx="3169341" cy="3665811"/>
            <a:chOff x="1068374" y="2800643"/>
            <a:chExt cx="3169341" cy="3601834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12D2DD0-E3C7-4F1B-9216-ACD0694102AF}"/>
                </a:ext>
              </a:extLst>
            </p:cNvPr>
            <p:cNvSpPr txBox="1"/>
            <p:nvPr/>
          </p:nvSpPr>
          <p:spPr>
            <a:xfrm>
              <a:off x="1692670" y="4358838"/>
              <a:ext cx="1723549" cy="547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玉柴科技馆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2234193-A9B5-459C-A16F-7364055B4465}"/>
                </a:ext>
              </a:extLst>
            </p:cNvPr>
            <p:cNvSpPr txBox="1"/>
            <p:nvPr/>
          </p:nvSpPr>
          <p:spPr>
            <a:xfrm>
              <a:off x="1068374" y="4928252"/>
              <a:ext cx="3169341" cy="1474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8242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了解企业发展历程与发动机技术演进，</a:t>
              </a:r>
              <a:r>
                <a:rPr lang="zh-CN" altLang="en-US" dirty="0"/>
                <a:t>学习工业数字化、智能制造经验</a:t>
              </a:r>
            </a:p>
            <a:p>
              <a:pPr algn="ctr"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pic>
          <p:nvPicPr>
            <p:cNvPr id="13" name="图片 14" descr="integral">
              <a:extLst>
                <a:ext uri="{FF2B5EF4-FFF2-40B4-BE49-F238E27FC236}">
                  <a16:creationId xmlns:a16="http://schemas.microsoft.com/office/drawing/2014/main" id="{54E1D7F2-413C-4A7C-8DD8-FA37EC2C6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14444" y="2800643"/>
              <a:ext cx="1080000" cy="1080000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93698FF-9485-499C-BCBE-D4C9692183F3}"/>
              </a:ext>
            </a:extLst>
          </p:cNvPr>
          <p:cNvGrpSpPr/>
          <p:nvPr/>
        </p:nvGrpSpPr>
        <p:grpSpPr>
          <a:xfrm>
            <a:off x="593610" y="3447776"/>
            <a:ext cx="3169340" cy="1969671"/>
            <a:chOff x="4562357" y="4358838"/>
            <a:chExt cx="3169340" cy="1969671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97AA3F9-081B-4CF4-A8EE-A3F6CBB1EBD6}"/>
                </a:ext>
              </a:extLst>
            </p:cNvPr>
            <p:cNvSpPr txBox="1"/>
            <p:nvPr/>
          </p:nvSpPr>
          <p:spPr>
            <a:xfrm>
              <a:off x="5372084" y="4358838"/>
              <a:ext cx="1447832" cy="555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五发车间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34DE5F3-9C16-43A6-85BC-8472843A1B86}"/>
                </a:ext>
              </a:extLst>
            </p:cNvPr>
            <p:cNvSpPr txBox="1"/>
            <p:nvPr/>
          </p:nvSpPr>
          <p:spPr>
            <a:xfrm>
              <a:off x="4562357" y="4913122"/>
              <a:ext cx="3169340" cy="141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8242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参观自动化生产线与大数据监控系统，探讨“玉柴经验”向乡村产业下沉的可能性</a:t>
              </a:r>
            </a:p>
            <a:p>
              <a:pPr algn="ctr"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A8222EC-E814-4FDD-8818-1B65FFE3B64F}"/>
              </a:ext>
            </a:extLst>
          </p:cNvPr>
          <p:cNvCxnSpPr/>
          <p:nvPr/>
        </p:nvCxnSpPr>
        <p:spPr>
          <a:xfrm>
            <a:off x="4325222" y="3138383"/>
            <a:ext cx="0" cy="1246922"/>
          </a:xfrm>
          <a:prstGeom prst="line">
            <a:avLst/>
          </a:prstGeom>
          <a:ln w="12700">
            <a:solidFill>
              <a:srgbClr val="7FCFED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365E5FD-664D-4D3A-875F-7D319A92B048}"/>
              </a:ext>
            </a:extLst>
          </p:cNvPr>
          <p:cNvCxnSpPr/>
          <p:nvPr/>
        </p:nvCxnSpPr>
        <p:spPr>
          <a:xfrm>
            <a:off x="7866778" y="3138383"/>
            <a:ext cx="0" cy="1246922"/>
          </a:xfrm>
          <a:prstGeom prst="line">
            <a:avLst/>
          </a:prstGeom>
          <a:ln w="12700">
            <a:solidFill>
              <a:srgbClr val="7FCFED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B6CA69-8DE4-4D47-A2CC-45DC03F9C7DC}"/>
              </a:ext>
            </a:extLst>
          </p:cNvPr>
          <p:cNvGrpSpPr/>
          <p:nvPr/>
        </p:nvGrpSpPr>
        <p:grpSpPr>
          <a:xfrm>
            <a:off x="3094444" y="438311"/>
            <a:ext cx="6340197" cy="1106940"/>
            <a:chOff x="3552629" y="761303"/>
            <a:chExt cx="6340197" cy="1106940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B94E924-6892-45EB-913D-CEF92C73DD9B}"/>
                </a:ext>
              </a:extLst>
            </p:cNvPr>
            <p:cNvSpPr txBox="1"/>
            <p:nvPr/>
          </p:nvSpPr>
          <p:spPr>
            <a:xfrm>
              <a:off x="3552629" y="761303"/>
              <a:ext cx="6340197" cy="8515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40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科技引擎：玉柴智造调研行</a:t>
              </a: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823E2C55-5F33-43D6-8E54-88BAFE20A80D}"/>
                </a:ext>
              </a:extLst>
            </p:cNvPr>
            <p:cNvSpPr/>
            <p:nvPr/>
          </p:nvSpPr>
          <p:spPr>
            <a:xfrm>
              <a:off x="6105901" y="1708079"/>
              <a:ext cx="601547" cy="160164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pic>
        <p:nvPicPr>
          <p:cNvPr id="2" name="图片 1" descr="IMG_3445">
            <a:extLst>
              <a:ext uri="{FF2B5EF4-FFF2-40B4-BE49-F238E27FC236}">
                <a16:creationId xmlns:a16="http://schemas.microsoft.com/office/drawing/2014/main" id="{F224E9E8-FCA5-8C69-CFCF-46AC89096F0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568" y="1640512"/>
            <a:ext cx="2749389" cy="1980967"/>
          </a:xfrm>
          <a:prstGeom prst="rect">
            <a:avLst/>
          </a:prstGeom>
        </p:spPr>
      </p:pic>
      <p:pic>
        <p:nvPicPr>
          <p:cNvPr id="3" name="图片 2" descr="IMG_256">
            <a:extLst>
              <a:ext uri="{FF2B5EF4-FFF2-40B4-BE49-F238E27FC236}">
                <a16:creationId xmlns:a16="http://schemas.microsoft.com/office/drawing/2014/main" id="{6525918E-BDAD-DC7B-076C-2D545808DC3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8979" b="11812"/>
          <a:stretch>
            <a:fillRect/>
          </a:stretch>
        </p:blipFill>
        <p:spPr>
          <a:xfrm>
            <a:off x="7631296" y="1640525"/>
            <a:ext cx="2818302" cy="1980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 descr="IMG_3472">
            <a:extLst>
              <a:ext uri="{FF2B5EF4-FFF2-40B4-BE49-F238E27FC236}">
                <a16:creationId xmlns:a16="http://schemas.microsoft.com/office/drawing/2014/main" id="{990DA779-9F47-F112-08FC-3D439D7CDB5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781" y="3654233"/>
            <a:ext cx="2805817" cy="1905195"/>
          </a:xfrm>
          <a:prstGeom prst="rect">
            <a:avLst/>
          </a:prstGeom>
        </p:spPr>
      </p:pic>
      <p:pic>
        <p:nvPicPr>
          <p:cNvPr id="16" name="图片 15" descr="IMG_256">
            <a:extLst>
              <a:ext uri="{FF2B5EF4-FFF2-40B4-BE49-F238E27FC236}">
                <a16:creationId xmlns:a16="http://schemas.microsoft.com/office/drawing/2014/main" id="{A2C6E316-1A9E-30C6-E562-4CC6D1DEEF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1907" y="3654233"/>
            <a:ext cx="2761874" cy="190519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82915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6A03B46-1665-4DFB-9F63-80D9BAC2BF9E}"/>
              </a:ext>
            </a:extLst>
          </p:cNvPr>
          <p:cNvGrpSpPr/>
          <p:nvPr/>
        </p:nvGrpSpPr>
        <p:grpSpPr>
          <a:xfrm>
            <a:off x="775637" y="1488279"/>
            <a:ext cx="2482704" cy="4185776"/>
            <a:chOff x="1084827" y="1334503"/>
            <a:chExt cx="2482704" cy="4185776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F44ECCD-AF9C-4563-B635-343A195F98D5}"/>
                </a:ext>
              </a:extLst>
            </p:cNvPr>
            <p:cNvSpPr/>
            <p:nvPr/>
          </p:nvSpPr>
          <p:spPr>
            <a:xfrm>
              <a:off x="1084827" y="1334503"/>
              <a:ext cx="2482704" cy="4185776"/>
            </a:xfrm>
            <a:prstGeom prst="rect">
              <a:avLst/>
            </a:prstGeom>
            <a:solidFill>
              <a:srgbClr val="1973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BE31A0F-F50E-46C6-8369-EC8586BF2709}"/>
                </a:ext>
              </a:extLst>
            </p:cNvPr>
            <p:cNvSpPr txBox="1"/>
            <p:nvPr/>
          </p:nvSpPr>
          <p:spPr>
            <a:xfrm>
              <a:off x="1261551" y="1859476"/>
              <a:ext cx="2129255" cy="31100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       </a:t>
              </a:r>
              <a:r>
                <a:rPr lang="zh-CN" altLang="en-US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本次壁画调研工作，我们通过沉浸式讲解深入解读了壁画的艺术特色与文化内涵，并系统完成了相关文化故事的采集与影像记录工作。</a:t>
              </a:r>
              <a:endParaRPr lang="en-US" altLang="zh-CN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4899607-3543-4060-803A-8DD8C497F0FF}"/>
              </a:ext>
            </a:extLst>
          </p:cNvPr>
          <p:cNvGrpSpPr/>
          <p:nvPr/>
        </p:nvGrpSpPr>
        <p:grpSpPr>
          <a:xfrm>
            <a:off x="7686175" y="1292846"/>
            <a:ext cx="3198702" cy="1057534"/>
            <a:chOff x="6835239" y="1217829"/>
            <a:chExt cx="3198702" cy="1057534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E90F7A8-39DB-4311-8747-EBCAD0F589F9}"/>
                </a:ext>
              </a:extLst>
            </p:cNvPr>
            <p:cNvSpPr/>
            <p:nvPr/>
          </p:nvSpPr>
          <p:spPr>
            <a:xfrm>
              <a:off x="6835239" y="1338151"/>
              <a:ext cx="714694" cy="714694"/>
            </a:xfrm>
            <a:prstGeom prst="ellipse">
              <a:avLst/>
            </a:prstGeom>
            <a:solidFill>
              <a:srgbClr val="1973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5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B2EC464-9DB7-40AF-9BAB-9219DB876919}"/>
                </a:ext>
              </a:extLst>
            </p:cNvPr>
            <p:cNvSpPr txBox="1"/>
            <p:nvPr/>
          </p:nvSpPr>
          <p:spPr>
            <a:xfrm>
              <a:off x="7694839" y="1217829"/>
              <a:ext cx="2339102" cy="1057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“玉林八景”</a:t>
              </a:r>
              <a:endParaRPr lang="en-US" altLang="zh-CN" sz="2400" b="1" dirty="0">
                <a:solidFill>
                  <a:srgbClr val="1973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壁画与民间传说</a:t>
              </a:r>
            </a:p>
          </p:txBody>
        </p:sp>
        <p:sp>
          <p:nvSpPr>
            <p:cNvPr id="39" name="arrow-pointing-left-circular-button_20407">
              <a:extLst>
                <a:ext uri="{FF2B5EF4-FFF2-40B4-BE49-F238E27FC236}">
                  <a16:creationId xmlns:a16="http://schemas.microsoft.com/office/drawing/2014/main" id="{1B86C253-6F2F-46E5-BB88-192D41DDB1B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990024" y="1493194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8242"/>
                </a:lnSpc>
              </a:pPr>
              <a:endPara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879634E-03EA-4183-844D-E38D9105BE54}"/>
              </a:ext>
            </a:extLst>
          </p:cNvPr>
          <p:cNvGrpSpPr/>
          <p:nvPr/>
        </p:nvGrpSpPr>
        <p:grpSpPr>
          <a:xfrm>
            <a:off x="3973789" y="3194537"/>
            <a:ext cx="2890925" cy="1057534"/>
            <a:chOff x="6835239" y="2366127"/>
            <a:chExt cx="2890925" cy="1057534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D692B03B-207C-43FC-9544-BA965F4394AC}"/>
                </a:ext>
              </a:extLst>
            </p:cNvPr>
            <p:cNvSpPr/>
            <p:nvPr/>
          </p:nvSpPr>
          <p:spPr>
            <a:xfrm>
              <a:off x="6835239" y="2486449"/>
              <a:ext cx="714694" cy="714694"/>
            </a:xfrm>
            <a:prstGeom prst="ellipse">
              <a:avLst/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5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726CE26-2699-4812-8E83-02FCC944DB9D}"/>
                </a:ext>
              </a:extLst>
            </p:cNvPr>
            <p:cNvGrpSpPr/>
            <p:nvPr/>
          </p:nvGrpSpPr>
          <p:grpSpPr>
            <a:xfrm>
              <a:off x="6990024" y="2366127"/>
              <a:ext cx="2736140" cy="1057534"/>
              <a:chOff x="6990024" y="2366127"/>
              <a:chExt cx="2736140" cy="1057534"/>
            </a:xfrm>
          </p:grpSpPr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919BC84-86AA-4E90-8174-562BE2A7A5FA}"/>
                  </a:ext>
                </a:extLst>
              </p:cNvPr>
              <p:cNvSpPr txBox="1"/>
              <p:nvPr/>
            </p:nvSpPr>
            <p:spPr>
              <a:xfrm>
                <a:off x="7694839" y="2366127"/>
                <a:ext cx="2031325" cy="10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8242"/>
                  </a:lnSpc>
                </a:pPr>
                <a:r>
                  <a:rPr lang="zh-CN" altLang="en-US" sz="2400" b="1" dirty="0">
                    <a:solidFill>
                      <a:srgbClr val="1973A2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思源黑体 CN Normal" panose="020B0400000000000000" pitchFamily="34" charset="-122"/>
                  </a:rPr>
                  <a:t>“文昌楼”</a:t>
                </a:r>
                <a:endParaRPr lang="en-US" altLang="zh-CN" sz="24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endParaRPr>
              </a:p>
              <a:p>
                <a:pPr>
                  <a:lnSpc>
                    <a:spcPct val="138242"/>
                  </a:lnSpc>
                </a:pPr>
                <a:r>
                  <a:rPr lang="zh-CN" altLang="en-US" sz="2400" b="1" dirty="0">
                    <a:solidFill>
                      <a:srgbClr val="1973A2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思源黑体 CN Normal" panose="020B0400000000000000" pitchFamily="34" charset="-122"/>
                  </a:rPr>
                  <a:t>科举文化壁画</a:t>
                </a:r>
              </a:p>
            </p:txBody>
          </p:sp>
          <p:sp>
            <p:nvSpPr>
              <p:cNvPr id="44" name="arrow-pointing-left-circular-button_20407">
                <a:extLst>
                  <a:ext uri="{FF2B5EF4-FFF2-40B4-BE49-F238E27FC236}">
                    <a16:creationId xmlns:a16="http://schemas.microsoft.com/office/drawing/2014/main" id="{F189BE2A-0DA7-4C4E-BFB3-06F64EC3D0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90024" y="2641492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>
                  <a:lnSpc>
                    <a:spcPct val="138242"/>
                  </a:lnSpc>
                </a:pPr>
                <a:endParaRPr lang="zh-CN" altLang="en-US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14ADA26-8E69-47B5-B8CD-268D5FF849DE}"/>
              </a:ext>
            </a:extLst>
          </p:cNvPr>
          <p:cNvGrpSpPr/>
          <p:nvPr/>
        </p:nvGrpSpPr>
        <p:grpSpPr>
          <a:xfrm>
            <a:off x="7862225" y="5036387"/>
            <a:ext cx="3198702" cy="1057534"/>
            <a:chOff x="6835239" y="3514425"/>
            <a:chExt cx="3198702" cy="1057534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42D4AC57-FAEE-472C-A022-B548E59A66FB}"/>
                </a:ext>
              </a:extLst>
            </p:cNvPr>
            <p:cNvSpPr/>
            <p:nvPr/>
          </p:nvSpPr>
          <p:spPr>
            <a:xfrm>
              <a:off x="6835239" y="3634747"/>
              <a:ext cx="714694" cy="714694"/>
            </a:xfrm>
            <a:prstGeom prst="ellipse">
              <a:avLst/>
            </a:prstGeom>
            <a:solidFill>
              <a:srgbClr val="1973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5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35B2B7D-1870-49EC-8A95-6701B76E5A0B}"/>
                </a:ext>
              </a:extLst>
            </p:cNvPr>
            <p:cNvSpPr txBox="1"/>
            <p:nvPr/>
          </p:nvSpPr>
          <p:spPr>
            <a:xfrm>
              <a:off x="7694839" y="3514425"/>
              <a:ext cx="2339102" cy="10575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“魁星点状元”</a:t>
              </a:r>
              <a:endParaRPr lang="en-US" altLang="zh-CN" sz="2400" b="1" dirty="0">
                <a:solidFill>
                  <a:srgbClr val="1973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sz="24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故事与进士文化</a:t>
              </a:r>
            </a:p>
          </p:txBody>
        </p:sp>
        <p:sp>
          <p:nvSpPr>
            <p:cNvPr id="49" name="arrow-pointing-left-circular-button_20407">
              <a:extLst>
                <a:ext uri="{FF2B5EF4-FFF2-40B4-BE49-F238E27FC236}">
                  <a16:creationId xmlns:a16="http://schemas.microsoft.com/office/drawing/2014/main" id="{03D09F7A-9682-417F-B00A-AD1A57F5CE2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990024" y="3789790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8242"/>
                </a:lnSpc>
              </a:pPr>
              <a:endPara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CD33851-384F-3CFB-592A-832913588DF9}"/>
              </a:ext>
            </a:extLst>
          </p:cNvPr>
          <p:cNvSpPr txBox="1"/>
          <p:nvPr/>
        </p:nvSpPr>
        <p:spPr>
          <a:xfrm>
            <a:off x="1317898" y="432317"/>
            <a:ext cx="4731489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8242"/>
              </a:lnSpc>
            </a:pPr>
            <a:r>
              <a:rPr lang="zh-CN" altLang="en-US" sz="2700" b="1" dirty="0">
                <a:solidFill>
                  <a:srgbClr val="1974A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文化复兴：万花楼沉浸式调研</a:t>
            </a:r>
          </a:p>
        </p:txBody>
      </p:sp>
      <p:pic>
        <p:nvPicPr>
          <p:cNvPr id="10" name="图片 9" descr="IMG_256">
            <a:extLst>
              <a:ext uri="{FF2B5EF4-FFF2-40B4-BE49-F238E27FC236}">
                <a16:creationId xmlns:a16="http://schemas.microsoft.com/office/drawing/2014/main" id="{C951D380-B67B-C875-AEAD-C5A223C8A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15" y="4485267"/>
            <a:ext cx="3072626" cy="194041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 descr="IMG_256">
            <a:extLst>
              <a:ext uri="{FF2B5EF4-FFF2-40B4-BE49-F238E27FC236}">
                <a16:creationId xmlns:a16="http://schemas.microsoft.com/office/drawing/2014/main" id="{05854A2E-3229-B22C-5A59-87AED596E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15" y="1192141"/>
            <a:ext cx="3072626" cy="184735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8636867-0484-9061-AE34-F5A069577EE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60" y="2663015"/>
            <a:ext cx="3377414" cy="194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0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678EA841-8BA7-4546-BAE5-D3C9AFA5314C}"/>
              </a:ext>
            </a:extLst>
          </p:cNvPr>
          <p:cNvGrpSpPr/>
          <p:nvPr/>
        </p:nvGrpSpPr>
        <p:grpSpPr>
          <a:xfrm>
            <a:off x="6556636" y="1069378"/>
            <a:ext cx="4731899" cy="5133692"/>
            <a:chOff x="6556636" y="1069378"/>
            <a:chExt cx="4731899" cy="5133692"/>
          </a:xfrm>
        </p:grpSpPr>
        <p:sp>
          <p:nvSpPr>
            <p:cNvPr id="5" name="文本框 4"/>
            <p:cNvSpPr txBox="1"/>
            <p:nvPr/>
          </p:nvSpPr>
          <p:spPr>
            <a:xfrm>
              <a:off x="6906650" y="1069378"/>
              <a:ext cx="4031873" cy="1734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28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核心议题</a:t>
              </a:r>
              <a:r>
                <a:rPr lang="en-US" altLang="zh-CN" sz="28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 </a:t>
              </a:r>
              <a:endPara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sz="2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数字技术如何赋能乡村振兴</a:t>
              </a:r>
            </a:p>
            <a:p>
              <a:pPr>
                <a:lnSpc>
                  <a:spcPct val="138242"/>
                </a:lnSpc>
              </a:pPr>
              <a:r>
                <a:rPr lang="zh-CN" altLang="en-US" sz="2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青年人才如何参与家乡建设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556636" y="3093051"/>
              <a:ext cx="4731899" cy="31100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ct val="138242"/>
                </a:lnSpc>
                <a:buFont typeface="+mj-lt"/>
                <a:buAutoNum type="arabicPeriod"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团队在会上提出了“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AI+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农业”、“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VR+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文旅”等一系列数字赋能方案，旨在以创新科技驱动乡村产业升级与文旅融合发展。</a:t>
              </a:r>
            </a:p>
            <a:p>
              <a:pPr marL="457200" indent="-457200">
                <a:lnSpc>
                  <a:spcPct val="138242"/>
                </a:lnSpc>
                <a:buFont typeface="+mj-lt"/>
                <a:buAutoNum type="arabicPeriod"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同时，团队倡议采用“柔性引才”与“项目制”合作模式，以更灵活、高效的方式汇聚青年才智，精准对接家乡发展需求。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9757C58-6EC8-47E0-B9AC-07EED2D2D853}"/>
              </a:ext>
            </a:extLst>
          </p:cNvPr>
          <p:cNvGrpSpPr/>
          <p:nvPr/>
        </p:nvGrpSpPr>
        <p:grpSpPr>
          <a:xfrm>
            <a:off x="1364102" y="1160458"/>
            <a:ext cx="4731898" cy="1736898"/>
            <a:chOff x="1123007" y="2154465"/>
            <a:chExt cx="4731898" cy="1736898"/>
          </a:xfrm>
        </p:grpSpPr>
        <p:sp>
          <p:nvSpPr>
            <p:cNvPr id="3" name="矩形 2"/>
            <p:cNvSpPr/>
            <p:nvPr/>
          </p:nvSpPr>
          <p:spPr>
            <a:xfrm>
              <a:off x="1123007" y="2156177"/>
              <a:ext cx="4731898" cy="1735186"/>
            </a:xfrm>
            <a:prstGeom prst="rect">
              <a:avLst/>
            </a:prstGeom>
            <a:solidFill>
              <a:srgbClr val="197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990E5BC-B789-46A4-9E37-F45577626FC9}"/>
                </a:ext>
              </a:extLst>
            </p:cNvPr>
            <p:cNvSpPr txBox="1"/>
            <p:nvPr/>
          </p:nvSpPr>
          <p:spPr>
            <a:xfrm>
              <a:off x="1337265" y="2740266"/>
              <a:ext cx="4517640" cy="1075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通过“青燕归巢”座谈会，团队已就数字技术赋能乡村振兴方案与相关方建立合作意向，并明确落地路径。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757CA7C-8FB4-4B1B-A72F-77A6053767C6}"/>
                </a:ext>
              </a:extLst>
            </p:cNvPr>
            <p:cNvSpPr txBox="1"/>
            <p:nvPr/>
          </p:nvSpPr>
          <p:spPr>
            <a:xfrm>
              <a:off x="1648112" y="2154465"/>
              <a:ext cx="3518912" cy="58580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26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“玉生回归”共话发展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4706B92-1179-497B-BB7F-DCCC4C78E5DF}"/>
              </a:ext>
            </a:extLst>
          </p:cNvPr>
          <p:cNvGrpSpPr/>
          <p:nvPr/>
        </p:nvGrpSpPr>
        <p:grpSpPr>
          <a:xfrm>
            <a:off x="1137521" y="277612"/>
            <a:ext cx="5618565" cy="1484393"/>
            <a:chOff x="1075197" y="-61164"/>
            <a:chExt cx="5618565" cy="1484393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8AF95CF1-1207-4796-ACF9-263BF12DAC99}"/>
                </a:ext>
              </a:extLst>
            </p:cNvPr>
            <p:cNvSpPr txBox="1"/>
            <p:nvPr/>
          </p:nvSpPr>
          <p:spPr>
            <a:xfrm>
              <a:off x="1123006" y="-61164"/>
              <a:ext cx="5570756" cy="661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30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青燕归巢：座谈共绘玉林新图景</a:t>
              </a: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FD6D158A-3A8E-465E-AC2E-42EE0720346F}"/>
                </a:ext>
              </a:extLst>
            </p:cNvPr>
            <p:cNvSpPr/>
            <p:nvPr/>
          </p:nvSpPr>
          <p:spPr>
            <a:xfrm rot="5400000">
              <a:off x="822233" y="1074646"/>
              <a:ext cx="601547" cy="95620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pic>
        <p:nvPicPr>
          <p:cNvPr id="12" name="图片 11" descr="全景">
            <a:extLst>
              <a:ext uri="{FF2B5EF4-FFF2-40B4-BE49-F238E27FC236}">
                <a16:creationId xmlns:a16="http://schemas.microsoft.com/office/drawing/2014/main" id="{E2ECB0AC-58EA-CEFD-2BC7-1CEB987FE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102" y="3093051"/>
            <a:ext cx="2376197" cy="1735186"/>
          </a:xfrm>
          <a:prstGeom prst="rect">
            <a:avLst/>
          </a:prstGeom>
        </p:spPr>
      </p:pic>
      <p:pic>
        <p:nvPicPr>
          <p:cNvPr id="13" name="图片 12" descr="李盛鹏">
            <a:extLst>
              <a:ext uri="{FF2B5EF4-FFF2-40B4-BE49-F238E27FC236}">
                <a16:creationId xmlns:a16="http://schemas.microsoft.com/office/drawing/2014/main" id="{863448E4-3D95-EC00-B114-914C20F97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885" y="3093052"/>
            <a:ext cx="2332115" cy="1735186"/>
          </a:xfrm>
          <a:prstGeom prst="rect">
            <a:avLst/>
          </a:prstGeom>
        </p:spPr>
      </p:pic>
      <p:pic>
        <p:nvPicPr>
          <p:cNvPr id="14" name="图片 13" descr="IMG_256">
            <a:extLst>
              <a:ext uri="{FF2B5EF4-FFF2-40B4-BE49-F238E27FC236}">
                <a16:creationId xmlns:a16="http://schemas.microsoft.com/office/drawing/2014/main" id="{650235A0-0D9C-D6ED-0800-5D10B00AE36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636" y="4885880"/>
            <a:ext cx="2352611" cy="173518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DB5B513-854F-40F2-4F3D-FB8DB9B5260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102" y="4885879"/>
            <a:ext cx="2365948" cy="1735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351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8329F55-A0F7-4022-A579-03475610C841}"/>
              </a:ext>
            </a:extLst>
          </p:cNvPr>
          <p:cNvGrpSpPr/>
          <p:nvPr/>
        </p:nvGrpSpPr>
        <p:grpSpPr>
          <a:xfrm>
            <a:off x="3281242" y="2469732"/>
            <a:ext cx="4643558" cy="1678647"/>
            <a:chOff x="3281242" y="2469732"/>
            <a:chExt cx="4643558" cy="1678647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7089B40-0F99-4960-A1DD-10038BC08664}"/>
                </a:ext>
              </a:extLst>
            </p:cNvPr>
            <p:cNvGrpSpPr/>
            <p:nvPr/>
          </p:nvGrpSpPr>
          <p:grpSpPr>
            <a:xfrm>
              <a:off x="3281242" y="2469732"/>
              <a:ext cx="1235687" cy="1678647"/>
              <a:chOff x="3527985" y="2373304"/>
              <a:chExt cx="1235687" cy="1678647"/>
            </a:xfrm>
          </p:grpSpPr>
          <p:sp>
            <p:nvSpPr>
              <p:cNvPr id="50" name="平行四边形 49">
                <a:extLst>
                  <a:ext uri="{FF2B5EF4-FFF2-40B4-BE49-F238E27FC236}">
                    <a16:creationId xmlns:a16="http://schemas.microsoft.com/office/drawing/2014/main" id="{D4E0D57B-9550-4053-AA89-4B296D4AEB8A}"/>
                  </a:ext>
                </a:extLst>
              </p:cNvPr>
              <p:cNvSpPr/>
              <p:nvPr/>
            </p:nvSpPr>
            <p:spPr>
              <a:xfrm>
                <a:off x="3682638" y="2373304"/>
                <a:ext cx="926380" cy="1678647"/>
              </a:xfrm>
              <a:prstGeom prst="parallelogram">
                <a:avLst>
                  <a:gd name="adj" fmla="val 49473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6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FAEE11E3-9820-4292-96F5-6082DE13A318}"/>
                  </a:ext>
                </a:extLst>
              </p:cNvPr>
              <p:cNvSpPr/>
              <p:nvPr/>
            </p:nvSpPr>
            <p:spPr>
              <a:xfrm>
                <a:off x="3527985" y="2594785"/>
                <a:ext cx="1235687" cy="1235687"/>
              </a:xfrm>
              <a:prstGeom prst="parallelogram">
                <a:avLst/>
              </a:prstGeom>
              <a:solidFill>
                <a:srgbClr val="1973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600" b="1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+mn-lt"/>
                  </a:rPr>
                  <a:t>3</a:t>
                </a:r>
                <a:endParaRPr lang="zh-CN" altLang="en-US" sz="66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48FC187-3B15-4427-92CA-90AC34055396}"/>
                </a:ext>
              </a:extLst>
            </p:cNvPr>
            <p:cNvSpPr txBox="1"/>
            <p:nvPr/>
          </p:nvSpPr>
          <p:spPr>
            <a:xfrm>
              <a:off x="4910703" y="2761076"/>
              <a:ext cx="187743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1974A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创新点</a:t>
              </a: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5041735-9025-40B3-AE7C-D0AA1B4CF0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6000" y="3901351"/>
              <a:ext cx="2938800" cy="0"/>
            </a:xfrm>
            <a:prstGeom prst="line">
              <a:avLst/>
            </a:prstGeom>
            <a:ln>
              <a:solidFill>
                <a:srgbClr val="7FCFE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507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767ACBB-D7D1-4A41-B166-EAB5EE1A353A}"/>
              </a:ext>
            </a:extLst>
          </p:cNvPr>
          <p:cNvGrpSpPr/>
          <p:nvPr/>
        </p:nvGrpSpPr>
        <p:grpSpPr>
          <a:xfrm>
            <a:off x="1229384" y="2019443"/>
            <a:ext cx="10094326" cy="2768877"/>
            <a:chOff x="1193622" y="1886582"/>
            <a:chExt cx="10094326" cy="276887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C5955DC-E8BF-4656-B857-9ED2C471DBBC}"/>
                </a:ext>
              </a:extLst>
            </p:cNvPr>
            <p:cNvSpPr/>
            <p:nvPr/>
          </p:nvSpPr>
          <p:spPr>
            <a:xfrm>
              <a:off x="2066956" y="2178969"/>
              <a:ext cx="3609824" cy="23435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建立文化数字资产库：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对高山村古建筑、万花楼壁画等文化资源进行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思源黑体 CN Normal" panose="020B0400000000000000" pitchFamily="34" charset="-122"/>
                </a:rPr>
                <a:t>3D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扫描和数字化建档，并结合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sym typeface="思源黑体 CN Normal" panose="020B0400000000000000" pitchFamily="34" charset="-122"/>
                </a:rPr>
                <a:t>AR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技术实现讲解，扩大传播半径。</a:t>
              </a:r>
            </a:p>
            <a:p>
              <a:pPr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EFB0A52-B507-4771-A5C0-9CCA023BE167}"/>
                </a:ext>
              </a:extLst>
            </p:cNvPr>
            <p:cNvSpPr/>
            <p:nvPr/>
          </p:nvSpPr>
          <p:spPr>
            <a:xfrm>
              <a:off x="6912564" y="2178220"/>
              <a:ext cx="3609824" cy="19252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创新文化体验经济：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设计“科举文化沉浸营”等主题研学产品，通过年轻化形式活化传统文化。</a:t>
              </a:r>
            </a:p>
            <a:p>
              <a:pPr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34E62A0-C7E0-4BFF-BD61-2C05606B0299}"/>
                </a:ext>
              </a:extLst>
            </p:cNvPr>
            <p:cNvSpPr/>
            <p:nvPr/>
          </p:nvSpPr>
          <p:spPr>
            <a:xfrm>
              <a:off x="7720409" y="2756778"/>
              <a:ext cx="3567539" cy="400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6847A82-308B-4438-AD1E-5302E19F4900}"/>
                </a:ext>
              </a:extLst>
            </p:cNvPr>
            <p:cNvSpPr/>
            <p:nvPr/>
          </p:nvSpPr>
          <p:spPr>
            <a:xfrm>
              <a:off x="1193622" y="2140667"/>
              <a:ext cx="763833" cy="763833"/>
            </a:xfrm>
            <a:prstGeom prst="ellipse">
              <a:avLst/>
            </a:prstGeom>
            <a:solidFill>
              <a:srgbClr val="1973A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3200" b="1" dirty="0">
                <a:solidFill>
                  <a:schemeClr val="bg1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A70F7ACE-621C-4195-8FA5-1D4979988812}"/>
                </a:ext>
              </a:extLst>
            </p:cNvPr>
            <p:cNvSpPr/>
            <p:nvPr/>
          </p:nvSpPr>
          <p:spPr>
            <a:xfrm>
              <a:off x="1346975" y="2255941"/>
              <a:ext cx="457127" cy="6360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1</a:t>
              </a:r>
              <a:endParaRPr lang="zh-CN" altLang="en-US" sz="3200" dirty="0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941B6663-8FC2-4600-B116-5BC8E4D269F1}"/>
                </a:ext>
              </a:extLst>
            </p:cNvPr>
            <p:cNvSpPr/>
            <p:nvPr/>
          </p:nvSpPr>
          <p:spPr>
            <a:xfrm>
              <a:off x="6045160" y="2140667"/>
              <a:ext cx="763833" cy="763833"/>
            </a:xfrm>
            <a:prstGeom prst="ellipse">
              <a:avLst/>
            </a:prstGeom>
            <a:solidFill>
              <a:srgbClr val="7FCF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3200" b="1" dirty="0">
                <a:solidFill>
                  <a:schemeClr val="bg1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C7B6FA9-4F3E-4297-81D4-87A60AA90516}"/>
                </a:ext>
              </a:extLst>
            </p:cNvPr>
            <p:cNvSpPr/>
            <p:nvPr/>
          </p:nvSpPr>
          <p:spPr>
            <a:xfrm>
              <a:off x="6216922" y="2230195"/>
              <a:ext cx="42030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2</a:t>
              </a:r>
              <a:endParaRPr lang="zh-CN" altLang="en-US" sz="32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2FB4147-DBD2-469E-AD3D-7463BE346124}"/>
                </a:ext>
              </a:extLst>
            </p:cNvPr>
            <p:cNvSpPr/>
            <p:nvPr/>
          </p:nvSpPr>
          <p:spPr>
            <a:xfrm>
              <a:off x="9156159" y="1886582"/>
              <a:ext cx="1847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3200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F416BC9-DB69-4048-BA5A-EA46DFFDA422}"/>
                </a:ext>
              </a:extLst>
            </p:cNvPr>
            <p:cNvSpPr/>
            <p:nvPr/>
          </p:nvSpPr>
          <p:spPr>
            <a:xfrm>
              <a:off x="6912564" y="4070684"/>
              <a:ext cx="1847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3200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72DCBCA-F172-415B-AB3C-B4E9FE54DAFC}"/>
              </a:ext>
            </a:extLst>
          </p:cNvPr>
          <p:cNvGrpSpPr/>
          <p:nvPr/>
        </p:nvGrpSpPr>
        <p:grpSpPr>
          <a:xfrm>
            <a:off x="1133231" y="705788"/>
            <a:ext cx="9190310" cy="706219"/>
            <a:chOff x="2095274" y="985485"/>
            <a:chExt cx="8861318" cy="728378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DAEFDD7-DE05-45B6-85BB-278589B6B704}"/>
                </a:ext>
              </a:extLst>
            </p:cNvPr>
            <p:cNvSpPr txBox="1"/>
            <p:nvPr/>
          </p:nvSpPr>
          <p:spPr>
            <a:xfrm>
              <a:off x="2187986" y="985485"/>
              <a:ext cx="8768606" cy="728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创新点</a:t>
              </a:r>
              <a:r>
                <a:rPr lang="en-US" altLang="zh-CN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1</a:t>
              </a: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：打造“数字</a:t>
              </a:r>
              <a:r>
                <a:rPr lang="en-US" altLang="zh-CN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+</a:t>
              </a: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活态”双轨模式助力文化传承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1AE86421-9B2C-4E53-AC2C-992E8612F24E}"/>
                </a:ext>
              </a:extLst>
            </p:cNvPr>
            <p:cNvSpPr/>
            <p:nvPr/>
          </p:nvSpPr>
          <p:spPr>
            <a:xfrm rot="5400000">
              <a:off x="1831419" y="1350709"/>
              <a:ext cx="620422" cy="92711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5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767ACBB-D7D1-4A41-B166-EAB5EE1A353A}"/>
              </a:ext>
            </a:extLst>
          </p:cNvPr>
          <p:cNvGrpSpPr/>
          <p:nvPr/>
        </p:nvGrpSpPr>
        <p:grpSpPr>
          <a:xfrm>
            <a:off x="1215816" y="2136675"/>
            <a:ext cx="10085941" cy="4142342"/>
            <a:chOff x="1202007" y="1886582"/>
            <a:chExt cx="10085941" cy="414234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C5955DC-E8BF-4656-B857-9ED2C471DBBC}"/>
                </a:ext>
              </a:extLst>
            </p:cNvPr>
            <p:cNvSpPr/>
            <p:nvPr/>
          </p:nvSpPr>
          <p:spPr>
            <a:xfrm>
              <a:off x="2019157" y="2001410"/>
              <a:ext cx="3609824" cy="2689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设立乡村数字技术服务站：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建议由政府牵头，联合玉柴和高校建立面向村集体和小微经营者的数字化服务点，提供低门槛工具、设备借用和基础技术支持，帮助农村主体顺利接入数字化。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EFB0A52-B507-4771-A5C0-9CCA023BE167}"/>
                </a:ext>
              </a:extLst>
            </p:cNvPr>
            <p:cNvSpPr/>
            <p:nvPr/>
          </p:nvSpPr>
          <p:spPr>
            <a:xfrm>
              <a:off x="7022065" y="2956865"/>
              <a:ext cx="3609824" cy="30720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发展订单式文创开发：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对接本地学校需求，将文创产品纳入校园礼品采购体系；利用电商大数据分析爆款元素，指导设计迭代，避免盲目生产。并且鼓励高校人才集思广益，形成有地方特色的产品。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34E62A0-C7E0-4BFF-BD61-2C05606B0299}"/>
                </a:ext>
              </a:extLst>
            </p:cNvPr>
            <p:cNvSpPr/>
            <p:nvPr/>
          </p:nvSpPr>
          <p:spPr>
            <a:xfrm>
              <a:off x="7720409" y="2756778"/>
              <a:ext cx="3567539" cy="400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6847A82-308B-4438-AD1E-5302E19F4900}"/>
                </a:ext>
              </a:extLst>
            </p:cNvPr>
            <p:cNvSpPr/>
            <p:nvPr/>
          </p:nvSpPr>
          <p:spPr>
            <a:xfrm>
              <a:off x="1202007" y="2001410"/>
              <a:ext cx="763833" cy="763833"/>
            </a:xfrm>
            <a:prstGeom prst="ellipse">
              <a:avLst/>
            </a:prstGeom>
            <a:solidFill>
              <a:srgbClr val="1973A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3200" b="1" dirty="0">
                <a:solidFill>
                  <a:schemeClr val="bg1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A70F7ACE-621C-4195-8FA5-1D4979988812}"/>
                </a:ext>
              </a:extLst>
            </p:cNvPr>
            <p:cNvSpPr/>
            <p:nvPr/>
          </p:nvSpPr>
          <p:spPr>
            <a:xfrm>
              <a:off x="1350235" y="2073456"/>
              <a:ext cx="457127" cy="6360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1</a:t>
              </a:r>
              <a:endParaRPr lang="zh-CN" altLang="en-US" sz="3200" dirty="0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941B6663-8FC2-4600-B116-5BC8E4D269F1}"/>
                </a:ext>
              </a:extLst>
            </p:cNvPr>
            <p:cNvSpPr/>
            <p:nvPr/>
          </p:nvSpPr>
          <p:spPr>
            <a:xfrm>
              <a:off x="6110649" y="2849651"/>
              <a:ext cx="763833" cy="763833"/>
            </a:xfrm>
            <a:prstGeom prst="ellipse">
              <a:avLst/>
            </a:prstGeom>
            <a:solidFill>
              <a:srgbClr val="7FCF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3200" b="1" dirty="0">
                <a:solidFill>
                  <a:schemeClr val="bg1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C7B6FA9-4F3E-4297-81D4-87A60AA90516}"/>
                </a:ext>
              </a:extLst>
            </p:cNvPr>
            <p:cNvSpPr/>
            <p:nvPr/>
          </p:nvSpPr>
          <p:spPr>
            <a:xfrm>
              <a:off x="6264754" y="2939179"/>
              <a:ext cx="42030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2</a:t>
              </a:r>
              <a:endParaRPr lang="zh-CN" altLang="en-US" sz="32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2FB4147-DBD2-469E-AD3D-7463BE346124}"/>
                </a:ext>
              </a:extLst>
            </p:cNvPr>
            <p:cNvSpPr/>
            <p:nvPr/>
          </p:nvSpPr>
          <p:spPr>
            <a:xfrm>
              <a:off x="9156159" y="1886582"/>
              <a:ext cx="1847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3200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F416BC9-DB69-4048-BA5A-EA46DFFDA422}"/>
                </a:ext>
              </a:extLst>
            </p:cNvPr>
            <p:cNvSpPr/>
            <p:nvPr/>
          </p:nvSpPr>
          <p:spPr>
            <a:xfrm>
              <a:off x="6912564" y="4070684"/>
              <a:ext cx="1847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3200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72DCBCA-F172-415B-AB3C-B4E9FE54DAFC}"/>
              </a:ext>
            </a:extLst>
          </p:cNvPr>
          <p:cNvGrpSpPr/>
          <p:nvPr/>
        </p:nvGrpSpPr>
        <p:grpSpPr>
          <a:xfrm>
            <a:off x="1133231" y="705789"/>
            <a:ext cx="11009719" cy="699833"/>
            <a:chOff x="2095274" y="985485"/>
            <a:chExt cx="10615596" cy="721791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DAEFDD7-DE05-45B6-85BB-278589B6B704}"/>
                </a:ext>
              </a:extLst>
            </p:cNvPr>
            <p:cNvSpPr txBox="1"/>
            <p:nvPr/>
          </p:nvSpPr>
          <p:spPr>
            <a:xfrm>
              <a:off x="2187986" y="985485"/>
              <a:ext cx="10522884" cy="721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创新点</a:t>
              </a:r>
              <a:r>
                <a:rPr lang="en-US" altLang="zh-CN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2</a:t>
              </a: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：构建</a:t>
              </a:r>
              <a:r>
                <a:rPr lang="en-US" altLang="zh-CN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“</a:t>
              </a: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技术共享</a:t>
              </a:r>
              <a:r>
                <a:rPr lang="en-US" altLang="zh-CN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+</a:t>
              </a: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文创开发</a:t>
              </a:r>
              <a:r>
                <a:rPr lang="en-US" altLang="zh-CN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”</a:t>
              </a: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平台推动产业振兴</a:t>
              </a:r>
              <a:endPara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1AE86421-9B2C-4E53-AC2C-992E8612F24E}"/>
                </a:ext>
              </a:extLst>
            </p:cNvPr>
            <p:cNvSpPr/>
            <p:nvPr/>
          </p:nvSpPr>
          <p:spPr>
            <a:xfrm rot="5400000">
              <a:off x="1831419" y="1350709"/>
              <a:ext cx="620422" cy="92711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6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767ACBB-D7D1-4A41-B166-EAB5EE1A353A}"/>
              </a:ext>
            </a:extLst>
          </p:cNvPr>
          <p:cNvGrpSpPr/>
          <p:nvPr/>
        </p:nvGrpSpPr>
        <p:grpSpPr>
          <a:xfrm>
            <a:off x="1281506" y="2261721"/>
            <a:ext cx="10072375" cy="3649304"/>
            <a:chOff x="1215573" y="1886582"/>
            <a:chExt cx="10072375" cy="364930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C5955DC-E8BF-4656-B857-9ED2C471DBBC}"/>
                </a:ext>
              </a:extLst>
            </p:cNvPr>
            <p:cNvSpPr/>
            <p:nvPr/>
          </p:nvSpPr>
          <p:spPr>
            <a:xfrm>
              <a:off x="2151168" y="2043583"/>
              <a:ext cx="3609824" cy="34923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柔性机制促人才回流：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可以针对不同类型的青年人才设置多样化回乡路径、弹性的项目参与模式和个性化激励方案，让人才可以根据自身条件和兴趣参与乡村建设，同时保障文化和产业项目的持续推进。这种机制既能适应变化，又能增强乡村对人才和创新的吸引力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EFB0A52-B507-4771-A5C0-9CCA023BE167}"/>
                </a:ext>
              </a:extLst>
            </p:cNvPr>
            <p:cNvSpPr/>
            <p:nvPr/>
          </p:nvSpPr>
          <p:spPr>
            <a:xfrm>
              <a:off x="6941548" y="2043583"/>
              <a:ext cx="3609824" cy="23507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实施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"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数字领航员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"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培养：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38242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选拔村干部和乡贤作为首批数字推广员，由高校团队驻村培训，让青年学子在传统文化与现代技术之间架起桥梁，推动乡村数字化发展。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34E62A0-C7E0-4BFF-BD61-2C05606B0299}"/>
                </a:ext>
              </a:extLst>
            </p:cNvPr>
            <p:cNvSpPr/>
            <p:nvPr/>
          </p:nvSpPr>
          <p:spPr>
            <a:xfrm>
              <a:off x="7720409" y="2756778"/>
              <a:ext cx="3567539" cy="400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8242"/>
                </a:lnSpc>
              </a:pP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6847A82-308B-4438-AD1E-5302E19F4900}"/>
                </a:ext>
              </a:extLst>
            </p:cNvPr>
            <p:cNvSpPr/>
            <p:nvPr/>
          </p:nvSpPr>
          <p:spPr>
            <a:xfrm>
              <a:off x="1215573" y="2121770"/>
              <a:ext cx="763833" cy="763833"/>
            </a:xfrm>
            <a:prstGeom prst="ellipse">
              <a:avLst/>
            </a:prstGeom>
            <a:solidFill>
              <a:srgbClr val="1973A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3200" b="1" dirty="0">
                <a:solidFill>
                  <a:schemeClr val="bg1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A70F7ACE-621C-4195-8FA5-1D4979988812}"/>
                </a:ext>
              </a:extLst>
            </p:cNvPr>
            <p:cNvSpPr/>
            <p:nvPr/>
          </p:nvSpPr>
          <p:spPr>
            <a:xfrm>
              <a:off x="1388162" y="2224459"/>
              <a:ext cx="457127" cy="6360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1</a:t>
              </a:r>
              <a:endParaRPr lang="zh-CN" altLang="en-US" sz="3200" dirty="0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941B6663-8FC2-4600-B116-5BC8E4D269F1}"/>
                </a:ext>
              </a:extLst>
            </p:cNvPr>
            <p:cNvSpPr/>
            <p:nvPr/>
          </p:nvSpPr>
          <p:spPr>
            <a:xfrm>
              <a:off x="6005953" y="2121770"/>
              <a:ext cx="763833" cy="763833"/>
            </a:xfrm>
            <a:prstGeom prst="ellipse">
              <a:avLst/>
            </a:prstGeom>
            <a:solidFill>
              <a:srgbClr val="7FCF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38242"/>
                </a:lnSpc>
              </a:pPr>
              <a:endParaRPr lang="zh-CN" altLang="en-US" sz="3200" b="1" dirty="0">
                <a:solidFill>
                  <a:schemeClr val="bg1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C7B6FA9-4F3E-4297-81D4-87A60AA90516}"/>
                </a:ext>
              </a:extLst>
            </p:cNvPr>
            <p:cNvSpPr/>
            <p:nvPr/>
          </p:nvSpPr>
          <p:spPr>
            <a:xfrm>
              <a:off x="6177715" y="2211298"/>
              <a:ext cx="42030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2</a:t>
              </a:r>
              <a:endParaRPr lang="zh-CN" altLang="en-US" sz="32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2FB4147-DBD2-469E-AD3D-7463BE346124}"/>
                </a:ext>
              </a:extLst>
            </p:cNvPr>
            <p:cNvSpPr/>
            <p:nvPr/>
          </p:nvSpPr>
          <p:spPr>
            <a:xfrm>
              <a:off x="9156159" y="1886582"/>
              <a:ext cx="1847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3200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F416BC9-DB69-4048-BA5A-EA46DFFDA422}"/>
                </a:ext>
              </a:extLst>
            </p:cNvPr>
            <p:cNvSpPr/>
            <p:nvPr/>
          </p:nvSpPr>
          <p:spPr>
            <a:xfrm>
              <a:off x="6912564" y="4070684"/>
              <a:ext cx="1847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3200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72DCBCA-F172-415B-AB3C-B4E9FE54DAFC}"/>
              </a:ext>
            </a:extLst>
          </p:cNvPr>
          <p:cNvGrpSpPr/>
          <p:nvPr/>
        </p:nvGrpSpPr>
        <p:grpSpPr>
          <a:xfrm>
            <a:off x="1504781" y="705789"/>
            <a:ext cx="8594976" cy="699833"/>
            <a:chOff x="2095274" y="985485"/>
            <a:chExt cx="8594976" cy="721791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DAEFDD7-DE05-45B6-85BB-278589B6B704}"/>
                </a:ext>
              </a:extLst>
            </p:cNvPr>
            <p:cNvSpPr txBox="1"/>
            <p:nvPr/>
          </p:nvSpPr>
          <p:spPr>
            <a:xfrm>
              <a:off x="2187986" y="985485"/>
              <a:ext cx="8502264" cy="721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创新点</a:t>
              </a:r>
              <a:r>
                <a:rPr lang="en-US" altLang="zh-CN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3</a:t>
              </a:r>
              <a:r>
                <a:rPr lang="zh-CN" altLang="en-US" sz="3200" b="1" dirty="0">
                  <a:solidFill>
                    <a:srgbClr val="1973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：用更成熟的制度注入年轻人的活力</a:t>
              </a:r>
              <a:endPara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1AE86421-9B2C-4E53-AC2C-992E8612F24E}"/>
                </a:ext>
              </a:extLst>
            </p:cNvPr>
            <p:cNvSpPr/>
            <p:nvPr/>
          </p:nvSpPr>
          <p:spPr>
            <a:xfrm rot="5400000">
              <a:off x="1831419" y="1350709"/>
              <a:ext cx="620422" cy="92711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0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34EFD23-A6CC-4F95-83D9-5C736A852265}"/>
              </a:ext>
            </a:extLst>
          </p:cNvPr>
          <p:cNvGrpSpPr/>
          <p:nvPr/>
        </p:nvGrpSpPr>
        <p:grpSpPr>
          <a:xfrm>
            <a:off x="3513469" y="2469732"/>
            <a:ext cx="2942641" cy="1678647"/>
            <a:chOff x="3513469" y="2469732"/>
            <a:chExt cx="2942641" cy="1678647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7089B40-0F99-4960-A1DD-10038BC08664}"/>
                </a:ext>
              </a:extLst>
            </p:cNvPr>
            <p:cNvGrpSpPr/>
            <p:nvPr/>
          </p:nvGrpSpPr>
          <p:grpSpPr>
            <a:xfrm>
              <a:off x="3513469" y="2469732"/>
              <a:ext cx="1235687" cy="1678647"/>
              <a:chOff x="3527985" y="2373304"/>
              <a:chExt cx="1235687" cy="1678647"/>
            </a:xfrm>
          </p:grpSpPr>
          <p:sp>
            <p:nvSpPr>
              <p:cNvPr id="50" name="平行四边形 49">
                <a:extLst>
                  <a:ext uri="{FF2B5EF4-FFF2-40B4-BE49-F238E27FC236}">
                    <a16:creationId xmlns:a16="http://schemas.microsoft.com/office/drawing/2014/main" id="{D4E0D57B-9550-4053-AA89-4B296D4AEB8A}"/>
                  </a:ext>
                </a:extLst>
              </p:cNvPr>
              <p:cNvSpPr/>
              <p:nvPr/>
            </p:nvSpPr>
            <p:spPr>
              <a:xfrm>
                <a:off x="3682638" y="2373304"/>
                <a:ext cx="926380" cy="1678647"/>
              </a:xfrm>
              <a:prstGeom prst="parallelogram">
                <a:avLst>
                  <a:gd name="adj" fmla="val 49473"/>
                </a:avLst>
              </a:prstGeom>
              <a:solidFill>
                <a:srgbClr val="7FCF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6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FAEE11E3-9820-4292-96F5-6082DE13A318}"/>
                  </a:ext>
                </a:extLst>
              </p:cNvPr>
              <p:cNvSpPr/>
              <p:nvPr/>
            </p:nvSpPr>
            <p:spPr>
              <a:xfrm>
                <a:off x="3527985" y="2594785"/>
                <a:ext cx="1235687" cy="1235687"/>
              </a:xfrm>
              <a:prstGeom prst="parallelogram">
                <a:avLst/>
              </a:prstGeom>
              <a:solidFill>
                <a:srgbClr val="1974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600" b="1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+mn-ea"/>
                    <a:sym typeface="+mn-lt"/>
                  </a:rPr>
                  <a:t>4</a:t>
                </a:r>
                <a:endParaRPr lang="zh-CN" altLang="en-US" sz="6600" b="1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48FC187-3B15-4427-92CA-90AC34055396}"/>
                </a:ext>
              </a:extLst>
            </p:cNvPr>
            <p:cNvSpPr txBox="1"/>
            <p:nvPr/>
          </p:nvSpPr>
          <p:spPr>
            <a:xfrm>
              <a:off x="5142930" y="2761076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1973A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展望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5041735-9025-40B3-AE7C-D0AA1B4CF003}"/>
              </a:ext>
            </a:extLst>
          </p:cNvPr>
          <p:cNvCxnSpPr>
            <a:cxnSpLocks/>
          </p:cNvCxnSpPr>
          <p:nvPr/>
        </p:nvCxnSpPr>
        <p:spPr>
          <a:xfrm flipH="1">
            <a:off x="4986000" y="3901351"/>
            <a:ext cx="2938800" cy="0"/>
          </a:xfrm>
          <a:prstGeom prst="line">
            <a:avLst/>
          </a:prstGeom>
          <a:ln>
            <a:solidFill>
              <a:srgbClr val="7FCFE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04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665F69CC-1188-4393-9C37-0A4CAE0D8348}"/>
              </a:ext>
            </a:extLst>
          </p:cNvPr>
          <p:cNvGrpSpPr/>
          <p:nvPr/>
        </p:nvGrpSpPr>
        <p:grpSpPr>
          <a:xfrm>
            <a:off x="1491377" y="838095"/>
            <a:ext cx="1210588" cy="955279"/>
            <a:chOff x="4897911" y="1083141"/>
            <a:chExt cx="1210588" cy="95527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741E3A9-E5D0-4B20-9E52-47965BE322E8}"/>
                </a:ext>
              </a:extLst>
            </p:cNvPr>
            <p:cNvSpPr txBox="1"/>
            <p:nvPr/>
          </p:nvSpPr>
          <p:spPr>
            <a:xfrm>
              <a:off x="4897911" y="1083141"/>
              <a:ext cx="1210588" cy="859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8242"/>
                </a:lnSpc>
              </a:pPr>
              <a:r>
                <a:rPr lang="zh-CN" altLang="en-US" sz="4000" b="1" dirty="0">
                  <a:solidFill>
                    <a:srgbClr val="1974A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展望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667B07E1-4E9F-4505-9243-095857345B88}"/>
                </a:ext>
              </a:extLst>
            </p:cNvPr>
            <p:cNvSpPr/>
            <p:nvPr/>
          </p:nvSpPr>
          <p:spPr>
            <a:xfrm>
              <a:off x="5026030" y="1942800"/>
              <a:ext cx="943950" cy="95620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242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086" y="306729"/>
            <a:ext cx="798118" cy="79811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C5955DC-E8BF-4656-B857-9ED2C471DBBC}"/>
              </a:ext>
            </a:extLst>
          </p:cNvPr>
          <p:cNvSpPr/>
          <p:nvPr/>
        </p:nvSpPr>
        <p:spPr>
          <a:xfrm>
            <a:off x="1560608" y="2152998"/>
            <a:ext cx="8654099" cy="2640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8242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        这一趟调研之旅下来，我们恍然领悟：乡村振兴如同发动机制造，既需要精密的设计蓝图，也需要每个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"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零件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"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的扎实打磨。作为青年学子，我们愿做那颗小小的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"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螺丝钉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"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，以专业所学锚住文化根脉，以创新思维点燃发展引擎，让乡土中国在数字时代焕发新生。</a:t>
            </a:r>
          </a:p>
        </p:txBody>
      </p:sp>
    </p:spTree>
    <p:extLst>
      <p:ext uri="{BB962C8B-B14F-4D97-AF65-F5344CB8AC3E}">
        <p14:creationId xmlns:p14="http://schemas.microsoft.com/office/powerpoint/2010/main" val="101577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C95A43A-F8B5-4D40-8717-1F13DAFE2192}"/>
              </a:ext>
            </a:extLst>
          </p:cNvPr>
          <p:cNvGrpSpPr/>
          <p:nvPr/>
        </p:nvGrpSpPr>
        <p:grpSpPr>
          <a:xfrm>
            <a:off x="3188648" y="2192405"/>
            <a:ext cx="6340197" cy="2128867"/>
            <a:chOff x="2618125" y="1989205"/>
            <a:chExt cx="6340197" cy="2128867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DD06F86-4458-4DED-991B-46E94D9B2680}"/>
                </a:ext>
              </a:extLst>
            </p:cNvPr>
            <p:cNvSpPr/>
            <p:nvPr/>
          </p:nvSpPr>
          <p:spPr>
            <a:xfrm>
              <a:off x="2618125" y="3287075"/>
              <a:ext cx="634019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800" b="1" dirty="0">
                  <a:solidFill>
                    <a:srgbClr val="1974A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恳请各位老师批评指正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8A78281-952D-41F8-906A-5A851FCE6BE7}"/>
                </a:ext>
              </a:extLst>
            </p:cNvPr>
            <p:cNvSpPr/>
            <p:nvPr/>
          </p:nvSpPr>
          <p:spPr>
            <a:xfrm>
              <a:off x="3780174" y="1989205"/>
              <a:ext cx="4631653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7200" b="1" dirty="0">
                  <a:solidFill>
                    <a:srgbClr val="1974A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T</a:t>
              </a:r>
              <a:r>
                <a:rPr lang="en-US" altLang="zh-CN" sz="6000" b="1" dirty="0">
                  <a:solidFill>
                    <a:srgbClr val="1974A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hanks you</a:t>
              </a:r>
              <a:endParaRPr lang="zh-CN" altLang="en-US" sz="6000" b="1" dirty="0">
                <a:solidFill>
                  <a:srgbClr val="1974A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913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1014</Words>
  <Application>Microsoft Office PowerPoint</Application>
  <PresentationFormat>宽屏</PresentationFormat>
  <Paragraphs>113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华文中宋</vt:lpstr>
      <vt:lpstr>思源黑体 CN Bold</vt:lpstr>
      <vt:lpstr>思源黑体 CN Normal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58263148@qq.com</dc:creator>
  <cp:lastModifiedBy>盛鹏 李</cp:lastModifiedBy>
  <cp:revision>293</cp:revision>
  <dcterms:created xsi:type="dcterms:W3CDTF">2021-05-28T07:09:29Z</dcterms:created>
  <dcterms:modified xsi:type="dcterms:W3CDTF">2025-11-14T16:41:29Z</dcterms:modified>
</cp:coreProperties>
</file>