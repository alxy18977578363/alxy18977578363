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3"/>
  </p:notesMasterIdLst>
  <p:sldIdLst>
    <p:sldId id="256" r:id="rId2"/>
    <p:sldId id="311" r:id="rId3"/>
    <p:sldId id="354" r:id="rId4"/>
    <p:sldId id="319" r:id="rId5"/>
    <p:sldId id="315" r:id="rId6"/>
    <p:sldId id="345" r:id="rId7"/>
    <p:sldId id="347" r:id="rId8"/>
    <p:sldId id="314" r:id="rId9"/>
    <p:sldId id="352" r:id="rId10"/>
    <p:sldId id="355" r:id="rId11"/>
    <p:sldId id="349"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76" autoAdjust="0"/>
    <p:restoredTop sz="94660"/>
  </p:normalViewPr>
  <p:slideViewPr>
    <p:cSldViewPr snapToGrid="0" showGuides="1">
      <p:cViewPr varScale="1">
        <p:scale>
          <a:sx n="79" d="100"/>
          <a:sy n="79" d="100"/>
        </p:scale>
        <p:origin x="588" y="36"/>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5CE5F-2384-4ECA-A1A3-47861EA0C823}"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CD896-5BB0-47EA-A9FD-AA08636F55D3}" type="slidenum">
              <a:rPr lang="zh-CN" altLang="en-US" smtClean="0"/>
              <a:t>‹#›</a:t>
            </a:fld>
            <a:endParaRPr lang="zh-CN" altLang="en-US"/>
          </a:p>
        </p:txBody>
      </p:sp>
    </p:spTree>
    <p:extLst>
      <p:ext uri="{BB962C8B-B14F-4D97-AF65-F5344CB8AC3E}">
        <p14:creationId xmlns:p14="http://schemas.microsoft.com/office/powerpoint/2010/main" val="1663771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1</a:t>
            </a:fld>
            <a:endParaRPr lang="zh-CN" altLang="en-US"/>
          </a:p>
        </p:txBody>
      </p:sp>
    </p:spTree>
    <p:extLst>
      <p:ext uri="{BB962C8B-B14F-4D97-AF65-F5344CB8AC3E}">
        <p14:creationId xmlns:p14="http://schemas.microsoft.com/office/powerpoint/2010/main" val="358935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2</a:t>
            </a:fld>
            <a:endParaRPr lang="zh-CN" altLang="en-US"/>
          </a:p>
        </p:txBody>
      </p:sp>
    </p:spTree>
    <p:extLst>
      <p:ext uri="{BB962C8B-B14F-4D97-AF65-F5344CB8AC3E}">
        <p14:creationId xmlns:p14="http://schemas.microsoft.com/office/powerpoint/2010/main" val="594576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EBCEA-3C60-12E0-F667-56CDF27465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00C7C8-E9E7-22D1-D32B-EF242B7E16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035E43-2DEF-761D-4205-7B4EDEC0C55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4D36B43-F434-7075-6C48-2BF2E073C6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2CD896-5BB0-47EA-A9FD-AA08636F55D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17691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3773471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5</a:t>
            </a:fld>
            <a:endParaRPr lang="zh-CN" altLang="en-US"/>
          </a:p>
        </p:txBody>
      </p:sp>
    </p:spTree>
    <p:extLst>
      <p:ext uri="{BB962C8B-B14F-4D97-AF65-F5344CB8AC3E}">
        <p14:creationId xmlns:p14="http://schemas.microsoft.com/office/powerpoint/2010/main" val="975927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3831647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pPr/>
              <a:t>7</a:t>
            </a:fld>
            <a:endParaRPr lang="zh-CN" altLang="en-US">
              <a:solidFill>
                <a:prstClr val="black"/>
              </a:solidFill>
            </a:endParaRPr>
          </a:p>
        </p:txBody>
      </p:sp>
    </p:spTree>
    <p:extLst>
      <p:ext uri="{BB962C8B-B14F-4D97-AF65-F5344CB8AC3E}">
        <p14:creationId xmlns:p14="http://schemas.microsoft.com/office/powerpoint/2010/main" val="118264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8</a:t>
            </a:fld>
            <a:endParaRPr lang="zh-CN" altLang="en-US"/>
          </a:p>
        </p:txBody>
      </p:sp>
    </p:spTree>
    <p:extLst>
      <p:ext uri="{BB962C8B-B14F-4D97-AF65-F5344CB8AC3E}">
        <p14:creationId xmlns:p14="http://schemas.microsoft.com/office/powerpoint/2010/main" val="834339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pPr/>
              <a:t>9</a:t>
            </a:fld>
            <a:endParaRPr lang="zh-CN" altLang="en-US">
              <a:solidFill>
                <a:prstClr val="black"/>
              </a:solidFill>
            </a:endParaRPr>
          </a:p>
        </p:txBody>
      </p:sp>
    </p:spTree>
    <p:extLst>
      <p:ext uri="{BB962C8B-B14F-4D97-AF65-F5344CB8AC3E}">
        <p14:creationId xmlns:p14="http://schemas.microsoft.com/office/powerpoint/2010/main" val="3238736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92838-A0E3-97A3-450D-091A70403D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6A4584-C292-33E7-836D-B742A964F4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BA482D-28E5-E859-A4D5-F811A6E314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F3391F0-01E1-8704-A599-5230F52B2FF4}"/>
              </a:ext>
            </a:extLst>
          </p:cNvPr>
          <p:cNvSpPr>
            <a:spLocks noGrp="1"/>
          </p:cNvSpPr>
          <p:nvPr>
            <p:ph type="sldNum" sz="quarter" idx="10"/>
          </p:nvPr>
        </p:nvSpPr>
        <p:spPr/>
        <p:txBody>
          <a:bodyPr/>
          <a:lstStyle/>
          <a:p>
            <a:fld id="{3F56E22E-BD2F-4CC6-B6B8-732D02813C51}" type="slidenum">
              <a:rPr lang="zh-CN" altLang="en-US" smtClean="0">
                <a:solidFill>
                  <a:prstClr val="black"/>
                </a:solidFill>
              </a:rPr>
              <a:pPr/>
              <a:t>10</a:t>
            </a:fld>
            <a:endParaRPr lang="zh-CN" altLang="en-US">
              <a:solidFill>
                <a:prstClr val="black"/>
              </a:solidFill>
            </a:endParaRPr>
          </a:p>
        </p:txBody>
      </p:sp>
    </p:spTree>
    <p:extLst>
      <p:ext uri="{BB962C8B-B14F-4D97-AF65-F5344CB8AC3E}">
        <p14:creationId xmlns:p14="http://schemas.microsoft.com/office/powerpoint/2010/main" val="2534922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t>11</a:t>
            </a:fld>
            <a:endParaRPr lang="zh-CN" altLang="en-US"/>
          </a:p>
        </p:txBody>
      </p:sp>
    </p:spTree>
    <p:extLst>
      <p:ext uri="{BB962C8B-B14F-4D97-AF65-F5344CB8AC3E}">
        <p14:creationId xmlns:p14="http://schemas.microsoft.com/office/powerpoint/2010/main" val="259782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95024517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253371223"/>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2516C88-1DBC-4A6F-B7E7-3EF051E8B715}"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2024478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2516C88-1DBC-4A6F-B7E7-3EF051E8B715}"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t>‹#›</a:t>
            </a:fld>
            <a:endParaRPr lang="zh-CN" altLang="en-US"/>
          </a:p>
        </p:txBody>
      </p:sp>
    </p:spTree>
    <p:extLst>
      <p:ext uri="{BB962C8B-B14F-4D97-AF65-F5344CB8AC3E}">
        <p14:creationId xmlns:p14="http://schemas.microsoft.com/office/powerpoint/2010/main" val="3341817199"/>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2148906747"/>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253477119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2190365563"/>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341486910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192925201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2560769003"/>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50D784D-74CC-49A9-95D7-F9265270368D}"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t>‹#›</a:t>
            </a:fld>
            <a:endParaRPr lang="zh-CN" altLang="en-US"/>
          </a:p>
        </p:txBody>
      </p:sp>
    </p:spTree>
    <p:extLst>
      <p:ext uri="{BB962C8B-B14F-4D97-AF65-F5344CB8AC3E}">
        <p14:creationId xmlns:p14="http://schemas.microsoft.com/office/powerpoint/2010/main" val="130134977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68456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117601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484715"/>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46953"/>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43772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16C88-1DBC-4A6F-B7E7-3EF051E8B715}" type="datetimeFigureOut">
              <a:rPr lang="zh-CN" altLang="en-US" smtClean="0"/>
              <a:t>2025/10/16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B8A7E-8CFB-4EE6-B02F-58142BF95AC5}" type="slidenum">
              <a:rPr lang="zh-CN" altLang="en-US" smtClean="0"/>
              <a:t>‹#›</a:t>
            </a:fld>
            <a:endParaRPr lang="zh-CN" altLang="en-US"/>
          </a:p>
        </p:txBody>
      </p:sp>
      <p:sp>
        <p:nvSpPr>
          <p:cNvPr id="8" name="矩形 7">
            <a:extLst>
              <a:ext uri="{FF2B5EF4-FFF2-40B4-BE49-F238E27FC236}">
                <a16:creationId xmlns:a16="http://schemas.microsoft.com/office/drawing/2014/main" id="{899BA9F4-3A34-4F45-8B04-935EC993E58A}"/>
              </a:ext>
            </a:extLst>
          </p:cNvPr>
          <p:cNvSpPr/>
          <p:nvPr userDrawn="1"/>
        </p:nvSpPr>
        <p:spPr>
          <a:xfrm>
            <a:off x="0" y="0"/>
            <a:ext cx="12192000" cy="6858000"/>
          </a:xfrm>
          <a:prstGeom prst="rect">
            <a:avLst/>
          </a:prstGeom>
          <a:solidFill>
            <a:srgbClr val="F5E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2275630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7" r:id="rId13"/>
    <p:sldLayoutId id="2147483660" r:id="rId14"/>
    <p:sldLayoutId id="2147483661" r:id="rId15"/>
    <p:sldLayoutId id="2147483662" r:id="rId16"/>
  </p:sldLayoutIdLst>
  <mc:AlternateContent xmlns:mc="http://schemas.openxmlformats.org/markup-compatibility/2006" xmlns:p14="http://schemas.microsoft.com/office/powerpoint/2010/main">
    <mc:Choice Requires="p14">
      <p:transition p14:dur="10" advTm="0"/>
    </mc:Choice>
    <mc:Fallback xmlns="">
      <p:transition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image" Target="../media/image4.png"/><Relationship Id="rId7" Type="http://schemas.openxmlformats.org/officeDocument/2006/relationships/image" Target="../media/image9.jpeg"/><Relationship Id="rId12"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5" Type="http://schemas.openxmlformats.org/officeDocument/2006/relationships/image" Target="../media/image1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FF964FDA-BC67-4D4A-BE2D-6F5D4C225E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3723" y="2745633"/>
            <a:ext cx="5184990" cy="4147992"/>
          </a:xfrm>
          <a:prstGeom prst="rect">
            <a:avLst/>
          </a:prstGeom>
        </p:spPr>
      </p:pic>
      <p:pic>
        <p:nvPicPr>
          <p:cNvPr id="35" name="图片 34">
            <a:extLst>
              <a:ext uri="{FF2B5EF4-FFF2-40B4-BE49-F238E27FC236}">
                <a16:creationId xmlns:a16="http://schemas.microsoft.com/office/drawing/2014/main" id="{0BCAED5F-5F05-4271-A84D-963B04AD57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sp>
        <p:nvSpPr>
          <p:cNvPr id="30" name="矩形 29">
            <a:extLst>
              <a:ext uri="{FF2B5EF4-FFF2-40B4-BE49-F238E27FC236}">
                <a16:creationId xmlns:a16="http://schemas.microsoft.com/office/drawing/2014/main" id="{9ACC40E1-4E39-4604-A9C5-63FD620B632C}"/>
              </a:ext>
            </a:extLst>
          </p:cNvPr>
          <p:cNvSpPr/>
          <p:nvPr/>
        </p:nvSpPr>
        <p:spPr>
          <a:xfrm>
            <a:off x="-569442" y="2713521"/>
            <a:ext cx="13330884" cy="923330"/>
          </a:xfrm>
          <a:prstGeom prst="rect">
            <a:avLst/>
          </a:prstGeom>
        </p:spPr>
        <p:txBody>
          <a:bodyPr wrap="square">
            <a:spAutoFit/>
          </a:bodyPr>
          <a:lstStyle/>
          <a:p>
            <a:pPr algn="ctr"/>
            <a:r>
              <a:rPr lang="zh-CN" altLang="en-US" sz="5400" dirty="0">
                <a:solidFill>
                  <a:srgbClr val="C00000"/>
                </a:solidFill>
                <a:latin typeface="华文行楷" panose="02010800040101010101" pitchFamily="2" charset="-122"/>
                <a:ea typeface="华文行楷" panose="02010800040101010101" pitchFamily="2" charset="-122"/>
                <a:cs typeface="+mn-ea"/>
                <a:sym typeface="+mn-lt"/>
              </a:rPr>
              <a:t>济梦助学燃希望 扶智兴乡筑未来</a:t>
            </a:r>
          </a:p>
        </p:txBody>
      </p:sp>
      <p:sp>
        <p:nvSpPr>
          <p:cNvPr id="32" name="Freeform 29">
            <a:extLst>
              <a:ext uri="{FF2B5EF4-FFF2-40B4-BE49-F238E27FC236}">
                <a16:creationId xmlns:a16="http://schemas.microsoft.com/office/drawing/2014/main" id="{24881789-4975-4D19-85A9-37539D67E584}"/>
              </a:ext>
            </a:extLst>
          </p:cNvPr>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a:extLst>
              <a:ext uri="{FF2B5EF4-FFF2-40B4-BE49-F238E27FC236}">
                <a16:creationId xmlns:a16="http://schemas.microsoft.com/office/drawing/2014/main" id="{318A9B30-2396-4409-B19B-E784ADED99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7468" y="552220"/>
            <a:ext cx="2857500" cy="1190625"/>
          </a:xfrm>
          <a:prstGeom prst="rect">
            <a:avLst/>
          </a:prstGeom>
        </p:spPr>
      </p:pic>
      <p:sp>
        <p:nvSpPr>
          <p:cNvPr id="38" name="矩形 37">
            <a:extLst>
              <a:ext uri="{FF2B5EF4-FFF2-40B4-BE49-F238E27FC236}">
                <a16:creationId xmlns:a16="http://schemas.microsoft.com/office/drawing/2014/main" id="{471A064B-F56B-4696-9D09-C35B21382276}"/>
              </a:ext>
            </a:extLst>
          </p:cNvPr>
          <p:cNvSpPr/>
          <p:nvPr/>
        </p:nvSpPr>
        <p:spPr>
          <a:xfrm>
            <a:off x="3935928" y="4462365"/>
            <a:ext cx="4046299" cy="892552"/>
          </a:xfrm>
          <a:prstGeom prst="rect">
            <a:avLst/>
          </a:prstGeom>
        </p:spPr>
        <p:txBody>
          <a:bodyPr wrap="none">
            <a:spAutoFit/>
          </a:bodyPr>
          <a:lstStyle/>
          <a:p>
            <a:pPr algn="ctr"/>
            <a:r>
              <a:rPr lang="zh-CN" altLang="en-US" sz="2600" b="1" dirty="0">
                <a:solidFill>
                  <a:srgbClr val="C00000"/>
                </a:solidFill>
                <a:latin typeface="幼圆" panose="02010509060101010101" pitchFamily="49" charset="-122"/>
                <a:ea typeface="幼圆" panose="02010509060101010101" pitchFamily="49" charset="-122"/>
                <a:cs typeface="+mn-ea"/>
                <a:sym typeface="+mn-lt"/>
              </a:rPr>
              <a:t>汇报人</a:t>
            </a:r>
            <a:r>
              <a:rPr lang="en-US" altLang="zh-CN" sz="2600" b="1" dirty="0">
                <a:solidFill>
                  <a:srgbClr val="C00000"/>
                </a:solidFill>
                <a:latin typeface="幼圆" panose="02010509060101010101" pitchFamily="49" charset="-122"/>
                <a:ea typeface="幼圆" panose="02010509060101010101" pitchFamily="49" charset="-122"/>
                <a:cs typeface="+mn-ea"/>
                <a:sym typeface="+mn-lt"/>
              </a:rPr>
              <a:t>:2351100</a:t>
            </a:r>
            <a:r>
              <a:rPr lang="zh-CN" altLang="en-US" sz="2600" b="1" dirty="0">
                <a:solidFill>
                  <a:srgbClr val="C00000"/>
                </a:solidFill>
                <a:latin typeface="幼圆" panose="02010509060101010101" pitchFamily="49" charset="-122"/>
                <a:ea typeface="幼圆" panose="02010509060101010101" pitchFamily="49" charset="-122"/>
                <a:cs typeface="+mn-ea"/>
                <a:sym typeface="+mn-lt"/>
              </a:rPr>
              <a:t>陈灏航  </a:t>
            </a:r>
            <a:endParaRPr lang="en-US" altLang="zh-CN" sz="2600" b="1" dirty="0">
              <a:solidFill>
                <a:srgbClr val="C00000"/>
              </a:solidFill>
              <a:latin typeface="幼圆" panose="02010509060101010101" pitchFamily="49" charset="-122"/>
              <a:ea typeface="幼圆" panose="02010509060101010101" pitchFamily="49" charset="-122"/>
              <a:cs typeface="+mn-ea"/>
              <a:sym typeface="+mn-lt"/>
            </a:endParaRPr>
          </a:p>
          <a:p>
            <a:pPr algn="ctr"/>
            <a:r>
              <a:rPr lang="zh-CN" altLang="en-US" sz="2600" b="1" dirty="0">
                <a:solidFill>
                  <a:srgbClr val="C00000"/>
                </a:solidFill>
                <a:latin typeface="幼圆" panose="02010509060101010101" pitchFamily="49" charset="-122"/>
                <a:ea typeface="幼圆" panose="02010509060101010101" pitchFamily="49" charset="-122"/>
                <a:cs typeface="+mn-ea"/>
                <a:sym typeface="+mn-lt"/>
              </a:rPr>
              <a:t>小组成员：</a:t>
            </a:r>
            <a:r>
              <a:rPr lang="en-US" altLang="zh-CN" sz="2600" b="1" dirty="0">
                <a:solidFill>
                  <a:srgbClr val="C00000"/>
                </a:solidFill>
                <a:latin typeface="幼圆" panose="02010509060101010101" pitchFamily="49" charset="-122"/>
                <a:ea typeface="幼圆" panose="02010509060101010101" pitchFamily="49" charset="-122"/>
                <a:cs typeface="+mn-ea"/>
                <a:sym typeface="+mn-lt"/>
              </a:rPr>
              <a:t>2351136</a:t>
            </a:r>
            <a:r>
              <a:rPr lang="zh-CN" altLang="en-US" sz="2600" b="1" dirty="0">
                <a:solidFill>
                  <a:srgbClr val="C00000"/>
                </a:solidFill>
                <a:latin typeface="幼圆" panose="02010509060101010101" pitchFamily="49" charset="-122"/>
                <a:ea typeface="幼圆" panose="02010509060101010101" pitchFamily="49" charset="-122"/>
                <a:cs typeface="+mn-ea"/>
                <a:sym typeface="+mn-lt"/>
              </a:rPr>
              <a:t>李盛鹏</a:t>
            </a:r>
          </a:p>
        </p:txBody>
      </p:sp>
      <p:pic>
        <p:nvPicPr>
          <p:cNvPr id="40" name="图片 39">
            <a:extLst>
              <a:ext uri="{FF2B5EF4-FFF2-40B4-BE49-F238E27FC236}">
                <a16:creationId xmlns:a16="http://schemas.microsoft.com/office/drawing/2014/main" id="{6D28FA4A-F9AD-4D78-804A-DF6854C1F8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902340" flipH="1">
            <a:off x="1320789" y="1151521"/>
            <a:ext cx="2100539" cy="875225"/>
          </a:xfrm>
          <a:prstGeom prst="rect">
            <a:avLst/>
          </a:prstGeom>
        </p:spPr>
      </p:pic>
      <p:sp>
        <p:nvSpPr>
          <p:cNvPr id="2" name="矩形 1">
            <a:extLst>
              <a:ext uri="{FF2B5EF4-FFF2-40B4-BE49-F238E27FC236}">
                <a16:creationId xmlns:a16="http://schemas.microsoft.com/office/drawing/2014/main" id="{B70180CF-D865-1DAF-E31E-D36131D26368}"/>
              </a:ext>
            </a:extLst>
          </p:cNvPr>
          <p:cNvSpPr/>
          <p:nvPr/>
        </p:nvSpPr>
        <p:spPr>
          <a:xfrm>
            <a:off x="757681" y="3818423"/>
            <a:ext cx="9948602" cy="461665"/>
          </a:xfrm>
          <a:prstGeom prst="rect">
            <a:avLst/>
          </a:prstGeom>
        </p:spPr>
        <p:txBody>
          <a:bodyPr wrap="square">
            <a:spAutoFit/>
          </a:bodyPr>
          <a:lstStyle/>
          <a:p>
            <a:pPr algn="ctr"/>
            <a:r>
              <a:rPr lang="zh-CN" altLang="en-US" sz="2400" dirty="0">
                <a:solidFill>
                  <a:srgbClr val="C00000"/>
                </a:solidFill>
                <a:latin typeface="华文行楷" panose="02010800040101010101" pitchFamily="2" charset="-122"/>
                <a:ea typeface="华文行楷" panose="02010800040101010101" pitchFamily="2" charset="-122"/>
                <a:cs typeface="+mn-ea"/>
                <a:sym typeface="+mn-lt"/>
              </a:rPr>
              <a:t>地点：广西壮族自治区玉林市</a:t>
            </a:r>
          </a:p>
        </p:txBody>
      </p:sp>
    </p:spTree>
    <p:extLst>
      <p:ext uri="{BB962C8B-B14F-4D97-AF65-F5344CB8AC3E}">
        <p14:creationId xmlns:p14="http://schemas.microsoft.com/office/powerpoint/2010/main" val="2454413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23" presetClass="entr" presetSubtype="36"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1000" fill="hold"/>
                                        <p:tgtEl>
                                          <p:spTgt spid="32"/>
                                        </p:tgtEl>
                                        <p:attrNameLst>
                                          <p:attrName>ppt_w</p:attrName>
                                        </p:attrNameLst>
                                      </p:cBhvr>
                                      <p:tavLst>
                                        <p:tav tm="0">
                                          <p:val>
                                            <p:strVal val="(6*min(max(#ppt_w*#ppt_h,.3),1)-7.4)/-.7*#ppt_w"/>
                                          </p:val>
                                        </p:tav>
                                        <p:tav tm="100000">
                                          <p:val>
                                            <p:strVal val="#ppt_w"/>
                                          </p:val>
                                        </p:tav>
                                      </p:tavLst>
                                    </p:anim>
                                    <p:anim calcmode="lin" valueType="num">
                                      <p:cBhvr>
                                        <p:cTn id="16" dur="1000" fill="hold"/>
                                        <p:tgtEl>
                                          <p:spTgt spid="32"/>
                                        </p:tgtEl>
                                        <p:attrNameLst>
                                          <p:attrName>ppt_h</p:attrName>
                                        </p:attrNameLst>
                                      </p:cBhvr>
                                      <p:tavLst>
                                        <p:tav tm="0">
                                          <p:val>
                                            <p:strVal val="(6*min(max(#ppt_w*#ppt_h,.3),1)-7.4)/-.7*#ppt_h"/>
                                          </p:val>
                                        </p:tav>
                                        <p:tav tm="100000">
                                          <p:val>
                                            <p:strVal val="#ppt_h"/>
                                          </p:val>
                                        </p:tav>
                                      </p:tavLst>
                                    </p:anim>
                                    <p:anim calcmode="lin" valueType="num">
                                      <p:cBhvr>
                                        <p:cTn id="17" dur="1000" fill="hold"/>
                                        <p:tgtEl>
                                          <p:spTgt spid="32"/>
                                        </p:tgtEl>
                                        <p:attrNameLst>
                                          <p:attrName>ppt_x</p:attrName>
                                        </p:attrNameLst>
                                      </p:cBhvr>
                                      <p:tavLst>
                                        <p:tav tm="0">
                                          <p:val>
                                            <p:fltVal val="0.5"/>
                                          </p:val>
                                        </p:tav>
                                        <p:tav tm="100000">
                                          <p:val>
                                            <p:strVal val="#ppt_x"/>
                                          </p:val>
                                        </p:tav>
                                      </p:tavLst>
                                    </p:anim>
                                    <p:anim calcmode="lin" valueType="num">
                                      <p:cBhvr>
                                        <p:cTn id="18" dur="1000" fill="hold"/>
                                        <p:tgtEl>
                                          <p:spTgt spid="32"/>
                                        </p:tgtEl>
                                        <p:attrNameLst>
                                          <p:attrName>ppt_y</p:attrName>
                                        </p:attrNameLst>
                                      </p:cBhvr>
                                      <p:tavLst>
                                        <p:tav tm="0">
                                          <p:val>
                                            <p:strVal val="1+(6*min(max(#ppt_w*#ppt_h,.3),1)-7.4)/-.7*#ppt_h/2"/>
                                          </p:val>
                                        </p:tav>
                                        <p:tav tm="100000">
                                          <p:val>
                                            <p:strVal val="#ppt_y"/>
                                          </p:val>
                                        </p:tav>
                                      </p:tavLst>
                                    </p:anim>
                                  </p:childTnLst>
                                </p:cTn>
                              </p:par>
                            </p:childTnLst>
                          </p:cTn>
                        </p:par>
                        <p:par>
                          <p:cTn id="19" fill="hold">
                            <p:stCondLst>
                              <p:cond delay="2000"/>
                            </p:stCondLst>
                            <p:childTnLst>
                              <p:par>
                                <p:cTn id="20" presetID="53" presetClass="entr" presetSubtype="16"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1000" fill="hold"/>
                                        <p:tgtEl>
                                          <p:spTgt spid="30"/>
                                        </p:tgtEl>
                                        <p:attrNameLst>
                                          <p:attrName>ppt_w</p:attrName>
                                        </p:attrNameLst>
                                      </p:cBhvr>
                                      <p:tavLst>
                                        <p:tav tm="0">
                                          <p:val>
                                            <p:fltVal val="0"/>
                                          </p:val>
                                        </p:tav>
                                        <p:tav tm="100000">
                                          <p:val>
                                            <p:strVal val="#ppt_w"/>
                                          </p:val>
                                        </p:tav>
                                      </p:tavLst>
                                    </p:anim>
                                    <p:anim calcmode="lin" valueType="num">
                                      <p:cBhvr>
                                        <p:cTn id="23" dur="1000" fill="hold"/>
                                        <p:tgtEl>
                                          <p:spTgt spid="30"/>
                                        </p:tgtEl>
                                        <p:attrNameLst>
                                          <p:attrName>ppt_h</p:attrName>
                                        </p:attrNameLst>
                                      </p:cBhvr>
                                      <p:tavLst>
                                        <p:tav tm="0">
                                          <p:val>
                                            <p:fltVal val="0"/>
                                          </p:val>
                                        </p:tav>
                                        <p:tav tm="100000">
                                          <p:val>
                                            <p:strVal val="#ppt_h"/>
                                          </p:val>
                                        </p:tav>
                                      </p:tavLst>
                                    </p:anim>
                                    <p:animEffect transition="in" filter="fade">
                                      <p:cBhvr>
                                        <p:cTn id="24" dur="1000"/>
                                        <p:tgtEl>
                                          <p:spTgt spid="30"/>
                                        </p:tgtEl>
                                      </p:cBhvr>
                                    </p:animEffect>
                                  </p:childTnLst>
                                </p:cTn>
                              </p:par>
                              <p:par>
                                <p:cTn id="25" presetID="35" presetClass="path" presetSubtype="0" accel="50000" decel="50000" fill="hold" grpId="1" nodeType="withEffect">
                                  <p:stCondLst>
                                    <p:cond delay="0"/>
                                  </p:stCondLst>
                                  <p:childTnLst>
                                    <p:animMotion origin="layout" path="M 0 1.48148E-6 L -0.41185 1.48148E-6 " pathEditMode="relative" rAng="0" ptsTypes="AA">
                                      <p:cBhvr>
                                        <p:cTn id="26" dur="2000" spd="-100000" fill="hold"/>
                                        <p:tgtEl>
                                          <p:spTgt spid="30"/>
                                        </p:tgtEl>
                                        <p:attrNameLst>
                                          <p:attrName>ppt_x</p:attrName>
                                          <p:attrName>ppt_y</p:attrName>
                                        </p:attrNameLst>
                                      </p:cBhvr>
                                      <p:rCtr x="-20599" y="0"/>
                                    </p:animMotion>
                                  </p:childTnLst>
                                </p:cTn>
                              </p:par>
                            </p:childTnLst>
                          </p:cTn>
                        </p:par>
                        <p:par>
                          <p:cTn id="27" fill="hold">
                            <p:stCondLst>
                              <p:cond delay="4000"/>
                            </p:stCondLst>
                            <p:childTnLst>
                              <p:par>
                                <p:cTn id="28" presetID="53" presetClass="entr" presetSubtype="16"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p:cTn id="30" dur="1000" fill="hold"/>
                                        <p:tgtEl>
                                          <p:spTgt spid="33"/>
                                        </p:tgtEl>
                                        <p:attrNameLst>
                                          <p:attrName>ppt_w</p:attrName>
                                        </p:attrNameLst>
                                      </p:cBhvr>
                                      <p:tavLst>
                                        <p:tav tm="0">
                                          <p:val>
                                            <p:fltVal val="0"/>
                                          </p:val>
                                        </p:tav>
                                        <p:tav tm="100000">
                                          <p:val>
                                            <p:strVal val="#ppt_w"/>
                                          </p:val>
                                        </p:tav>
                                      </p:tavLst>
                                    </p:anim>
                                    <p:anim calcmode="lin" valueType="num">
                                      <p:cBhvr>
                                        <p:cTn id="31" dur="1000" fill="hold"/>
                                        <p:tgtEl>
                                          <p:spTgt spid="33"/>
                                        </p:tgtEl>
                                        <p:attrNameLst>
                                          <p:attrName>ppt_h</p:attrName>
                                        </p:attrNameLst>
                                      </p:cBhvr>
                                      <p:tavLst>
                                        <p:tav tm="0">
                                          <p:val>
                                            <p:fltVal val="0"/>
                                          </p:val>
                                        </p:tav>
                                        <p:tav tm="100000">
                                          <p:val>
                                            <p:strVal val="#ppt_h"/>
                                          </p:val>
                                        </p:tav>
                                      </p:tavLst>
                                    </p:anim>
                                    <p:animEffect transition="in" filter="fade">
                                      <p:cBhvr>
                                        <p:cTn id="32" dur="1000"/>
                                        <p:tgtEl>
                                          <p:spTgt spid="33"/>
                                        </p:tgtEl>
                                      </p:cBhvr>
                                    </p:animEffect>
                                  </p:childTnLst>
                                </p:cTn>
                              </p:par>
                              <p:par>
                                <p:cTn id="33" presetID="35" presetClass="path" presetSubtype="0" accel="50000" decel="50000" fill="hold" nodeType="withEffect">
                                  <p:stCondLst>
                                    <p:cond delay="0"/>
                                  </p:stCondLst>
                                  <p:childTnLst>
                                    <p:animMotion origin="layout" path="M 6.25E-7 -1.11111E-6 L 0.31575 -1.11111E-6 " pathEditMode="relative" rAng="0" ptsTypes="AA">
                                      <p:cBhvr>
                                        <p:cTn id="34" dur="2000" spd="-100000" fill="hold"/>
                                        <p:tgtEl>
                                          <p:spTgt spid="33"/>
                                        </p:tgtEl>
                                        <p:attrNameLst>
                                          <p:attrName>ppt_x</p:attrName>
                                          <p:attrName>ppt_y</p:attrName>
                                        </p:attrNameLst>
                                      </p:cBhvr>
                                      <p:rCtr x="15781" y="0"/>
                                    </p:animMotion>
                                  </p:childTnLst>
                                </p:cTn>
                              </p:par>
                              <p:par>
                                <p:cTn id="35" presetID="53" presetClass="entr" presetSubtype="16"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1000" fill="hold"/>
                                        <p:tgtEl>
                                          <p:spTgt spid="38"/>
                                        </p:tgtEl>
                                        <p:attrNameLst>
                                          <p:attrName>ppt_w</p:attrName>
                                        </p:attrNameLst>
                                      </p:cBhvr>
                                      <p:tavLst>
                                        <p:tav tm="0">
                                          <p:val>
                                            <p:fltVal val="0"/>
                                          </p:val>
                                        </p:tav>
                                        <p:tav tm="100000">
                                          <p:val>
                                            <p:strVal val="#ppt_w"/>
                                          </p:val>
                                        </p:tav>
                                      </p:tavLst>
                                    </p:anim>
                                    <p:anim calcmode="lin" valueType="num">
                                      <p:cBhvr>
                                        <p:cTn id="38" dur="1000" fill="hold"/>
                                        <p:tgtEl>
                                          <p:spTgt spid="38"/>
                                        </p:tgtEl>
                                        <p:attrNameLst>
                                          <p:attrName>ppt_h</p:attrName>
                                        </p:attrNameLst>
                                      </p:cBhvr>
                                      <p:tavLst>
                                        <p:tav tm="0">
                                          <p:val>
                                            <p:fltVal val="0"/>
                                          </p:val>
                                        </p:tav>
                                        <p:tav tm="100000">
                                          <p:val>
                                            <p:strVal val="#ppt_h"/>
                                          </p:val>
                                        </p:tav>
                                      </p:tavLst>
                                    </p:anim>
                                    <p:animEffect transition="in" filter="fade">
                                      <p:cBhvr>
                                        <p:cTn id="39" dur="1000"/>
                                        <p:tgtEl>
                                          <p:spTgt spid="38"/>
                                        </p:tgtEl>
                                      </p:cBhvr>
                                    </p:animEffect>
                                  </p:childTnLst>
                                </p:cTn>
                              </p:par>
                              <p:par>
                                <p:cTn id="40" presetID="35" presetClass="path" presetSubtype="0" accel="50000" decel="50000" fill="hold" grpId="1" nodeType="withEffect">
                                  <p:stCondLst>
                                    <p:cond delay="0"/>
                                  </p:stCondLst>
                                  <p:childTnLst>
                                    <p:animMotion origin="layout" path="M 4.79167E-6 -2.59259E-6 L 0.31575 -2.59259E-6 " pathEditMode="relative" rAng="0" ptsTypes="AA">
                                      <p:cBhvr>
                                        <p:cTn id="41" dur="2000" spd="-100000" fill="hold"/>
                                        <p:tgtEl>
                                          <p:spTgt spid="38"/>
                                        </p:tgtEl>
                                        <p:attrNameLst>
                                          <p:attrName>ppt_x</p:attrName>
                                          <p:attrName>ppt_y</p:attrName>
                                        </p:attrNameLst>
                                      </p:cBhvr>
                                      <p:rCtr x="15781" y="0"/>
                                    </p:animMotion>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p:cTn id="45" dur="1000" fill="hold"/>
                                        <p:tgtEl>
                                          <p:spTgt spid="40"/>
                                        </p:tgtEl>
                                        <p:attrNameLst>
                                          <p:attrName>ppt_w</p:attrName>
                                        </p:attrNameLst>
                                      </p:cBhvr>
                                      <p:tavLst>
                                        <p:tav tm="0">
                                          <p:val>
                                            <p:fltVal val="0"/>
                                          </p:val>
                                        </p:tav>
                                        <p:tav tm="100000">
                                          <p:val>
                                            <p:strVal val="#ppt_w"/>
                                          </p:val>
                                        </p:tav>
                                      </p:tavLst>
                                    </p:anim>
                                    <p:anim calcmode="lin" valueType="num">
                                      <p:cBhvr>
                                        <p:cTn id="46" dur="1000" fill="hold"/>
                                        <p:tgtEl>
                                          <p:spTgt spid="40"/>
                                        </p:tgtEl>
                                        <p:attrNameLst>
                                          <p:attrName>ppt_h</p:attrName>
                                        </p:attrNameLst>
                                      </p:cBhvr>
                                      <p:tavLst>
                                        <p:tav tm="0">
                                          <p:val>
                                            <p:fltVal val="0"/>
                                          </p:val>
                                        </p:tav>
                                        <p:tav tm="100000">
                                          <p:val>
                                            <p:strVal val="#ppt_h"/>
                                          </p:val>
                                        </p:tav>
                                      </p:tavLst>
                                    </p:anim>
                                    <p:animEffect transition="in" filter="fade">
                                      <p:cBhvr>
                                        <p:cTn id="47" dur="1000"/>
                                        <p:tgtEl>
                                          <p:spTgt spid="40"/>
                                        </p:tgtEl>
                                      </p:cBhvr>
                                    </p:animEffect>
                                  </p:childTnLst>
                                </p:cTn>
                              </p:par>
                              <p:par>
                                <p:cTn id="48" presetID="35" presetClass="path" presetSubtype="0" accel="50000" decel="50000" fill="hold" nodeType="withEffect">
                                  <p:stCondLst>
                                    <p:cond delay="0"/>
                                  </p:stCondLst>
                                  <p:childTnLst>
                                    <p:animMotion origin="layout" path="M -1.04167E-6 -2.96296E-6 L 0.31576 -2.96296E-6 " pathEditMode="relative" rAng="0" ptsTypes="AA">
                                      <p:cBhvr>
                                        <p:cTn id="49" dur="2000" spd="-100000" fill="hold"/>
                                        <p:tgtEl>
                                          <p:spTgt spid="40"/>
                                        </p:tgtEl>
                                        <p:attrNameLst>
                                          <p:attrName>ppt_x</p:attrName>
                                          <p:attrName>ppt_y</p:attrName>
                                        </p:attrNameLst>
                                      </p:cBhvr>
                                      <p:rCtr x="15781" y="0"/>
                                    </p:animMotion>
                                  </p:childTnLst>
                                </p:cTn>
                              </p:par>
                            </p:childTnLst>
                          </p:cTn>
                        </p:par>
                        <p:par>
                          <p:cTn id="50" fill="hold">
                            <p:stCondLst>
                              <p:cond delay="8000"/>
                            </p:stCondLst>
                            <p:childTnLst>
                              <p:par>
                                <p:cTn id="51" presetID="53" presetClass="entr" presetSubtype="16" fill="hold" grpId="0" nodeType="afterEffect">
                                  <p:stCondLst>
                                    <p:cond delay="0"/>
                                  </p:stCondLst>
                                  <p:childTnLst>
                                    <p:set>
                                      <p:cBhvr>
                                        <p:cTn id="52" dur="1" fill="hold">
                                          <p:stCondLst>
                                            <p:cond delay="0"/>
                                          </p:stCondLst>
                                        </p:cTn>
                                        <p:tgtEl>
                                          <p:spTgt spid="2"/>
                                        </p:tgtEl>
                                        <p:attrNameLst>
                                          <p:attrName>style.visibility</p:attrName>
                                        </p:attrNameLst>
                                      </p:cBhvr>
                                      <p:to>
                                        <p:strVal val="visible"/>
                                      </p:to>
                                    </p:set>
                                    <p:anim calcmode="lin" valueType="num">
                                      <p:cBhvr>
                                        <p:cTn id="53" dur="1000" fill="hold"/>
                                        <p:tgtEl>
                                          <p:spTgt spid="2"/>
                                        </p:tgtEl>
                                        <p:attrNameLst>
                                          <p:attrName>ppt_w</p:attrName>
                                        </p:attrNameLst>
                                      </p:cBhvr>
                                      <p:tavLst>
                                        <p:tav tm="0">
                                          <p:val>
                                            <p:fltVal val="0"/>
                                          </p:val>
                                        </p:tav>
                                        <p:tav tm="100000">
                                          <p:val>
                                            <p:strVal val="#ppt_w"/>
                                          </p:val>
                                        </p:tav>
                                      </p:tavLst>
                                    </p:anim>
                                    <p:anim calcmode="lin" valueType="num">
                                      <p:cBhvr>
                                        <p:cTn id="54" dur="1000" fill="hold"/>
                                        <p:tgtEl>
                                          <p:spTgt spid="2"/>
                                        </p:tgtEl>
                                        <p:attrNameLst>
                                          <p:attrName>ppt_h</p:attrName>
                                        </p:attrNameLst>
                                      </p:cBhvr>
                                      <p:tavLst>
                                        <p:tav tm="0">
                                          <p:val>
                                            <p:fltVal val="0"/>
                                          </p:val>
                                        </p:tav>
                                        <p:tav tm="100000">
                                          <p:val>
                                            <p:strVal val="#ppt_h"/>
                                          </p:val>
                                        </p:tav>
                                      </p:tavLst>
                                    </p:anim>
                                    <p:animEffect transition="in" filter="fade">
                                      <p:cBhvr>
                                        <p:cTn id="55" dur="1000"/>
                                        <p:tgtEl>
                                          <p:spTgt spid="2"/>
                                        </p:tgtEl>
                                      </p:cBhvr>
                                    </p:animEffect>
                                  </p:childTnLst>
                                </p:cTn>
                              </p:par>
                              <p:par>
                                <p:cTn id="56" presetID="35" presetClass="path" presetSubtype="0" accel="50000" decel="50000" fill="hold" grpId="1" nodeType="withEffect">
                                  <p:stCondLst>
                                    <p:cond delay="0"/>
                                  </p:stCondLst>
                                  <p:childTnLst>
                                    <p:animMotion origin="layout" path="M 0 1.48148E-6 L -0.41185 1.48148E-6 " pathEditMode="relative" rAng="0" ptsTypes="AA">
                                      <p:cBhvr>
                                        <p:cTn id="57" dur="2000" spd="-100000" fill="hold"/>
                                        <p:tgtEl>
                                          <p:spTgt spid="2"/>
                                        </p:tgtEl>
                                        <p:attrNameLst>
                                          <p:attrName>ppt_x</p:attrName>
                                          <p:attrName>ppt_y</p:attrName>
                                        </p:attrNameLst>
                                      </p:cBhvr>
                                      <p:rCtr x="-205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2" grpId="0" animBg="1"/>
      <p:bldP spid="38" grpId="0"/>
      <p:bldP spid="38" grpId="1"/>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0240FDE9-0338-4CFB-9B2E-E980FA179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578" y="5737759"/>
            <a:ext cx="6809422" cy="1120241"/>
          </a:xfrm>
          <a:prstGeom prst="rect">
            <a:avLst/>
          </a:prstGeom>
        </p:spPr>
      </p:pic>
      <p:pic>
        <p:nvPicPr>
          <p:cNvPr id="19" name="图片 18">
            <a:extLst>
              <a:ext uri="{FF2B5EF4-FFF2-40B4-BE49-F238E27FC236}">
                <a16:creationId xmlns:a16="http://schemas.microsoft.com/office/drawing/2014/main" id="{8CB86D49-4053-4C25-B704-887DC5D13F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sp>
        <p:nvSpPr>
          <p:cNvPr id="39" name="TextBox 15">
            <a:extLst>
              <a:ext uri="{FF2B5EF4-FFF2-40B4-BE49-F238E27FC236}">
                <a16:creationId xmlns:a16="http://schemas.microsoft.com/office/drawing/2014/main" id="{1B154101-8BCF-4B4A-AA7A-DEEE8D777EED}"/>
              </a:ext>
            </a:extLst>
          </p:cNvPr>
          <p:cNvSpPr txBox="1"/>
          <p:nvPr/>
        </p:nvSpPr>
        <p:spPr>
          <a:xfrm>
            <a:off x="2003170" y="2808040"/>
            <a:ext cx="2457070" cy="769441"/>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目 录</a:t>
            </a:r>
          </a:p>
        </p:txBody>
      </p:sp>
      <p:sp>
        <p:nvSpPr>
          <p:cNvPr id="40" name="TextBox 20">
            <a:extLst>
              <a:ext uri="{FF2B5EF4-FFF2-40B4-BE49-F238E27FC236}">
                <a16:creationId xmlns:a16="http://schemas.microsoft.com/office/drawing/2014/main" id="{26B9BD34-78D4-4143-B2CA-70F1A8728B7D}"/>
              </a:ext>
            </a:extLst>
          </p:cNvPr>
          <p:cNvSpPr txBox="1"/>
          <p:nvPr/>
        </p:nvSpPr>
        <p:spPr>
          <a:xfrm>
            <a:off x="1671009" y="3483444"/>
            <a:ext cx="3225562" cy="369332"/>
          </a:xfrm>
          <a:prstGeom prst="rect">
            <a:avLst/>
          </a:prstGeom>
          <a:noFill/>
        </p:spPr>
        <p:txBody>
          <a:bodyPr wrap="square"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CONTENTS</a:t>
            </a:r>
            <a:endParaRPr kumimoji="0" lang="zh-CN" altLang="en-US"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41" name="组合 40">
            <a:extLst>
              <a:ext uri="{FF2B5EF4-FFF2-40B4-BE49-F238E27FC236}">
                <a16:creationId xmlns:a16="http://schemas.microsoft.com/office/drawing/2014/main" id="{C2FEA8D4-10F4-43E2-BE5A-B8898616DB73}"/>
              </a:ext>
            </a:extLst>
          </p:cNvPr>
          <p:cNvGrpSpPr/>
          <p:nvPr/>
        </p:nvGrpSpPr>
        <p:grpSpPr>
          <a:xfrm>
            <a:off x="4698411" y="2187589"/>
            <a:ext cx="5776881" cy="453090"/>
            <a:chOff x="4946493" y="1597309"/>
            <a:chExt cx="5776881" cy="453090"/>
          </a:xfrm>
        </p:grpSpPr>
        <p:grpSp>
          <p:nvGrpSpPr>
            <p:cNvPr id="42" name="组合 41">
              <a:extLst>
                <a:ext uri="{FF2B5EF4-FFF2-40B4-BE49-F238E27FC236}">
                  <a16:creationId xmlns:a16="http://schemas.microsoft.com/office/drawing/2014/main" id="{7CBDB708-05D9-40C0-8024-4D5C97A6BBF2}"/>
                </a:ext>
              </a:extLst>
            </p:cNvPr>
            <p:cNvGrpSpPr/>
            <p:nvPr/>
          </p:nvGrpSpPr>
          <p:grpSpPr>
            <a:xfrm>
              <a:off x="4946493" y="1597309"/>
              <a:ext cx="5776881" cy="453090"/>
              <a:chOff x="1363751" y="2406894"/>
              <a:chExt cx="5563001" cy="453090"/>
            </a:xfrm>
          </p:grpSpPr>
          <p:sp>
            <p:nvSpPr>
              <p:cNvPr id="44" name="TextBox 35">
                <a:extLst>
                  <a:ext uri="{FF2B5EF4-FFF2-40B4-BE49-F238E27FC236}">
                    <a16:creationId xmlns:a16="http://schemas.microsoft.com/office/drawing/2014/main" id="{126602F7-3FC0-43FD-90BA-99E5F8FCB891}"/>
                  </a:ext>
                </a:extLst>
              </p:cNvPr>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45" name="组合 44">
                <a:extLst>
                  <a:ext uri="{FF2B5EF4-FFF2-40B4-BE49-F238E27FC236}">
                    <a16:creationId xmlns:a16="http://schemas.microsoft.com/office/drawing/2014/main" id="{F20113E5-0507-4DDF-8A1F-4C3F75706082}"/>
                  </a:ext>
                </a:extLst>
              </p:cNvPr>
              <p:cNvGrpSpPr/>
              <p:nvPr/>
            </p:nvGrpSpPr>
            <p:grpSpPr>
              <a:xfrm rot="16200000">
                <a:off x="3971555" y="-151581"/>
                <a:ext cx="347394" cy="5563001"/>
                <a:chOff x="1861559" y="2468597"/>
                <a:chExt cx="1872217" cy="5563001"/>
              </a:xfrm>
            </p:grpSpPr>
            <p:sp>
              <p:nvSpPr>
                <p:cNvPr id="47" name="圆角矩形 10">
                  <a:extLst>
                    <a:ext uri="{FF2B5EF4-FFF2-40B4-BE49-F238E27FC236}">
                      <a16:creationId xmlns:a16="http://schemas.microsoft.com/office/drawing/2014/main" id="{B8A864B1-3BA1-403D-AAA4-8896D5812DBD}"/>
                    </a:ext>
                  </a:extLst>
                </p:cNvPr>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48" name="圆角矩形 11">
                  <a:extLst>
                    <a:ext uri="{FF2B5EF4-FFF2-40B4-BE49-F238E27FC236}">
                      <a16:creationId xmlns:a16="http://schemas.microsoft.com/office/drawing/2014/main" id="{E2BBE726-71B9-4D48-BDF0-D7B1A82B494C}"/>
                    </a:ext>
                  </a:extLst>
                </p:cNvPr>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46" name="TextBox 20">
                <a:extLst>
                  <a:ext uri="{FF2B5EF4-FFF2-40B4-BE49-F238E27FC236}">
                    <a16:creationId xmlns:a16="http://schemas.microsoft.com/office/drawing/2014/main" id="{C056B459-2634-48B1-A2E1-D85FB782FCC0}"/>
                  </a:ext>
                </a:extLst>
              </p:cNvPr>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rPr>
                  <a:t>01</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43" name="文本框 21">
              <a:extLst>
                <a:ext uri="{FF2B5EF4-FFF2-40B4-BE49-F238E27FC236}">
                  <a16:creationId xmlns:a16="http://schemas.microsoft.com/office/drawing/2014/main" id="{D5B1B79B-FE0E-4FA4-9C65-4FE029215A09}"/>
                </a:ext>
              </a:extLst>
            </p:cNvPr>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lvl="0"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项目内容</a:t>
              </a:r>
            </a:p>
          </p:txBody>
        </p:sp>
      </p:grpSp>
      <p:grpSp>
        <p:nvGrpSpPr>
          <p:cNvPr id="49" name="组合 48">
            <a:extLst>
              <a:ext uri="{FF2B5EF4-FFF2-40B4-BE49-F238E27FC236}">
                <a16:creationId xmlns:a16="http://schemas.microsoft.com/office/drawing/2014/main" id="{1D1FFCD2-18DA-4628-83BE-0B49C3511C47}"/>
              </a:ext>
            </a:extLst>
          </p:cNvPr>
          <p:cNvGrpSpPr/>
          <p:nvPr/>
        </p:nvGrpSpPr>
        <p:grpSpPr>
          <a:xfrm>
            <a:off x="4687346" y="3012953"/>
            <a:ext cx="5776881" cy="453090"/>
            <a:chOff x="4946493" y="1597309"/>
            <a:chExt cx="5776881" cy="453090"/>
          </a:xfrm>
        </p:grpSpPr>
        <p:grpSp>
          <p:nvGrpSpPr>
            <p:cNvPr id="50" name="组合 49">
              <a:extLst>
                <a:ext uri="{FF2B5EF4-FFF2-40B4-BE49-F238E27FC236}">
                  <a16:creationId xmlns:a16="http://schemas.microsoft.com/office/drawing/2014/main" id="{38362654-EF15-4DBC-9C35-D4EFC9162560}"/>
                </a:ext>
              </a:extLst>
            </p:cNvPr>
            <p:cNvGrpSpPr/>
            <p:nvPr/>
          </p:nvGrpSpPr>
          <p:grpSpPr>
            <a:xfrm>
              <a:off x="4946493" y="1597309"/>
              <a:ext cx="5776881" cy="453090"/>
              <a:chOff x="1363751" y="2406894"/>
              <a:chExt cx="5563001" cy="453090"/>
            </a:xfrm>
          </p:grpSpPr>
          <p:sp>
            <p:nvSpPr>
              <p:cNvPr id="52" name="TextBox 35">
                <a:extLst>
                  <a:ext uri="{FF2B5EF4-FFF2-40B4-BE49-F238E27FC236}">
                    <a16:creationId xmlns:a16="http://schemas.microsoft.com/office/drawing/2014/main" id="{F2488824-F714-46BB-8F3F-FD7AE3CACB0A}"/>
                  </a:ext>
                </a:extLst>
              </p:cNvPr>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53" name="组合 52">
                <a:extLst>
                  <a:ext uri="{FF2B5EF4-FFF2-40B4-BE49-F238E27FC236}">
                    <a16:creationId xmlns:a16="http://schemas.microsoft.com/office/drawing/2014/main" id="{6D6F2200-A478-4EE8-BDB5-E0F92DEF09BB}"/>
                  </a:ext>
                </a:extLst>
              </p:cNvPr>
              <p:cNvGrpSpPr/>
              <p:nvPr/>
            </p:nvGrpSpPr>
            <p:grpSpPr>
              <a:xfrm rot="16200000">
                <a:off x="3971555" y="-151581"/>
                <a:ext cx="347394" cy="5563001"/>
                <a:chOff x="1861559" y="2468597"/>
                <a:chExt cx="1872217" cy="5563001"/>
              </a:xfrm>
            </p:grpSpPr>
            <p:sp>
              <p:nvSpPr>
                <p:cNvPr id="55" name="圆角矩形 10">
                  <a:extLst>
                    <a:ext uri="{FF2B5EF4-FFF2-40B4-BE49-F238E27FC236}">
                      <a16:creationId xmlns:a16="http://schemas.microsoft.com/office/drawing/2014/main" id="{658E2ACB-35F2-4DE4-98E2-DBA0D846BE5D}"/>
                    </a:ext>
                  </a:extLst>
                </p:cNvPr>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56" name="圆角矩形 11">
                  <a:extLst>
                    <a:ext uri="{FF2B5EF4-FFF2-40B4-BE49-F238E27FC236}">
                      <a16:creationId xmlns:a16="http://schemas.microsoft.com/office/drawing/2014/main" id="{2919A8B2-86DC-4E50-9FE2-795A006E1A6D}"/>
                    </a:ext>
                  </a:extLst>
                </p:cNvPr>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54" name="TextBox 20">
                <a:extLst>
                  <a:ext uri="{FF2B5EF4-FFF2-40B4-BE49-F238E27FC236}">
                    <a16:creationId xmlns:a16="http://schemas.microsoft.com/office/drawing/2014/main" id="{FC726CC0-EA61-4D76-A8AE-57135E6A4812}"/>
                  </a:ext>
                </a:extLst>
              </p:cNvPr>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02</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1" name="文本框 21">
              <a:extLst>
                <a:ext uri="{FF2B5EF4-FFF2-40B4-BE49-F238E27FC236}">
                  <a16:creationId xmlns:a16="http://schemas.microsoft.com/office/drawing/2014/main" id="{34291B60-64A3-42DE-AED6-7462B2F554AE}"/>
                </a:ext>
              </a:extLst>
            </p:cNvPr>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项目成果</a:t>
              </a:r>
            </a:p>
          </p:txBody>
        </p:sp>
      </p:grpSp>
      <p:grpSp>
        <p:nvGrpSpPr>
          <p:cNvPr id="57" name="组合 56">
            <a:extLst>
              <a:ext uri="{FF2B5EF4-FFF2-40B4-BE49-F238E27FC236}">
                <a16:creationId xmlns:a16="http://schemas.microsoft.com/office/drawing/2014/main" id="{B169D1E9-4EAB-4FDF-A6D5-D0431A77A78B}"/>
              </a:ext>
            </a:extLst>
          </p:cNvPr>
          <p:cNvGrpSpPr/>
          <p:nvPr/>
        </p:nvGrpSpPr>
        <p:grpSpPr>
          <a:xfrm>
            <a:off x="4698411" y="3886446"/>
            <a:ext cx="5776881" cy="453090"/>
            <a:chOff x="4946493" y="1597309"/>
            <a:chExt cx="5776881" cy="453090"/>
          </a:xfrm>
        </p:grpSpPr>
        <p:grpSp>
          <p:nvGrpSpPr>
            <p:cNvPr id="58" name="组合 57">
              <a:extLst>
                <a:ext uri="{FF2B5EF4-FFF2-40B4-BE49-F238E27FC236}">
                  <a16:creationId xmlns:a16="http://schemas.microsoft.com/office/drawing/2014/main" id="{D46D8D41-217E-4C76-B16D-5A9C3F4C21B4}"/>
                </a:ext>
              </a:extLst>
            </p:cNvPr>
            <p:cNvGrpSpPr/>
            <p:nvPr/>
          </p:nvGrpSpPr>
          <p:grpSpPr>
            <a:xfrm>
              <a:off x="4946493" y="1597309"/>
              <a:ext cx="5776881" cy="453090"/>
              <a:chOff x="1363751" y="2406894"/>
              <a:chExt cx="5563001" cy="453090"/>
            </a:xfrm>
          </p:grpSpPr>
          <p:sp>
            <p:nvSpPr>
              <p:cNvPr id="60" name="TextBox 35">
                <a:extLst>
                  <a:ext uri="{FF2B5EF4-FFF2-40B4-BE49-F238E27FC236}">
                    <a16:creationId xmlns:a16="http://schemas.microsoft.com/office/drawing/2014/main" id="{FE205CEE-E533-4C72-93D5-5EFA55E708B3}"/>
                  </a:ext>
                </a:extLst>
              </p:cNvPr>
              <p:cNvSpPr txBox="1"/>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p>
            </p:txBody>
          </p:sp>
          <p:grpSp>
            <p:nvGrpSpPr>
              <p:cNvPr id="61" name="组合 60">
                <a:extLst>
                  <a:ext uri="{FF2B5EF4-FFF2-40B4-BE49-F238E27FC236}">
                    <a16:creationId xmlns:a16="http://schemas.microsoft.com/office/drawing/2014/main" id="{BB38649E-5012-417A-AFA7-C2F28C2664BC}"/>
                  </a:ext>
                </a:extLst>
              </p:cNvPr>
              <p:cNvGrpSpPr/>
              <p:nvPr/>
            </p:nvGrpSpPr>
            <p:grpSpPr>
              <a:xfrm rot="16200000">
                <a:off x="3971555" y="-151581"/>
                <a:ext cx="347394" cy="5563001"/>
                <a:chOff x="1861559" y="2468597"/>
                <a:chExt cx="1872217" cy="5563001"/>
              </a:xfrm>
            </p:grpSpPr>
            <p:sp>
              <p:nvSpPr>
                <p:cNvPr id="63" name="圆角矩形 10">
                  <a:extLst>
                    <a:ext uri="{FF2B5EF4-FFF2-40B4-BE49-F238E27FC236}">
                      <a16:creationId xmlns:a16="http://schemas.microsoft.com/office/drawing/2014/main" id="{79B9C8D0-A637-4604-ABD7-EA93EFE3D529}"/>
                    </a:ext>
                  </a:extLst>
                </p:cNvPr>
                <p:cNvSpPr/>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64" name="圆角矩形 11">
                  <a:extLst>
                    <a:ext uri="{FF2B5EF4-FFF2-40B4-BE49-F238E27FC236}">
                      <a16:creationId xmlns:a16="http://schemas.microsoft.com/office/drawing/2014/main" id="{BC8C98F4-D177-4C05-B158-AAE820586938}"/>
                    </a:ext>
                  </a:extLst>
                </p:cNvPr>
                <p:cNvSpPr/>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62" name="TextBox 20">
                <a:extLst>
                  <a:ext uri="{FF2B5EF4-FFF2-40B4-BE49-F238E27FC236}">
                    <a16:creationId xmlns:a16="http://schemas.microsoft.com/office/drawing/2014/main" id="{664B6F7A-8435-4A50-9C61-6D770EBFD005}"/>
                  </a:ext>
                </a:extLst>
              </p:cNvPr>
              <p:cNvSpPr txBox="1"/>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03</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9" name="文本框 21">
              <a:extLst>
                <a:ext uri="{FF2B5EF4-FFF2-40B4-BE49-F238E27FC236}">
                  <a16:creationId xmlns:a16="http://schemas.microsoft.com/office/drawing/2014/main" id="{3F24C6BA-4AF1-4AEF-89D9-F6244735500C}"/>
                </a:ext>
              </a:extLst>
            </p:cNvPr>
            <p:cNvSpPr txBox="1">
              <a:spLocks noChangeArrowheads="1"/>
            </p:cNvSpPr>
            <p:nvPr/>
          </p:nvSpPr>
          <p:spPr bwMode="auto">
            <a:xfrm>
              <a:off x="5905284" y="1645429"/>
              <a:ext cx="45781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拓展方向与计划</a:t>
              </a:r>
            </a:p>
          </p:txBody>
        </p:sp>
      </p:grpSp>
      <p:pic>
        <p:nvPicPr>
          <p:cNvPr id="73" name="Picture 11" descr="F:\桌面\党政机关\素材\党徽\Nipic_20180988_201509091138025270001.png">
            <a:extLst>
              <a:ext uri="{FF2B5EF4-FFF2-40B4-BE49-F238E27FC236}">
                <a16:creationId xmlns:a16="http://schemas.microsoft.com/office/drawing/2014/main" id="{D3FA70C2-709D-423B-A86A-076781C14EC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15035" y="1772866"/>
            <a:ext cx="1233339" cy="1009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73">
            <a:extLst>
              <a:ext uri="{FF2B5EF4-FFF2-40B4-BE49-F238E27FC236}">
                <a16:creationId xmlns:a16="http://schemas.microsoft.com/office/drawing/2014/main" id="{549D4624-B2C3-4BC0-AAAC-52569AE1E3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0902340" flipH="1">
            <a:off x="686735" y="622930"/>
            <a:ext cx="3143832" cy="1309931"/>
          </a:xfrm>
          <a:prstGeom prst="rect">
            <a:avLst/>
          </a:prstGeom>
        </p:spPr>
      </p:pic>
    </p:spTree>
    <p:extLst>
      <p:ext uri="{BB962C8B-B14F-4D97-AF65-F5344CB8AC3E}">
        <p14:creationId xmlns:p14="http://schemas.microsoft.com/office/powerpoint/2010/main" val="833643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3"/>
                                        </p:tgtEl>
                                        <p:attrNameLst>
                                          <p:attrName>style.visibility</p:attrName>
                                        </p:attrNameLst>
                                      </p:cBhvr>
                                      <p:to>
                                        <p:strVal val="visible"/>
                                      </p:to>
                                    </p:set>
                                    <p:anim calcmode="lin" valueType="num">
                                      <p:cBhvr>
                                        <p:cTn id="17" dur="500" fill="hold"/>
                                        <p:tgtEl>
                                          <p:spTgt spid="73"/>
                                        </p:tgtEl>
                                        <p:attrNameLst>
                                          <p:attrName>ppt_w</p:attrName>
                                        </p:attrNameLst>
                                      </p:cBhvr>
                                      <p:tavLst>
                                        <p:tav tm="0">
                                          <p:val>
                                            <p:fltVal val="0"/>
                                          </p:val>
                                        </p:tav>
                                        <p:tav tm="100000">
                                          <p:val>
                                            <p:strVal val="#ppt_w"/>
                                          </p:val>
                                        </p:tav>
                                      </p:tavLst>
                                    </p:anim>
                                    <p:anim calcmode="lin" valueType="num">
                                      <p:cBhvr>
                                        <p:cTn id="18" dur="500" fill="hold"/>
                                        <p:tgtEl>
                                          <p:spTgt spid="73"/>
                                        </p:tgtEl>
                                        <p:attrNameLst>
                                          <p:attrName>ppt_h</p:attrName>
                                        </p:attrNameLst>
                                      </p:cBhvr>
                                      <p:tavLst>
                                        <p:tav tm="0">
                                          <p:val>
                                            <p:fltVal val="0"/>
                                          </p:val>
                                        </p:tav>
                                        <p:tav tm="100000">
                                          <p:val>
                                            <p:strVal val="#ppt_h"/>
                                          </p:val>
                                        </p:tav>
                                      </p:tavLst>
                                    </p:anim>
                                    <p:animEffect transition="in" filter="fade">
                                      <p:cBhvr>
                                        <p:cTn id="19" dur="500"/>
                                        <p:tgtEl>
                                          <p:spTgt spid="73"/>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arn(inVertical)">
                                      <p:cBhvr>
                                        <p:cTn id="23" dur="500"/>
                                        <p:tgtEl>
                                          <p:spTgt spid="3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barn(inVertical)">
                                      <p:cBhvr>
                                        <p:cTn id="26" dur="500"/>
                                        <p:tgtEl>
                                          <p:spTgt spid="40"/>
                                        </p:tgtEl>
                                      </p:cBhvr>
                                    </p:animEffect>
                                  </p:childTnLst>
                                </p:cTn>
                              </p:par>
                            </p:childTnLst>
                          </p:cTn>
                        </p:par>
                        <p:par>
                          <p:cTn id="27" fill="hold">
                            <p:stCondLst>
                              <p:cond delay="2500"/>
                            </p:stCondLst>
                            <p:childTnLst>
                              <p:par>
                                <p:cTn id="28" presetID="2" presetClass="entr" presetSubtype="2"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1+#ppt_w/2"/>
                                          </p:val>
                                        </p:tav>
                                        <p:tav tm="100000">
                                          <p:val>
                                            <p:strVal val="#ppt_x"/>
                                          </p:val>
                                        </p:tav>
                                      </p:tavLst>
                                    </p:anim>
                                    <p:anim calcmode="lin" valueType="num">
                                      <p:cBhvr additive="base">
                                        <p:cTn id="31" dur="500" fill="hold"/>
                                        <p:tgtEl>
                                          <p:spTgt spid="41"/>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2" fill="hold" nodeType="after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additive="base">
                                        <p:cTn id="35" dur="500" fill="hold"/>
                                        <p:tgtEl>
                                          <p:spTgt spid="49"/>
                                        </p:tgtEl>
                                        <p:attrNameLst>
                                          <p:attrName>ppt_x</p:attrName>
                                        </p:attrNameLst>
                                      </p:cBhvr>
                                      <p:tavLst>
                                        <p:tav tm="0">
                                          <p:val>
                                            <p:strVal val="1+#ppt_w/2"/>
                                          </p:val>
                                        </p:tav>
                                        <p:tav tm="100000">
                                          <p:val>
                                            <p:strVal val="#ppt_x"/>
                                          </p:val>
                                        </p:tav>
                                      </p:tavLst>
                                    </p:anim>
                                    <p:anim calcmode="lin" valueType="num">
                                      <p:cBhvr additive="base">
                                        <p:cTn id="36" dur="500" fill="hold"/>
                                        <p:tgtEl>
                                          <p:spTgt spid="49"/>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 presetClass="entr" presetSubtype="2" fill="hold" nodeType="afterEffect">
                                  <p:stCondLst>
                                    <p:cond delay="0"/>
                                  </p:stCondLst>
                                  <p:childTnLst>
                                    <p:set>
                                      <p:cBhvr>
                                        <p:cTn id="39" dur="1" fill="hold">
                                          <p:stCondLst>
                                            <p:cond delay="0"/>
                                          </p:stCondLst>
                                        </p:cTn>
                                        <p:tgtEl>
                                          <p:spTgt spid="57"/>
                                        </p:tgtEl>
                                        <p:attrNameLst>
                                          <p:attrName>style.visibility</p:attrName>
                                        </p:attrNameLst>
                                      </p:cBhvr>
                                      <p:to>
                                        <p:strVal val="visible"/>
                                      </p:to>
                                    </p:set>
                                    <p:anim calcmode="lin" valueType="num">
                                      <p:cBhvr additive="base">
                                        <p:cTn id="40" dur="500" fill="hold"/>
                                        <p:tgtEl>
                                          <p:spTgt spid="57"/>
                                        </p:tgtEl>
                                        <p:attrNameLst>
                                          <p:attrName>ppt_x</p:attrName>
                                        </p:attrNameLst>
                                      </p:cBhvr>
                                      <p:tavLst>
                                        <p:tav tm="0">
                                          <p:val>
                                            <p:strVal val="1+#ppt_w/2"/>
                                          </p:val>
                                        </p:tav>
                                        <p:tav tm="100000">
                                          <p:val>
                                            <p:strVal val="#ppt_x"/>
                                          </p:val>
                                        </p:tav>
                                      </p:tavLst>
                                    </p:anim>
                                    <p:anim calcmode="lin" valueType="num">
                                      <p:cBhvr additive="base">
                                        <p:cTn id="41" dur="500" fill="hold"/>
                                        <p:tgtEl>
                                          <p:spTgt spid="57"/>
                                        </p:tgtEl>
                                        <p:attrNameLst>
                                          <p:attrName>ppt_y</p:attrName>
                                        </p:attrNameLst>
                                      </p:cBhvr>
                                      <p:tavLst>
                                        <p:tav tm="0">
                                          <p:val>
                                            <p:strVal val="#ppt_y"/>
                                          </p:val>
                                        </p:tav>
                                        <p:tav tm="100000">
                                          <p:val>
                                            <p:strVal val="#ppt_y"/>
                                          </p:val>
                                        </p:tav>
                                      </p:tavLst>
                                    </p:anim>
                                  </p:childTnLst>
                                </p:cTn>
                              </p:par>
                            </p:childTnLst>
                          </p:cTn>
                        </p:par>
                        <p:par>
                          <p:cTn id="42" fill="hold">
                            <p:stCondLst>
                              <p:cond delay="4000"/>
                            </p:stCondLst>
                            <p:childTnLst>
                              <p:par>
                                <p:cTn id="43" presetID="53" presetClass="entr" presetSubtype="16" fill="hold" nodeType="afterEffect">
                                  <p:stCondLst>
                                    <p:cond delay="0"/>
                                  </p:stCondLst>
                                  <p:childTnLst>
                                    <p:set>
                                      <p:cBhvr>
                                        <p:cTn id="44" dur="1" fill="hold">
                                          <p:stCondLst>
                                            <p:cond delay="0"/>
                                          </p:stCondLst>
                                        </p:cTn>
                                        <p:tgtEl>
                                          <p:spTgt spid="74"/>
                                        </p:tgtEl>
                                        <p:attrNameLst>
                                          <p:attrName>style.visibility</p:attrName>
                                        </p:attrNameLst>
                                      </p:cBhvr>
                                      <p:to>
                                        <p:strVal val="visible"/>
                                      </p:to>
                                    </p:set>
                                    <p:anim calcmode="lin" valueType="num">
                                      <p:cBhvr>
                                        <p:cTn id="45" dur="1000" fill="hold"/>
                                        <p:tgtEl>
                                          <p:spTgt spid="74"/>
                                        </p:tgtEl>
                                        <p:attrNameLst>
                                          <p:attrName>ppt_w</p:attrName>
                                        </p:attrNameLst>
                                      </p:cBhvr>
                                      <p:tavLst>
                                        <p:tav tm="0">
                                          <p:val>
                                            <p:fltVal val="0"/>
                                          </p:val>
                                        </p:tav>
                                        <p:tav tm="100000">
                                          <p:val>
                                            <p:strVal val="#ppt_w"/>
                                          </p:val>
                                        </p:tav>
                                      </p:tavLst>
                                    </p:anim>
                                    <p:anim calcmode="lin" valueType="num">
                                      <p:cBhvr>
                                        <p:cTn id="46" dur="1000" fill="hold"/>
                                        <p:tgtEl>
                                          <p:spTgt spid="74"/>
                                        </p:tgtEl>
                                        <p:attrNameLst>
                                          <p:attrName>ppt_h</p:attrName>
                                        </p:attrNameLst>
                                      </p:cBhvr>
                                      <p:tavLst>
                                        <p:tav tm="0">
                                          <p:val>
                                            <p:fltVal val="0"/>
                                          </p:val>
                                        </p:tav>
                                        <p:tav tm="100000">
                                          <p:val>
                                            <p:strVal val="#ppt_h"/>
                                          </p:val>
                                        </p:tav>
                                      </p:tavLst>
                                    </p:anim>
                                    <p:animEffect transition="in" filter="fade">
                                      <p:cBhvr>
                                        <p:cTn id="47" dur="1000"/>
                                        <p:tgtEl>
                                          <p:spTgt spid="74"/>
                                        </p:tgtEl>
                                      </p:cBhvr>
                                    </p:animEffect>
                                  </p:childTnLst>
                                </p:cTn>
                              </p:par>
                              <p:par>
                                <p:cTn id="48" presetID="35" presetClass="path" presetSubtype="0" accel="50000" decel="50000" fill="hold" nodeType="withEffect">
                                  <p:stCondLst>
                                    <p:cond delay="0"/>
                                  </p:stCondLst>
                                  <p:childTnLst>
                                    <p:animMotion origin="layout" path="M 3.54167E-6 -2.59259E-6 L 0.31575 -2.59259E-6 " pathEditMode="relative" rAng="0" ptsTypes="AA">
                                      <p:cBhvr>
                                        <p:cTn id="49" dur="2000" spd="-100000" fill="hold"/>
                                        <p:tgtEl>
                                          <p:spTgt spid="74"/>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1DA23-84AB-4732-5EB9-8E715E2E59CB}"/>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553E03BA-C439-A77A-1861-BACFD998C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578" y="5737759"/>
            <a:ext cx="6809422" cy="1120241"/>
          </a:xfrm>
          <a:prstGeom prst="rect">
            <a:avLst/>
          </a:prstGeom>
        </p:spPr>
      </p:pic>
      <p:pic>
        <p:nvPicPr>
          <p:cNvPr id="19" name="图片 18">
            <a:extLst>
              <a:ext uri="{FF2B5EF4-FFF2-40B4-BE49-F238E27FC236}">
                <a16:creationId xmlns:a16="http://schemas.microsoft.com/office/drawing/2014/main" id="{1ABC17DD-8A96-426A-AF3B-3E466F81CB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pic>
        <p:nvPicPr>
          <p:cNvPr id="74" name="图片 73">
            <a:extLst>
              <a:ext uri="{FF2B5EF4-FFF2-40B4-BE49-F238E27FC236}">
                <a16:creationId xmlns:a16="http://schemas.microsoft.com/office/drawing/2014/main" id="{B74B6480-58D6-46BF-DA14-9287AEBFCB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902340" flipH="1">
            <a:off x="686735" y="622930"/>
            <a:ext cx="3143832" cy="1309931"/>
          </a:xfrm>
          <a:prstGeom prst="rect">
            <a:avLst/>
          </a:prstGeom>
        </p:spPr>
      </p:pic>
      <p:sp>
        <p:nvSpPr>
          <p:cNvPr id="75" name="文本框 74">
            <a:extLst>
              <a:ext uri="{FF2B5EF4-FFF2-40B4-BE49-F238E27FC236}">
                <a16:creationId xmlns:a16="http://schemas.microsoft.com/office/drawing/2014/main" id="{CD2E81FB-C33F-9571-F2ED-D3D797EC25BE}"/>
              </a:ext>
            </a:extLst>
          </p:cNvPr>
          <p:cNvSpPr txBox="1"/>
          <p:nvPr/>
        </p:nvSpPr>
        <p:spPr>
          <a:xfrm>
            <a:off x="4460240" y="2467132"/>
            <a:ext cx="3262432"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cs typeface="+mn-ea"/>
                <a:sym typeface="+mn-lt"/>
              </a:rPr>
              <a:t>第一部分</a:t>
            </a:r>
          </a:p>
        </p:txBody>
      </p:sp>
      <p:sp>
        <p:nvSpPr>
          <p:cNvPr id="77" name="Freeform 29">
            <a:extLst>
              <a:ext uri="{FF2B5EF4-FFF2-40B4-BE49-F238E27FC236}">
                <a16:creationId xmlns:a16="http://schemas.microsoft.com/office/drawing/2014/main" id="{0A805EF1-334F-D634-88C0-431364D8EB86}"/>
              </a:ext>
            </a:extLst>
          </p:cNvPr>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C00000"/>
              </a:solidFill>
              <a:effectLst/>
              <a:uLnTx/>
              <a:uFillTx/>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a:extLst>
              <a:ext uri="{FF2B5EF4-FFF2-40B4-BE49-F238E27FC236}">
                <a16:creationId xmlns:a16="http://schemas.microsoft.com/office/drawing/2014/main" id="{01EDA0B3-F533-2FD3-0778-E230B5B91193}"/>
              </a:ext>
            </a:extLst>
          </p:cNvPr>
          <p:cNvSpPr txBox="1"/>
          <p:nvPr/>
        </p:nvSpPr>
        <p:spPr>
          <a:xfrm>
            <a:off x="4777108" y="3393756"/>
            <a:ext cx="2646878" cy="830997"/>
          </a:xfrm>
          <a:prstGeom prst="rect">
            <a:avLst/>
          </a:prstGeom>
          <a:noFill/>
        </p:spPr>
        <p:txBody>
          <a:bodyPr wrap="none" rtlCol="0">
            <a:spAutoFit/>
          </a:bodyPr>
          <a:lstStyle/>
          <a:p>
            <a:pPr lvl="0" algn="ctr"/>
            <a:r>
              <a:rPr lang="zh-CN" altLang="en-US" sz="4800" b="1" dirty="0">
                <a:solidFill>
                  <a:srgbClr val="C00000"/>
                </a:solidFill>
                <a:latin typeface="字体视界-NEW魏碑体" panose="02010601030101010101" pitchFamily="2" charset="-122"/>
                <a:ea typeface="字体视界-NEW魏碑体" panose="02010601030101010101" pitchFamily="2" charset="-122"/>
              </a:rPr>
              <a:t>项目内容</a:t>
            </a:r>
            <a:endParaRPr kumimoji="0" lang="zh-CN" altLang="en-US" sz="48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cs typeface="+mn-cs"/>
            </a:endParaRPr>
          </a:p>
        </p:txBody>
      </p:sp>
    </p:spTree>
    <p:extLst>
      <p:ext uri="{BB962C8B-B14F-4D97-AF65-F5344CB8AC3E}">
        <p14:creationId xmlns:p14="http://schemas.microsoft.com/office/powerpoint/2010/main" val="35219384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3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animBg="1"/>
      <p:bldP spid="78" grpId="0"/>
      <p:bldP spid="78" grpId="1"/>
      <p:bldP spid="78"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771FD978-2621-4807-83CC-685DEDEE02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23" y="246423"/>
            <a:ext cx="4103077" cy="675011"/>
          </a:xfrm>
          <a:prstGeom prst="rect">
            <a:avLst/>
          </a:prstGeom>
        </p:spPr>
      </p:pic>
      <p:cxnSp>
        <p:nvCxnSpPr>
          <p:cNvPr id="26" name="直接连接符 25">
            <a:extLst>
              <a:ext uri="{FF2B5EF4-FFF2-40B4-BE49-F238E27FC236}">
                <a16:creationId xmlns:a16="http://schemas.microsoft.com/office/drawing/2014/main" id="{6415F6BC-04CE-4D1B-B8E3-0D7504003CE2}"/>
              </a:ext>
            </a:extLst>
          </p:cNvPr>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C7DD015-1349-4B82-A0B2-23D323DC2CAB}"/>
              </a:ext>
            </a:extLst>
          </p:cNvPr>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项目内容</a:t>
            </a:r>
          </a:p>
        </p:txBody>
      </p:sp>
      <p:sp>
        <p:nvSpPr>
          <p:cNvPr id="28" name="Freeform 29">
            <a:extLst>
              <a:ext uri="{FF2B5EF4-FFF2-40B4-BE49-F238E27FC236}">
                <a16:creationId xmlns:a16="http://schemas.microsoft.com/office/drawing/2014/main" id="{51F08409-D181-4905-9237-9A55B4512A5B}"/>
              </a:ext>
            </a:extLst>
          </p:cNvPr>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矩形 5">
            <a:extLst>
              <a:ext uri="{FF2B5EF4-FFF2-40B4-BE49-F238E27FC236}">
                <a16:creationId xmlns:a16="http://schemas.microsoft.com/office/drawing/2014/main" id="{35B8C8D6-DFFC-45BE-A484-712D89B39EE0}"/>
              </a:ext>
            </a:extLst>
          </p:cNvPr>
          <p:cNvSpPr/>
          <p:nvPr/>
        </p:nvSpPr>
        <p:spPr>
          <a:xfrm>
            <a:off x="1033119" y="1302647"/>
            <a:ext cx="1980029" cy="662554"/>
          </a:xfrm>
          <a:prstGeom prst="rect">
            <a:avLst/>
          </a:prstGeom>
        </p:spPr>
        <p:txBody>
          <a:bodyPr wrap="none">
            <a:spAutoFit/>
          </a:bodyPr>
          <a:lstStyle/>
          <a:p>
            <a:pPr defTabSz="1218753">
              <a:lnSpc>
                <a:spcPct val="150000"/>
              </a:lnSpc>
              <a:defRPr/>
            </a:pPr>
            <a:r>
              <a:rPr lang="zh-CN" altLang="en-US" sz="2800" b="1" dirty="0">
                <a:solidFill>
                  <a:srgbClr val="C00000"/>
                </a:solidFill>
                <a:latin typeface="微软雅黑" panose="020B0503020204020204" pitchFamily="34" charset="-122"/>
                <a:ea typeface="微软雅黑" panose="020B0503020204020204" pitchFamily="34" charset="-122"/>
              </a:rPr>
              <a:t>探资助脉络</a:t>
            </a:r>
          </a:p>
        </p:txBody>
      </p:sp>
      <p:sp>
        <p:nvSpPr>
          <p:cNvPr id="8" name="矩形 7">
            <a:extLst>
              <a:ext uri="{FF2B5EF4-FFF2-40B4-BE49-F238E27FC236}">
                <a16:creationId xmlns:a16="http://schemas.microsoft.com/office/drawing/2014/main" id="{DA45F548-6657-4F29-A611-4E177A4A5A20}"/>
              </a:ext>
            </a:extLst>
          </p:cNvPr>
          <p:cNvSpPr/>
          <p:nvPr/>
        </p:nvSpPr>
        <p:spPr>
          <a:xfrm>
            <a:off x="527984" y="5329268"/>
            <a:ext cx="3432313" cy="937596"/>
          </a:xfrm>
          <a:prstGeom prst="rect">
            <a:avLst/>
          </a:prstGeom>
        </p:spPr>
        <p:txBody>
          <a:bodyPr wrap="square" lIns="105571" tIns="52784" rIns="105571" bIns="52784">
            <a:spAutoFit/>
          </a:bodyPr>
          <a:lstStyle/>
          <a:p>
            <a:r>
              <a:rPr lang="zh-CN" altLang="zh-CN" dirty="0"/>
              <a:t>走访属地资助中心，与村书记及部门负责人交流，梳理政策脉络，探基层落实实效。</a:t>
            </a:r>
          </a:p>
        </p:txBody>
      </p:sp>
      <p:sp>
        <p:nvSpPr>
          <p:cNvPr id="2" name="矩形 1">
            <a:extLst>
              <a:ext uri="{FF2B5EF4-FFF2-40B4-BE49-F238E27FC236}">
                <a16:creationId xmlns:a16="http://schemas.microsoft.com/office/drawing/2014/main" id="{1E1617B6-ED53-4075-6080-74DAD9BA8677}"/>
              </a:ext>
            </a:extLst>
          </p:cNvPr>
          <p:cNvSpPr/>
          <p:nvPr/>
        </p:nvSpPr>
        <p:spPr>
          <a:xfrm>
            <a:off x="5101896" y="1302647"/>
            <a:ext cx="1980029" cy="662554"/>
          </a:xfrm>
          <a:prstGeom prst="rect">
            <a:avLst/>
          </a:prstGeom>
        </p:spPr>
        <p:txBody>
          <a:bodyPr wrap="square">
            <a:spAutoFit/>
          </a:bodyPr>
          <a:lstStyle/>
          <a:p>
            <a:pPr defTabSz="1218753">
              <a:lnSpc>
                <a:spcPct val="150000"/>
              </a:lnSpc>
              <a:defRPr/>
            </a:pPr>
            <a:r>
              <a:rPr lang="zh-CN" altLang="en-US" sz="2800" b="1" dirty="0">
                <a:solidFill>
                  <a:srgbClr val="C00000"/>
                </a:solidFill>
                <a:latin typeface="微软雅黑" panose="020B0503020204020204" pitchFamily="34" charset="-122"/>
                <a:ea typeface="微软雅黑" panose="020B0503020204020204" pitchFamily="34" charset="-122"/>
              </a:rPr>
              <a:t>传助学强音</a:t>
            </a:r>
          </a:p>
        </p:txBody>
      </p:sp>
      <p:sp>
        <p:nvSpPr>
          <p:cNvPr id="3" name="矩形 2">
            <a:extLst>
              <a:ext uri="{FF2B5EF4-FFF2-40B4-BE49-F238E27FC236}">
                <a16:creationId xmlns:a16="http://schemas.microsoft.com/office/drawing/2014/main" id="{33FCEA82-1190-D8EE-C376-D7A31281E813}"/>
              </a:ext>
            </a:extLst>
          </p:cNvPr>
          <p:cNvSpPr/>
          <p:nvPr/>
        </p:nvSpPr>
        <p:spPr>
          <a:xfrm>
            <a:off x="4429978" y="5329268"/>
            <a:ext cx="3631032" cy="937596"/>
          </a:xfrm>
          <a:prstGeom prst="rect">
            <a:avLst/>
          </a:prstGeom>
        </p:spPr>
        <p:txBody>
          <a:bodyPr wrap="square" lIns="105571" tIns="52784" rIns="105571" bIns="52784">
            <a:spAutoFit/>
          </a:bodyPr>
          <a:lstStyle/>
          <a:p>
            <a:r>
              <a:rPr lang="zh-CN" altLang="en-US" dirty="0"/>
              <a:t>走进县域中学，以案例解政策、用互动消顾虑，播撒“求学有路”的希望种子。</a:t>
            </a:r>
            <a:endParaRPr lang="zh-CN" altLang="zh-CN" dirty="0"/>
          </a:p>
        </p:txBody>
      </p:sp>
      <p:sp>
        <p:nvSpPr>
          <p:cNvPr id="4" name="矩形 3">
            <a:extLst>
              <a:ext uri="{FF2B5EF4-FFF2-40B4-BE49-F238E27FC236}">
                <a16:creationId xmlns:a16="http://schemas.microsoft.com/office/drawing/2014/main" id="{6541E0FF-BEAA-5FFB-E985-F29EAE7C2424}"/>
              </a:ext>
            </a:extLst>
          </p:cNvPr>
          <p:cNvSpPr/>
          <p:nvPr/>
        </p:nvSpPr>
        <p:spPr>
          <a:xfrm>
            <a:off x="9109637" y="1302647"/>
            <a:ext cx="1980029" cy="662554"/>
          </a:xfrm>
          <a:prstGeom prst="rect">
            <a:avLst/>
          </a:prstGeom>
        </p:spPr>
        <p:txBody>
          <a:bodyPr wrap="none">
            <a:spAutoFit/>
          </a:bodyPr>
          <a:lstStyle/>
          <a:p>
            <a:pPr defTabSz="1218753">
              <a:lnSpc>
                <a:spcPct val="150000"/>
              </a:lnSpc>
              <a:defRPr/>
            </a:pPr>
            <a:r>
              <a:rPr lang="zh-CN" altLang="en-US" sz="2800" b="1" dirty="0">
                <a:solidFill>
                  <a:srgbClr val="C00000"/>
                </a:solidFill>
                <a:latin typeface="微软雅黑" panose="020B0503020204020204" pitchFamily="34" charset="-122"/>
                <a:ea typeface="微软雅黑" panose="020B0503020204020204" pitchFamily="34" charset="-122"/>
              </a:rPr>
              <a:t>续红色薪火</a:t>
            </a:r>
          </a:p>
        </p:txBody>
      </p:sp>
      <p:sp>
        <p:nvSpPr>
          <p:cNvPr id="5" name="矩形 4">
            <a:extLst>
              <a:ext uri="{FF2B5EF4-FFF2-40B4-BE49-F238E27FC236}">
                <a16:creationId xmlns:a16="http://schemas.microsoft.com/office/drawing/2014/main" id="{F30E5916-1319-C474-C6CC-B167A40175A1}"/>
              </a:ext>
            </a:extLst>
          </p:cNvPr>
          <p:cNvSpPr/>
          <p:nvPr/>
        </p:nvSpPr>
        <p:spPr>
          <a:xfrm>
            <a:off x="8530692" y="5329268"/>
            <a:ext cx="3219538" cy="937596"/>
          </a:xfrm>
          <a:prstGeom prst="rect">
            <a:avLst/>
          </a:prstGeom>
        </p:spPr>
        <p:txBody>
          <a:bodyPr wrap="square" lIns="105571" tIns="52784" rIns="105571" bIns="52784">
            <a:spAutoFit/>
          </a:bodyPr>
          <a:lstStyle/>
          <a:p>
            <a:r>
              <a:rPr lang="zh-CN" altLang="zh-CN" dirty="0"/>
              <a:t>漫步本地红色街区，触摸革命印记，让精神力量穿透时光、照亮当下。</a:t>
            </a:r>
          </a:p>
        </p:txBody>
      </p:sp>
      <p:pic>
        <p:nvPicPr>
          <p:cNvPr id="7" name="图片 25">
            <a:extLst>
              <a:ext uri="{FF2B5EF4-FFF2-40B4-BE49-F238E27FC236}">
                <a16:creationId xmlns:a16="http://schemas.microsoft.com/office/drawing/2014/main" id="{79FE0AA8-97C9-B15F-02F3-AB697ED98A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16522"/>
          <a:stretch>
            <a:fillRect/>
          </a:stretch>
        </p:blipFill>
        <p:spPr bwMode="auto">
          <a:xfrm>
            <a:off x="25817" y="3429000"/>
            <a:ext cx="1980029" cy="127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6">
            <a:extLst>
              <a:ext uri="{FF2B5EF4-FFF2-40B4-BE49-F238E27FC236}">
                <a16:creationId xmlns:a16="http://schemas.microsoft.com/office/drawing/2014/main" id="{A5C622B8-951D-2B9E-3022-FAB88CEF729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23133" y="2205686"/>
            <a:ext cx="2030600" cy="119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27">
            <a:extLst>
              <a:ext uri="{FF2B5EF4-FFF2-40B4-BE49-F238E27FC236}">
                <a16:creationId xmlns:a16="http://schemas.microsoft.com/office/drawing/2014/main" id="{9165964F-AAFF-DE6A-7919-22F1A76EA1D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t="37335" b="37384"/>
          <a:stretch>
            <a:fillRect/>
          </a:stretch>
        </p:blipFill>
        <p:spPr bwMode="auto">
          <a:xfrm>
            <a:off x="25817" y="2210582"/>
            <a:ext cx="1980029" cy="119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7">
            <a:extLst>
              <a:ext uri="{FF2B5EF4-FFF2-40B4-BE49-F238E27FC236}">
                <a16:creationId xmlns:a16="http://schemas.microsoft.com/office/drawing/2014/main" id="{1A49986C-B86D-A439-8C4F-92A77636BD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3133" y="3428992"/>
            <a:ext cx="2030600" cy="12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
            <a:extLst>
              <a:ext uri="{FF2B5EF4-FFF2-40B4-BE49-F238E27FC236}">
                <a16:creationId xmlns:a16="http://schemas.microsoft.com/office/drawing/2014/main" id="{C34B9188-F689-D198-CB68-8961CD3E968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71020" y="2205685"/>
            <a:ext cx="2030600" cy="119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2">
            <a:extLst>
              <a:ext uri="{FF2B5EF4-FFF2-40B4-BE49-F238E27FC236}">
                <a16:creationId xmlns:a16="http://schemas.microsoft.com/office/drawing/2014/main" id="{4754083A-C88A-E85A-C23B-628ABE929C8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H="1">
            <a:off x="6118906" y="3428992"/>
            <a:ext cx="1968609" cy="12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3">
            <a:extLst>
              <a:ext uri="{FF2B5EF4-FFF2-40B4-BE49-F238E27FC236}">
                <a16:creationId xmlns:a16="http://schemas.microsoft.com/office/drawing/2014/main" id="{F66BFE0E-F2A7-EF4D-A46C-F3E5A2F79E5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118907" y="2205685"/>
            <a:ext cx="1980029" cy="119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9">
            <a:extLst>
              <a:ext uri="{FF2B5EF4-FFF2-40B4-BE49-F238E27FC236}">
                <a16:creationId xmlns:a16="http://schemas.microsoft.com/office/drawing/2014/main" id="{571E91AD-3E6B-F516-8CE3-3AB807E1E98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138269" y="2205686"/>
            <a:ext cx="1874885" cy="1190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6">
            <a:extLst>
              <a:ext uri="{FF2B5EF4-FFF2-40B4-BE49-F238E27FC236}">
                <a16:creationId xmlns:a16="http://schemas.microsoft.com/office/drawing/2014/main" id="{81AC9684-C1B9-AF7C-4E94-94DA0612E602}"/>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125933" y="3419737"/>
            <a:ext cx="1887221" cy="128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7">
            <a:extLst>
              <a:ext uri="{FF2B5EF4-FFF2-40B4-BE49-F238E27FC236}">
                <a16:creationId xmlns:a16="http://schemas.microsoft.com/office/drawing/2014/main" id="{CC7B84C3-EBE8-42C0-5BD5-16D0A41B765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13155" y="2205686"/>
            <a:ext cx="2153028" cy="1190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8">
            <a:extLst>
              <a:ext uri="{FF2B5EF4-FFF2-40B4-BE49-F238E27FC236}">
                <a16:creationId xmlns:a16="http://schemas.microsoft.com/office/drawing/2014/main" id="{29852055-F846-4613-3D83-E0CEE98E46E4}"/>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013153" y="3419736"/>
            <a:ext cx="2153027" cy="1284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a:extLst>
              <a:ext uri="{FF2B5EF4-FFF2-40B4-BE49-F238E27FC236}">
                <a16:creationId xmlns:a16="http://schemas.microsoft.com/office/drawing/2014/main" id="{2E99CED5-F7D2-C45F-7AEE-0FC8656CEB22}"/>
              </a:ext>
            </a:extLst>
          </p:cNvPr>
          <p:cNvSpPr/>
          <p:nvPr/>
        </p:nvSpPr>
        <p:spPr>
          <a:xfrm>
            <a:off x="584277" y="4822706"/>
            <a:ext cx="2877711" cy="377411"/>
          </a:xfrm>
          <a:prstGeom prst="rect">
            <a:avLst/>
          </a:prstGeom>
        </p:spPr>
        <p:txBody>
          <a:bodyPr wrap="none">
            <a:spAutoFit/>
          </a:bodyPr>
          <a:lstStyle/>
          <a:p>
            <a:pPr defTabSz="1218753">
              <a:lnSpc>
                <a:spcPct val="150000"/>
              </a:lnSpc>
              <a:defRPr/>
            </a:pPr>
            <a:r>
              <a:rPr lang="zh-CN" altLang="en-US" sz="1400" b="1" dirty="0">
                <a:solidFill>
                  <a:srgbClr val="C00000"/>
                </a:solidFill>
                <a:latin typeface="微软雅黑" panose="020B0503020204020204" pitchFamily="34" charset="-122"/>
                <a:ea typeface="微软雅黑" panose="020B0503020204020204" pitchFamily="34" charset="-122"/>
              </a:rPr>
              <a:t>地点：玉林市高山村助学服务中心</a:t>
            </a:r>
          </a:p>
        </p:txBody>
      </p:sp>
      <p:pic>
        <p:nvPicPr>
          <p:cNvPr id="24" name="图片 4">
            <a:extLst>
              <a:ext uri="{FF2B5EF4-FFF2-40B4-BE49-F238E27FC236}">
                <a16:creationId xmlns:a16="http://schemas.microsoft.com/office/drawing/2014/main" id="{97FDBB0B-F59A-D9C0-C707-A6A1AB98C3D8}"/>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66068" y="3428992"/>
            <a:ext cx="2029932" cy="12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矩形 28">
            <a:extLst>
              <a:ext uri="{FF2B5EF4-FFF2-40B4-BE49-F238E27FC236}">
                <a16:creationId xmlns:a16="http://schemas.microsoft.com/office/drawing/2014/main" id="{645437BE-0FD0-769D-3474-3E92D944F6C6}"/>
              </a:ext>
            </a:extLst>
          </p:cNvPr>
          <p:cNvSpPr/>
          <p:nvPr/>
        </p:nvSpPr>
        <p:spPr>
          <a:xfrm>
            <a:off x="5101896" y="4827470"/>
            <a:ext cx="1800493" cy="377411"/>
          </a:xfrm>
          <a:prstGeom prst="rect">
            <a:avLst/>
          </a:prstGeom>
        </p:spPr>
        <p:txBody>
          <a:bodyPr wrap="none">
            <a:spAutoFit/>
          </a:bodyPr>
          <a:lstStyle/>
          <a:p>
            <a:pPr defTabSz="1218753">
              <a:lnSpc>
                <a:spcPct val="150000"/>
              </a:lnSpc>
              <a:defRPr/>
            </a:pPr>
            <a:r>
              <a:rPr lang="zh-CN" altLang="en-US" sz="1400" b="1" dirty="0">
                <a:solidFill>
                  <a:srgbClr val="C00000"/>
                </a:solidFill>
                <a:latin typeface="微软雅黑" panose="020B0503020204020204" pitchFamily="34" charset="-122"/>
                <a:ea typeface="微软雅黑" panose="020B0503020204020204" pitchFamily="34" charset="-122"/>
              </a:rPr>
              <a:t>地点：广西玉林高中</a:t>
            </a:r>
          </a:p>
        </p:txBody>
      </p:sp>
      <p:sp>
        <p:nvSpPr>
          <p:cNvPr id="30" name="矩形 29">
            <a:extLst>
              <a:ext uri="{FF2B5EF4-FFF2-40B4-BE49-F238E27FC236}">
                <a16:creationId xmlns:a16="http://schemas.microsoft.com/office/drawing/2014/main" id="{7589314B-C4F5-0F9C-F186-DBAE7C591662}"/>
              </a:ext>
            </a:extLst>
          </p:cNvPr>
          <p:cNvSpPr/>
          <p:nvPr/>
        </p:nvSpPr>
        <p:spPr>
          <a:xfrm>
            <a:off x="8238864" y="4822705"/>
            <a:ext cx="4906229" cy="377411"/>
          </a:xfrm>
          <a:prstGeom prst="rect">
            <a:avLst/>
          </a:prstGeom>
        </p:spPr>
        <p:txBody>
          <a:bodyPr wrap="square">
            <a:spAutoFit/>
          </a:bodyPr>
          <a:lstStyle/>
          <a:p>
            <a:pPr defTabSz="1218753">
              <a:lnSpc>
                <a:spcPct val="150000"/>
              </a:lnSpc>
              <a:defRPr/>
            </a:pPr>
            <a:r>
              <a:rPr lang="zh-CN" altLang="en-US" sz="1400" b="1" dirty="0">
                <a:solidFill>
                  <a:srgbClr val="C00000"/>
                </a:solidFill>
                <a:latin typeface="微软雅黑" panose="020B0503020204020204" pitchFamily="34" charset="-122"/>
                <a:ea typeface="微软雅黑" panose="020B0503020204020204" pitchFamily="34" charset="-122"/>
              </a:rPr>
              <a:t>地点：西就红色街区、陈子涛故居、朱锡昂陵园</a:t>
            </a:r>
          </a:p>
        </p:txBody>
      </p:sp>
    </p:spTree>
    <p:extLst>
      <p:ext uri="{BB962C8B-B14F-4D97-AF65-F5344CB8AC3E}">
        <p14:creationId xmlns:p14="http://schemas.microsoft.com/office/powerpoint/2010/main" val="273522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2650"/>
                            </p:stCondLst>
                            <p:childTnLst>
                              <p:par>
                                <p:cTn id="38" presetID="23" presetClass="entr" presetSubtype="16"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p:cTn id="40" dur="500" fill="hold"/>
                                        <p:tgtEl>
                                          <p:spTgt spid="6"/>
                                        </p:tgtEl>
                                        <p:attrNameLst>
                                          <p:attrName>ppt_w</p:attrName>
                                        </p:attrNameLst>
                                      </p:cBhvr>
                                      <p:tavLst>
                                        <p:tav tm="0">
                                          <p:val>
                                            <p:fltVal val="0"/>
                                          </p:val>
                                        </p:tav>
                                        <p:tav tm="100000">
                                          <p:val>
                                            <p:strVal val="#ppt_w"/>
                                          </p:val>
                                        </p:tav>
                                      </p:tavLst>
                                    </p:anim>
                                    <p:anim calcmode="lin" valueType="num">
                                      <p:cBhvr>
                                        <p:cTn id="41" dur="500" fill="hold"/>
                                        <p:tgtEl>
                                          <p:spTgt spid="6"/>
                                        </p:tgtEl>
                                        <p:attrNameLst>
                                          <p:attrName>ppt_h</p:attrName>
                                        </p:attrNameLst>
                                      </p:cBhvr>
                                      <p:tavLst>
                                        <p:tav tm="0">
                                          <p:val>
                                            <p:fltVal val="0"/>
                                          </p:val>
                                        </p:tav>
                                        <p:tav tm="100000">
                                          <p:val>
                                            <p:strVal val="#ppt_h"/>
                                          </p:val>
                                        </p:tav>
                                      </p:tavLst>
                                    </p:anim>
                                  </p:childTnLst>
                                </p:cTn>
                              </p:par>
                            </p:childTnLst>
                          </p:cTn>
                        </p:par>
                        <p:par>
                          <p:cTn id="42" fill="hold">
                            <p:stCondLst>
                              <p:cond delay="3150"/>
                            </p:stCondLst>
                            <p:childTnLst>
                              <p:par>
                                <p:cTn id="43" presetID="22" presetClass="entr" presetSubtype="1"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childTnLst>
                          </p:cTn>
                        </p:par>
                        <p:par>
                          <p:cTn id="46" fill="hold">
                            <p:stCondLst>
                              <p:cond delay="3650"/>
                            </p:stCondLst>
                            <p:childTnLst>
                              <p:par>
                                <p:cTn id="47" presetID="23" presetClass="entr" presetSubtype="16" fill="hold" grpId="0"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500" fill="hold"/>
                                        <p:tgtEl>
                                          <p:spTgt spid="2"/>
                                        </p:tgtEl>
                                        <p:attrNameLst>
                                          <p:attrName>ppt_w</p:attrName>
                                        </p:attrNameLst>
                                      </p:cBhvr>
                                      <p:tavLst>
                                        <p:tav tm="0">
                                          <p:val>
                                            <p:fltVal val="0"/>
                                          </p:val>
                                        </p:tav>
                                        <p:tav tm="100000">
                                          <p:val>
                                            <p:strVal val="#ppt_w"/>
                                          </p:val>
                                        </p:tav>
                                      </p:tavLst>
                                    </p:anim>
                                    <p:anim calcmode="lin" valueType="num">
                                      <p:cBhvr>
                                        <p:cTn id="50" dur="500" fill="hold"/>
                                        <p:tgtEl>
                                          <p:spTgt spid="2"/>
                                        </p:tgtEl>
                                        <p:attrNameLst>
                                          <p:attrName>ppt_h</p:attrName>
                                        </p:attrNameLst>
                                      </p:cBhvr>
                                      <p:tavLst>
                                        <p:tav tm="0">
                                          <p:val>
                                            <p:fltVal val="0"/>
                                          </p:val>
                                        </p:tav>
                                        <p:tav tm="100000">
                                          <p:val>
                                            <p:strVal val="#ppt_h"/>
                                          </p:val>
                                        </p:tav>
                                      </p:tavLst>
                                    </p:anim>
                                  </p:childTnLst>
                                </p:cTn>
                              </p:par>
                            </p:childTnLst>
                          </p:cTn>
                        </p:par>
                        <p:par>
                          <p:cTn id="51" fill="hold">
                            <p:stCondLst>
                              <p:cond delay="4150"/>
                            </p:stCondLst>
                            <p:childTnLst>
                              <p:par>
                                <p:cTn id="52" presetID="22" presetClass="entr" presetSubtype="1" fill="hold" grpId="0" nodeType="after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up)">
                                      <p:cBhvr>
                                        <p:cTn id="54" dur="500"/>
                                        <p:tgtEl>
                                          <p:spTgt spid="3"/>
                                        </p:tgtEl>
                                      </p:cBhvr>
                                    </p:animEffect>
                                  </p:childTnLst>
                                </p:cTn>
                              </p:par>
                            </p:childTnLst>
                          </p:cTn>
                        </p:par>
                        <p:par>
                          <p:cTn id="55" fill="hold">
                            <p:stCondLst>
                              <p:cond delay="4650"/>
                            </p:stCondLst>
                            <p:childTnLst>
                              <p:par>
                                <p:cTn id="56" presetID="23" presetClass="entr" presetSubtype="16" fill="hold" grpId="0" nodeType="after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p:cTn id="58" dur="500" fill="hold"/>
                                        <p:tgtEl>
                                          <p:spTgt spid="4"/>
                                        </p:tgtEl>
                                        <p:attrNameLst>
                                          <p:attrName>ppt_w</p:attrName>
                                        </p:attrNameLst>
                                      </p:cBhvr>
                                      <p:tavLst>
                                        <p:tav tm="0">
                                          <p:val>
                                            <p:fltVal val="0"/>
                                          </p:val>
                                        </p:tav>
                                        <p:tav tm="100000">
                                          <p:val>
                                            <p:strVal val="#ppt_w"/>
                                          </p:val>
                                        </p:tav>
                                      </p:tavLst>
                                    </p:anim>
                                    <p:anim calcmode="lin" valueType="num">
                                      <p:cBhvr>
                                        <p:cTn id="59" dur="500" fill="hold"/>
                                        <p:tgtEl>
                                          <p:spTgt spid="4"/>
                                        </p:tgtEl>
                                        <p:attrNameLst>
                                          <p:attrName>ppt_h</p:attrName>
                                        </p:attrNameLst>
                                      </p:cBhvr>
                                      <p:tavLst>
                                        <p:tav tm="0">
                                          <p:val>
                                            <p:fltVal val="0"/>
                                          </p:val>
                                        </p:tav>
                                        <p:tav tm="100000">
                                          <p:val>
                                            <p:strVal val="#ppt_h"/>
                                          </p:val>
                                        </p:tav>
                                      </p:tavLst>
                                    </p:anim>
                                  </p:childTnLst>
                                </p:cTn>
                              </p:par>
                            </p:childTnLst>
                          </p:cTn>
                        </p:par>
                        <p:par>
                          <p:cTn id="60" fill="hold">
                            <p:stCondLst>
                              <p:cond delay="5150"/>
                            </p:stCondLst>
                            <p:childTnLst>
                              <p:par>
                                <p:cTn id="61" presetID="22" presetClass="entr" presetSubtype="1" fill="hold" grpId="0" nodeType="after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wipe(up)">
                                      <p:cBhvr>
                                        <p:cTn id="63" dur="500"/>
                                        <p:tgtEl>
                                          <p:spTgt spid="5"/>
                                        </p:tgtEl>
                                      </p:cBhvr>
                                    </p:animEffect>
                                  </p:childTnLst>
                                </p:cTn>
                              </p:par>
                            </p:childTnLst>
                          </p:cTn>
                        </p:par>
                        <p:par>
                          <p:cTn id="64" fill="hold">
                            <p:stCondLst>
                              <p:cond delay="5650"/>
                            </p:stCondLst>
                            <p:childTnLst>
                              <p:par>
                                <p:cTn id="65" presetID="23" presetClass="entr" presetSubtype="16"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p:cTn id="67" dur="500" fill="hold"/>
                                        <p:tgtEl>
                                          <p:spTgt spid="22"/>
                                        </p:tgtEl>
                                        <p:attrNameLst>
                                          <p:attrName>ppt_w</p:attrName>
                                        </p:attrNameLst>
                                      </p:cBhvr>
                                      <p:tavLst>
                                        <p:tav tm="0">
                                          <p:val>
                                            <p:fltVal val="0"/>
                                          </p:val>
                                        </p:tav>
                                        <p:tav tm="100000">
                                          <p:val>
                                            <p:strVal val="#ppt_w"/>
                                          </p:val>
                                        </p:tav>
                                      </p:tavLst>
                                    </p:anim>
                                    <p:anim calcmode="lin" valueType="num">
                                      <p:cBhvr>
                                        <p:cTn id="68" dur="500" fill="hold"/>
                                        <p:tgtEl>
                                          <p:spTgt spid="22"/>
                                        </p:tgtEl>
                                        <p:attrNameLst>
                                          <p:attrName>ppt_h</p:attrName>
                                        </p:attrNameLst>
                                      </p:cBhvr>
                                      <p:tavLst>
                                        <p:tav tm="0">
                                          <p:val>
                                            <p:fltVal val="0"/>
                                          </p:val>
                                        </p:tav>
                                        <p:tav tm="100000">
                                          <p:val>
                                            <p:strVal val="#ppt_h"/>
                                          </p:val>
                                        </p:tav>
                                      </p:tavLst>
                                    </p:anim>
                                  </p:childTnLst>
                                </p:cTn>
                              </p:par>
                            </p:childTnLst>
                          </p:cTn>
                        </p:par>
                        <p:par>
                          <p:cTn id="69" fill="hold">
                            <p:stCondLst>
                              <p:cond delay="6150"/>
                            </p:stCondLst>
                            <p:childTnLst>
                              <p:par>
                                <p:cTn id="70" presetID="23" presetClass="entr" presetSubtype="16" fill="hold" grpId="0" nodeType="after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p:cTn id="72" dur="500" fill="hold"/>
                                        <p:tgtEl>
                                          <p:spTgt spid="29"/>
                                        </p:tgtEl>
                                        <p:attrNameLst>
                                          <p:attrName>ppt_w</p:attrName>
                                        </p:attrNameLst>
                                      </p:cBhvr>
                                      <p:tavLst>
                                        <p:tav tm="0">
                                          <p:val>
                                            <p:fltVal val="0"/>
                                          </p:val>
                                        </p:tav>
                                        <p:tav tm="100000">
                                          <p:val>
                                            <p:strVal val="#ppt_w"/>
                                          </p:val>
                                        </p:tav>
                                      </p:tavLst>
                                    </p:anim>
                                    <p:anim calcmode="lin" valueType="num">
                                      <p:cBhvr>
                                        <p:cTn id="73" dur="500" fill="hold"/>
                                        <p:tgtEl>
                                          <p:spTgt spid="29"/>
                                        </p:tgtEl>
                                        <p:attrNameLst>
                                          <p:attrName>ppt_h</p:attrName>
                                        </p:attrNameLst>
                                      </p:cBhvr>
                                      <p:tavLst>
                                        <p:tav tm="0">
                                          <p:val>
                                            <p:fltVal val="0"/>
                                          </p:val>
                                        </p:tav>
                                        <p:tav tm="100000">
                                          <p:val>
                                            <p:strVal val="#ppt_h"/>
                                          </p:val>
                                        </p:tav>
                                      </p:tavLst>
                                    </p:anim>
                                  </p:childTnLst>
                                </p:cTn>
                              </p:par>
                            </p:childTnLst>
                          </p:cTn>
                        </p:par>
                        <p:par>
                          <p:cTn id="74" fill="hold">
                            <p:stCondLst>
                              <p:cond delay="6650"/>
                            </p:stCondLst>
                            <p:childTnLst>
                              <p:par>
                                <p:cTn id="75" presetID="23" presetClass="entr" presetSubtype="16"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p:cTn id="77" dur="500" fill="hold"/>
                                        <p:tgtEl>
                                          <p:spTgt spid="30"/>
                                        </p:tgtEl>
                                        <p:attrNameLst>
                                          <p:attrName>ppt_w</p:attrName>
                                        </p:attrNameLst>
                                      </p:cBhvr>
                                      <p:tavLst>
                                        <p:tav tm="0">
                                          <p:val>
                                            <p:fltVal val="0"/>
                                          </p:val>
                                        </p:tav>
                                        <p:tav tm="100000">
                                          <p:val>
                                            <p:strVal val="#ppt_w"/>
                                          </p:val>
                                        </p:tav>
                                      </p:tavLst>
                                    </p:anim>
                                    <p:anim calcmode="lin" valueType="num">
                                      <p:cBhvr>
                                        <p:cTn id="78" dur="500" fill="hold"/>
                                        <p:tgtEl>
                                          <p:spTgt spid="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p:bldP spid="8" grpId="0"/>
      <p:bldP spid="2" grpId="0"/>
      <p:bldP spid="3" grpId="0"/>
      <p:bldP spid="4" grpId="0"/>
      <p:bldP spid="5" grpId="0"/>
      <p:bldP spid="22" grpId="0"/>
      <p:bldP spid="29"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0240FDE9-0338-4CFB-9B2E-E980FA179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578" y="5737759"/>
            <a:ext cx="6809422" cy="1120241"/>
          </a:xfrm>
          <a:prstGeom prst="rect">
            <a:avLst/>
          </a:prstGeom>
        </p:spPr>
      </p:pic>
      <p:pic>
        <p:nvPicPr>
          <p:cNvPr id="19" name="图片 18">
            <a:extLst>
              <a:ext uri="{FF2B5EF4-FFF2-40B4-BE49-F238E27FC236}">
                <a16:creationId xmlns:a16="http://schemas.microsoft.com/office/drawing/2014/main" id="{8CB86D49-4053-4C25-B704-887DC5D13F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pic>
        <p:nvPicPr>
          <p:cNvPr id="74" name="图片 73">
            <a:extLst>
              <a:ext uri="{FF2B5EF4-FFF2-40B4-BE49-F238E27FC236}">
                <a16:creationId xmlns:a16="http://schemas.microsoft.com/office/drawing/2014/main" id="{549D4624-B2C3-4BC0-AAAC-52569AE1E3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902340" flipH="1">
            <a:off x="686735" y="622930"/>
            <a:ext cx="3143832" cy="1309931"/>
          </a:xfrm>
          <a:prstGeom prst="rect">
            <a:avLst/>
          </a:prstGeom>
        </p:spPr>
      </p:pic>
      <p:sp>
        <p:nvSpPr>
          <p:cNvPr id="75" name="文本框 74">
            <a:extLst>
              <a:ext uri="{FF2B5EF4-FFF2-40B4-BE49-F238E27FC236}">
                <a16:creationId xmlns:a16="http://schemas.microsoft.com/office/drawing/2014/main" id="{1E3CFE36-6B7C-4163-BED3-9543E266EBB4}"/>
              </a:ext>
            </a:extLst>
          </p:cNvPr>
          <p:cNvSpPr txBox="1"/>
          <p:nvPr/>
        </p:nvSpPr>
        <p:spPr>
          <a:xfrm>
            <a:off x="4460240" y="2467132"/>
            <a:ext cx="3265638" cy="1015663"/>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第二部分</a:t>
            </a:r>
          </a:p>
        </p:txBody>
      </p:sp>
      <p:sp>
        <p:nvSpPr>
          <p:cNvPr id="77" name="Freeform 29">
            <a:extLst>
              <a:ext uri="{FF2B5EF4-FFF2-40B4-BE49-F238E27FC236}">
                <a16:creationId xmlns:a16="http://schemas.microsoft.com/office/drawing/2014/main" id="{57D80A25-7EA0-4AEB-AF89-2F448458E159}"/>
              </a:ext>
            </a:extLst>
          </p:cNvPr>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a:extLst>
              <a:ext uri="{FF2B5EF4-FFF2-40B4-BE49-F238E27FC236}">
                <a16:creationId xmlns:a16="http://schemas.microsoft.com/office/drawing/2014/main" id="{E1697D39-805B-491A-9EB4-A3AB8B13CED0}"/>
              </a:ext>
            </a:extLst>
          </p:cNvPr>
          <p:cNvSpPr txBox="1"/>
          <p:nvPr/>
        </p:nvSpPr>
        <p:spPr>
          <a:xfrm>
            <a:off x="4777108" y="3393756"/>
            <a:ext cx="2646878" cy="830997"/>
          </a:xfrm>
          <a:prstGeom prst="rect">
            <a:avLst/>
          </a:prstGeom>
          <a:noFill/>
        </p:spPr>
        <p:txBody>
          <a:bodyPr wrap="none" rtlCol="0">
            <a:spAutoFit/>
          </a:bodyPr>
          <a:lstStyle/>
          <a:p>
            <a:pPr algn="ctr"/>
            <a:r>
              <a:rPr lang="zh-CN" altLang="en-US" sz="4800" b="1" dirty="0">
                <a:solidFill>
                  <a:srgbClr val="C00000"/>
                </a:solidFill>
                <a:latin typeface="字体视界-NEW魏碑体" panose="02010601030101010101" pitchFamily="2" charset="-122"/>
                <a:ea typeface="字体视界-NEW魏碑体" panose="02010601030101010101" pitchFamily="2" charset="-122"/>
              </a:rPr>
              <a:t>项目成果</a:t>
            </a:r>
          </a:p>
        </p:txBody>
      </p:sp>
    </p:spTree>
    <p:extLst>
      <p:ext uri="{BB962C8B-B14F-4D97-AF65-F5344CB8AC3E}">
        <p14:creationId xmlns:p14="http://schemas.microsoft.com/office/powerpoint/2010/main" val="3096712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3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animBg="1"/>
      <p:bldP spid="78" grpId="0"/>
      <p:bldP spid="78" grpId="1"/>
      <p:bldP spid="78"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771FD978-2621-4807-83CC-685DEDEE02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23" y="246423"/>
            <a:ext cx="4103077" cy="675011"/>
          </a:xfrm>
          <a:prstGeom prst="rect">
            <a:avLst/>
          </a:prstGeom>
        </p:spPr>
      </p:pic>
      <p:cxnSp>
        <p:nvCxnSpPr>
          <p:cNvPr id="26" name="直接连接符 25">
            <a:extLst>
              <a:ext uri="{FF2B5EF4-FFF2-40B4-BE49-F238E27FC236}">
                <a16:creationId xmlns:a16="http://schemas.microsoft.com/office/drawing/2014/main" id="{6415F6BC-04CE-4D1B-B8E3-0D7504003CE2}"/>
              </a:ext>
            </a:extLst>
          </p:cNvPr>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C7DD015-1349-4B82-A0B2-23D323DC2CAB}"/>
              </a:ext>
            </a:extLst>
          </p:cNvPr>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项目成果</a:t>
            </a:r>
          </a:p>
        </p:txBody>
      </p:sp>
      <p:sp>
        <p:nvSpPr>
          <p:cNvPr id="28" name="Freeform 29">
            <a:extLst>
              <a:ext uri="{FF2B5EF4-FFF2-40B4-BE49-F238E27FC236}">
                <a16:creationId xmlns:a16="http://schemas.microsoft.com/office/drawing/2014/main" id="{51F08409-D181-4905-9237-9A55B4512A5B}"/>
              </a:ext>
            </a:extLst>
          </p:cNvPr>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Freeform 14">
            <a:extLst>
              <a:ext uri="{FF2B5EF4-FFF2-40B4-BE49-F238E27FC236}">
                <a16:creationId xmlns:a16="http://schemas.microsoft.com/office/drawing/2014/main" id="{5829627E-98F0-4EB8-907C-A83039504DC6}"/>
              </a:ext>
            </a:extLst>
          </p:cNvPr>
          <p:cNvSpPr>
            <a:spLocks/>
          </p:cNvSpPr>
          <p:nvPr/>
        </p:nvSpPr>
        <p:spPr bwMode="auto">
          <a:xfrm>
            <a:off x="932003" y="1585555"/>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7" name="TextBox 11">
            <a:extLst>
              <a:ext uri="{FF2B5EF4-FFF2-40B4-BE49-F238E27FC236}">
                <a16:creationId xmlns:a16="http://schemas.microsoft.com/office/drawing/2014/main" id="{D7DC033C-73AF-4447-B2FC-E2B81FDE7459}"/>
              </a:ext>
            </a:extLst>
          </p:cNvPr>
          <p:cNvSpPr txBox="1"/>
          <p:nvPr/>
        </p:nvSpPr>
        <p:spPr>
          <a:xfrm>
            <a:off x="1297071" y="1691342"/>
            <a:ext cx="564578" cy="830997"/>
          </a:xfrm>
          <a:prstGeom prst="rect">
            <a:avLst/>
          </a:prstGeom>
          <a:noFill/>
        </p:spPr>
        <p:txBody>
          <a:bodyPr wrap="none" rtlCol="0">
            <a:spAutoFit/>
          </a:bodyPr>
          <a:lstStyle/>
          <a:p>
            <a:r>
              <a:rPr lang="en-US" altLang="zh-CN" sz="4800" b="1" dirty="0">
                <a:solidFill>
                  <a:schemeClr val="bg2"/>
                </a:solidFill>
                <a:latin typeface="+mj-ea"/>
                <a:ea typeface="+mj-ea"/>
              </a:rPr>
              <a:t>1</a:t>
            </a:r>
            <a:endParaRPr lang="zh-CN" altLang="en-US" sz="4800" b="1" dirty="0">
              <a:solidFill>
                <a:schemeClr val="bg2"/>
              </a:solidFill>
              <a:latin typeface="+mj-ea"/>
              <a:ea typeface="+mj-ea"/>
            </a:endParaRPr>
          </a:p>
        </p:txBody>
      </p:sp>
      <p:sp>
        <p:nvSpPr>
          <p:cNvPr id="9" name="TextBox 13">
            <a:extLst>
              <a:ext uri="{FF2B5EF4-FFF2-40B4-BE49-F238E27FC236}">
                <a16:creationId xmlns:a16="http://schemas.microsoft.com/office/drawing/2014/main" id="{9A4001C9-AC75-4E75-910F-D24BBB8AA0D7}"/>
              </a:ext>
            </a:extLst>
          </p:cNvPr>
          <p:cNvSpPr txBox="1"/>
          <p:nvPr/>
        </p:nvSpPr>
        <p:spPr>
          <a:xfrm>
            <a:off x="2243078" y="1233349"/>
            <a:ext cx="8576597" cy="2035622"/>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a:lnSpc>
                <a:spcPts val="3100"/>
              </a:lnSpc>
              <a:defRPr/>
            </a:pP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lt"/>
              </a:rPr>
              <a:t>高山村助学服务中心调研</a:t>
            </a:r>
            <a:endParaRPr lang="en-US" altLang="zh-CN" sz="2400" b="1" dirty="0">
              <a:solidFill>
                <a:srgbClr val="C00000"/>
              </a:solidFill>
              <a:latin typeface="字体视界-NEW魏碑体" panose="02010601030101010101" pitchFamily="2" charset="-122"/>
              <a:ea typeface="字体视界-NEW魏碑体" panose="02010601030101010101" pitchFamily="2" charset="-122"/>
              <a:sym typeface="+mn-lt"/>
            </a:endParaRPr>
          </a:p>
          <a:p>
            <a:pPr marL="285750" indent="-285750">
              <a:lnSpc>
                <a:spcPts val="3100"/>
              </a:lnSpc>
              <a:buFont typeface="Arial" panose="020B0604020202020204" pitchFamily="34" charset="0"/>
              <a:buChar char="•"/>
              <a:defRPr/>
            </a:pPr>
            <a:r>
              <a:rPr lang="zh-CN" altLang="en-US" dirty="0">
                <a:solidFill>
                  <a:schemeClr val="tx1"/>
                </a:solidFill>
                <a:latin typeface="微软雅黑" panose="020B0503020204020204" pitchFamily="34" charset="-122"/>
                <a:ea typeface="微软雅黑" panose="020B0503020204020204" pitchFamily="34" charset="-122"/>
                <a:cs typeface="+mn-ea"/>
                <a:sym typeface="+mn-lt"/>
              </a:rPr>
              <a:t>系统梳理了玉林市的全学段教育资助系统，形成了“学前免学费、义务教育补生活、高等教育助贷款”的全程资助模式。</a:t>
            </a:r>
          </a:p>
          <a:p>
            <a:pPr marL="285750" indent="-285750">
              <a:lnSpc>
                <a:spcPts val="3100"/>
              </a:lnSpc>
              <a:buFont typeface="Arial" panose="020B0604020202020204" pitchFamily="34" charset="0"/>
              <a:buChar char="•"/>
              <a:defRPr/>
            </a:pPr>
            <a:r>
              <a:rPr lang="zh-CN" altLang="en-US" dirty="0">
                <a:solidFill>
                  <a:schemeClr val="tx1"/>
                </a:solidFill>
                <a:latin typeface="微软雅黑" panose="020B0503020204020204" pitchFamily="34" charset="-122"/>
                <a:ea typeface="微软雅黑" panose="020B0503020204020204" pitchFamily="34" charset="-122"/>
                <a:cs typeface="+mn-ea"/>
                <a:sym typeface="+mn-lt"/>
              </a:rPr>
              <a:t>村书记认为同济政策能为村里学生提供更有力的升学支持，进一步坚定他们“通过知识改变命运”的信心。</a:t>
            </a:r>
          </a:p>
        </p:txBody>
      </p:sp>
      <p:sp>
        <p:nvSpPr>
          <p:cNvPr id="10" name="Freeform 14">
            <a:extLst>
              <a:ext uri="{FF2B5EF4-FFF2-40B4-BE49-F238E27FC236}">
                <a16:creationId xmlns:a16="http://schemas.microsoft.com/office/drawing/2014/main" id="{B3FA1353-47AD-4D13-8980-7AD1A67731DE}"/>
              </a:ext>
            </a:extLst>
          </p:cNvPr>
          <p:cNvSpPr>
            <a:spLocks/>
          </p:cNvSpPr>
          <p:nvPr/>
        </p:nvSpPr>
        <p:spPr bwMode="auto">
          <a:xfrm>
            <a:off x="900999" y="4115214"/>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11" name="TextBox 15">
            <a:extLst>
              <a:ext uri="{FF2B5EF4-FFF2-40B4-BE49-F238E27FC236}">
                <a16:creationId xmlns:a16="http://schemas.microsoft.com/office/drawing/2014/main" id="{8E3E94B5-A458-477F-A10D-5C79BFB45BF8}"/>
              </a:ext>
            </a:extLst>
          </p:cNvPr>
          <p:cNvSpPr txBox="1"/>
          <p:nvPr/>
        </p:nvSpPr>
        <p:spPr>
          <a:xfrm>
            <a:off x="1244042" y="4239677"/>
            <a:ext cx="533909" cy="830997"/>
          </a:xfrm>
          <a:prstGeom prst="rect">
            <a:avLst/>
          </a:prstGeom>
          <a:noFill/>
        </p:spPr>
        <p:txBody>
          <a:bodyPr wrap="square" rtlCol="0">
            <a:spAutoFit/>
          </a:bodyPr>
          <a:lstStyle/>
          <a:p>
            <a:r>
              <a:rPr lang="en-US" altLang="zh-CN" sz="4800" b="1" dirty="0">
                <a:solidFill>
                  <a:schemeClr val="bg2"/>
                </a:solidFill>
                <a:latin typeface="+mj-ea"/>
                <a:ea typeface="+mj-ea"/>
              </a:rPr>
              <a:t>2</a:t>
            </a:r>
            <a:endParaRPr lang="zh-CN" altLang="en-US" sz="4800" b="1" dirty="0">
              <a:solidFill>
                <a:schemeClr val="bg2"/>
              </a:solidFill>
              <a:latin typeface="+mj-ea"/>
              <a:ea typeface="+mj-ea"/>
            </a:endParaRPr>
          </a:p>
        </p:txBody>
      </p:sp>
      <p:sp>
        <p:nvSpPr>
          <p:cNvPr id="12" name="TextBox 17">
            <a:extLst>
              <a:ext uri="{FF2B5EF4-FFF2-40B4-BE49-F238E27FC236}">
                <a16:creationId xmlns:a16="http://schemas.microsoft.com/office/drawing/2014/main" id="{1F58D913-F8CD-47BF-B415-A911485EBD3F}"/>
              </a:ext>
            </a:extLst>
          </p:cNvPr>
          <p:cNvSpPr txBox="1"/>
          <p:nvPr/>
        </p:nvSpPr>
        <p:spPr>
          <a:xfrm>
            <a:off x="2243078" y="3677165"/>
            <a:ext cx="8626428" cy="2259401"/>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algn="just">
              <a:lnSpc>
                <a:spcPct val="150000"/>
              </a:lnSpc>
            </a:pPr>
            <a:r>
              <a:rPr lang="zh-CN" altLang="en-US" sz="2400" b="1" dirty="0">
                <a:solidFill>
                  <a:srgbClr val="C00000"/>
                </a:solidFill>
                <a:latin typeface="字体视界-NEW魏碑体" panose="02010601030101010101" pitchFamily="2" charset="-122"/>
                <a:ea typeface="字体视界-NEW魏碑体" panose="02010601030101010101" pitchFamily="2" charset="-122"/>
              </a:rPr>
              <a:t>玉林高中宣讲资助政策</a:t>
            </a:r>
            <a:endParaRPr lang="en-US" altLang="zh-CN" sz="2400" b="1" dirty="0">
              <a:solidFill>
                <a:srgbClr val="C00000"/>
              </a:solidFill>
              <a:latin typeface="字体视界-NEW魏碑体" panose="02010601030101010101" pitchFamily="2" charset="-122"/>
              <a:ea typeface="字体视界-NEW魏碑体" panose="02010601030101010101" pitchFamily="2" charset="-122"/>
            </a:endParaRPr>
          </a:p>
          <a:p>
            <a:pPr marL="285750" indent="-285750" algn="just">
              <a:lnSpc>
                <a:spcPct val="150000"/>
              </a:lnSpc>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cs typeface="+mn-ea"/>
              </a:rPr>
              <a:t>学生们的经济焦虑被打消，提问积极性显著提升，多名同学主动表达对同济大学的向往。</a:t>
            </a:r>
          </a:p>
          <a:p>
            <a:pPr marL="285750" indent="-285750" algn="just">
              <a:lnSpc>
                <a:spcPct val="150000"/>
              </a:lnSpc>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cs typeface="+mn-ea"/>
              </a:rPr>
              <a:t>与十余名表现出强烈报考意向且家庭经济条件需关注的学生互留联系方式，建立初步沟通渠道。</a:t>
            </a:r>
          </a:p>
        </p:txBody>
      </p:sp>
    </p:spTree>
    <p:extLst>
      <p:ext uri="{BB962C8B-B14F-4D97-AF65-F5344CB8AC3E}">
        <p14:creationId xmlns:p14="http://schemas.microsoft.com/office/powerpoint/2010/main" val="34900212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2650"/>
                                </p:stCondLst>
                                <p:childTnLst>
                                  <p:par>
                                    <p:cTn id="38" presetID="2" presetClass="entr" presetSubtype="12" fill="hold" grpId="0" nodeType="afterEffect" p14:presetBounceEnd="20000">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14:bounceEnd="20000">
                                          <p:cBhvr additive="base">
                                            <p:cTn id="40" dur="500" fill="hold"/>
                                            <p:tgtEl>
                                              <p:spTgt spid="6"/>
                                            </p:tgtEl>
                                            <p:attrNameLst>
                                              <p:attrName>ppt_x</p:attrName>
                                            </p:attrNameLst>
                                          </p:cBhvr>
                                          <p:tavLst>
                                            <p:tav tm="0">
                                              <p:val>
                                                <p:strVal val="0-#ppt_w/2"/>
                                              </p:val>
                                            </p:tav>
                                            <p:tav tm="100000">
                                              <p:val>
                                                <p:strVal val="#ppt_x"/>
                                              </p:val>
                                            </p:tav>
                                          </p:tavLst>
                                        </p:anim>
                                        <p:anim calcmode="lin" valueType="num" p14:bounceEnd="20000">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315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3650"/>
                                </p:stCondLst>
                                <p:childTnLst>
                                  <p:par>
                                    <p:cTn id="50" presetID="22" presetClass="entr" presetSubtype="1"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childTnLst>
                              </p:cTn>
                            </p:par>
                            <p:par>
                              <p:cTn id="53" fill="hold">
                                <p:stCondLst>
                                  <p:cond delay="4150"/>
                                </p:stCondLst>
                                <p:childTnLst>
                                  <p:par>
                                    <p:cTn id="54" presetID="2" presetClass="entr" presetSubtype="12" fill="hold" grpId="0" nodeType="afterEffect" p14:presetBounceEnd="20000">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14:bounceEnd="20000">
                                          <p:cBhvr additive="base">
                                            <p:cTn id="56" dur="500" fill="hold"/>
                                            <p:tgtEl>
                                              <p:spTgt spid="10"/>
                                            </p:tgtEl>
                                            <p:attrNameLst>
                                              <p:attrName>ppt_x</p:attrName>
                                            </p:attrNameLst>
                                          </p:cBhvr>
                                          <p:tavLst>
                                            <p:tav tm="0">
                                              <p:val>
                                                <p:strVal val="0-#ppt_w/2"/>
                                              </p:val>
                                            </p:tav>
                                            <p:tav tm="100000">
                                              <p:val>
                                                <p:strVal val="#ppt_x"/>
                                              </p:val>
                                            </p:tav>
                                          </p:tavLst>
                                        </p:anim>
                                        <p:anim calcmode="lin" valueType="num" p14:bounceEnd="20000">
                                          <p:cBhvr additive="base">
                                            <p:cTn id="57" dur="500" fill="hold"/>
                                            <p:tgtEl>
                                              <p:spTgt spid="10"/>
                                            </p:tgtEl>
                                            <p:attrNameLst>
                                              <p:attrName>ppt_y</p:attrName>
                                            </p:attrNameLst>
                                          </p:cBhvr>
                                          <p:tavLst>
                                            <p:tav tm="0">
                                              <p:val>
                                                <p:strVal val="1+#ppt_h/2"/>
                                              </p:val>
                                            </p:tav>
                                            <p:tav tm="100000">
                                              <p:val>
                                                <p:strVal val="#ppt_y"/>
                                              </p:val>
                                            </p:tav>
                                          </p:tavLst>
                                        </p:anim>
                                      </p:childTnLst>
                                    </p:cTn>
                                  </p:par>
                                </p:childTnLst>
                              </p:cTn>
                            </p:par>
                            <p:par>
                              <p:cTn id="58" fill="hold">
                                <p:stCondLst>
                                  <p:cond delay="4650"/>
                                </p:stCondLst>
                                <p:childTnLst>
                                  <p:par>
                                    <p:cTn id="59" presetID="31" presetClass="entr" presetSubtype="0" fill="hold" grpId="0" nodeType="after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500" fill="hold"/>
                                            <p:tgtEl>
                                              <p:spTgt spid="11"/>
                                            </p:tgtEl>
                                            <p:attrNameLst>
                                              <p:attrName>ppt_w</p:attrName>
                                            </p:attrNameLst>
                                          </p:cBhvr>
                                          <p:tavLst>
                                            <p:tav tm="0">
                                              <p:val>
                                                <p:fltVal val="0"/>
                                              </p:val>
                                            </p:tav>
                                            <p:tav tm="100000">
                                              <p:val>
                                                <p:strVal val="#ppt_w"/>
                                              </p:val>
                                            </p:tav>
                                          </p:tavLst>
                                        </p:anim>
                                        <p:anim calcmode="lin" valueType="num">
                                          <p:cBhvr>
                                            <p:cTn id="62" dur="500" fill="hold"/>
                                            <p:tgtEl>
                                              <p:spTgt spid="11"/>
                                            </p:tgtEl>
                                            <p:attrNameLst>
                                              <p:attrName>ppt_h</p:attrName>
                                            </p:attrNameLst>
                                          </p:cBhvr>
                                          <p:tavLst>
                                            <p:tav tm="0">
                                              <p:val>
                                                <p:fltVal val="0"/>
                                              </p:val>
                                            </p:tav>
                                            <p:tav tm="100000">
                                              <p:val>
                                                <p:strVal val="#ppt_h"/>
                                              </p:val>
                                            </p:tav>
                                          </p:tavLst>
                                        </p:anim>
                                        <p:anim calcmode="lin" valueType="num">
                                          <p:cBhvr>
                                            <p:cTn id="63" dur="500" fill="hold"/>
                                            <p:tgtEl>
                                              <p:spTgt spid="11"/>
                                            </p:tgtEl>
                                            <p:attrNameLst>
                                              <p:attrName>style.rotation</p:attrName>
                                            </p:attrNameLst>
                                          </p:cBhvr>
                                          <p:tavLst>
                                            <p:tav tm="0">
                                              <p:val>
                                                <p:fltVal val="90"/>
                                              </p:val>
                                            </p:tav>
                                            <p:tav tm="100000">
                                              <p:val>
                                                <p:fltVal val="0"/>
                                              </p:val>
                                            </p:tav>
                                          </p:tavLst>
                                        </p:anim>
                                        <p:animEffect transition="in" filter="fade">
                                          <p:cBhvr>
                                            <p:cTn id="64" dur="500"/>
                                            <p:tgtEl>
                                              <p:spTgt spid="11"/>
                                            </p:tgtEl>
                                          </p:cBhvr>
                                        </p:animEffect>
                                      </p:childTnLst>
                                    </p:cTn>
                                  </p:par>
                                </p:childTnLst>
                              </p:cTn>
                            </p:par>
                            <p:par>
                              <p:cTn id="65" fill="hold">
                                <p:stCondLst>
                                  <p:cond delay="5150"/>
                                </p:stCondLst>
                                <p:childTnLst>
                                  <p:par>
                                    <p:cTn id="66" presetID="22" presetClass="entr" presetSubtype="1"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up)">
                                          <p:cBhvr>
                                            <p:cTn id="6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animBg="1"/>
          <p:bldP spid="7" grpId="0"/>
          <p:bldP spid="9" grpId="0"/>
          <p:bldP spid="10" grpId="0" animBg="1"/>
          <p:bldP spid="11" grpId="0"/>
          <p:bldP spid="1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2650"/>
                                </p:stCondLst>
                                <p:childTnLst>
                                  <p:par>
                                    <p:cTn id="38" presetID="2" presetClass="entr" presetSubtype="12"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0-#ppt_w/2"/>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315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3650"/>
                                </p:stCondLst>
                                <p:childTnLst>
                                  <p:par>
                                    <p:cTn id="50" presetID="22" presetClass="entr" presetSubtype="1"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childTnLst>
                              </p:cTn>
                            </p:par>
                            <p:par>
                              <p:cTn id="53" fill="hold">
                                <p:stCondLst>
                                  <p:cond delay="4150"/>
                                </p:stCondLst>
                                <p:childTnLst>
                                  <p:par>
                                    <p:cTn id="54" presetID="2" presetClass="entr" presetSubtype="12"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0-#ppt_w/2"/>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childTnLst>
                              </p:cTn>
                            </p:par>
                            <p:par>
                              <p:cTn id="58" fill="hold">
                                <p:stCondLst>
                                  <p:cond delay="4650"/>
                                </p:stCondLst>
                                <p:childTnLst>
                                  <p:par>
                                    <p:cTn id="59" presetID="31" presetClass="entr" presetSubtype="0" fill="hold" grpId="0" nodeType="after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p:cTn id="61" dur="500" fill="hold"/>
                                            <p:tgtEl>
                                              <p:spTgt spid="11"/>
                                            </p:tgtEl>
                                            <p:attrNameLst>
                                              <p:attrName>ppt_w</p:attrName>
                                            </p:attrNameLst>
                                          </p:cBhvr>
                                          <p:tavLst>
                                            <p:tav tm="0">
                                              <p:val>
                                                <p:fltVal val="0"/>
                                              </p:val>
                                            </p:tav>
                                            <p:tav tm="100000">
                                              <p:val>
                                                <p:strVal val="#ppt_w"/>
                                              </p:val>
                                            </p:tav>
                                          </p:tavLst>
                                        </p:anim>
                                        <p:anim calcmode="lin" valueType="num">
                                          <p:cBhvr>
                                            <p:cTn id="62" dur="500" fill="hold"/>
                                            <p:tgtEl>
                                              <p:spTgt spid="11"/>
                                            </p:tgtEl>
                                            <p:attrNameLst>
                                              <p:attrName>ppt_h</p:attrName>
                                            </p:attrNameLst>
                                          </p:cBhvr>
                                          <p:tavLst>
                                            <p:tav tm="0">
                                              <p:val>
                                                <p:fltVal val="0"/>
                                              </p:val>
                                            </p:tav>
                                            <p:tav tm="100000">
                                              <p:val>
                                                <p:strVal val="#ppt_h"/>
                                              </p:val>
                                            </p:tav>
                                          </p:tavLst>
                                        </p:anim>
                                        <p:anim calcmode="lin" valueType="num">
                                          <p:cBhvr>
                                            <p:cTn id="63" dur="500" fill="hold"/>
                                            <p:tgtEl>
                                              <p:spTgt spid="11"/>
                                            </p:tgtEl>
                                            <p:attrNameLst>
                                              <p:attrName>style.rotation</p:attrName>
                                            </p:attrNameLst>
                                          </p:cBhvr>
                                          <p:tavLst>
                                            <p:tav tm="0">
                                              <p:val>
                                                <p:fltVal val="90"/>
                                              </p:val>
                                            </p:tav>
                                            <p:tav tm="100000">
                                              <p:val>
                                                <p:fltVal val="0"/>
                                              </p:val>
                                            </p:tav>
                                          </p:tavLst>
                                        </p:anim>
                                        <p:animEffect transition="in" filter="fade">
                                          <p:cBhvr>
                                            <p:cTn id="64" dur="500"/>
                                            <p:tgtEl>
                                              <p:spTgt spid="11"/>
                                            </p:tgtEl>
                                          </p:cBhvr>
                                        </p:animEffect>
                                      </p:childTnLst>
                                    </p:cTn>
                                  </p:par>
                                </p:childTnLst>
                              </p:cTn>
                            </p:par>
                            <p:par>
                              <p:cTn id="65" fill="hold">
                                <p:stCondLst>
                                  <p:cond delay="5150"/>
                                </p:stCondLst>
                                <p:childTnLst>
                                  <p:par>
                                    <p:cTn id="66" presetID="22" presetClass="entr" presetSubtype="1"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up)">
                                          <p:cBhvr>
                                            <p:cTn id="6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animBg="1"/>
          <p:bldP spid="7" grpId="0"/>
          <p:bldP spid="9" grpId="0"/>
          <p:bldP spid="10" grpId="0" animBg="1"/>
          <p:bldP spid="11" grpId="0"/>
          <p:bldP spid="12"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771FD978-2621-4807-83CC-685DEDEE02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23" y="246423"/>
            <a:ext cx="4103077" cy="675011"/>
          </a:xfrm>
          <a:prstGeom prst="rect">
            <a:avLst/>
          </a:prstGeom>
        </p:spPr>
      </p:pic>
      <p:cxnSp>
        <p:nvCxnSpPr>
          <p:cNvPr id="26" name="直接连接符 25">
            <a:extLst>
              <a:ext uri="{FF2B5EF4-FFF2-40B4-BE49-F238E27FC236}">
                <a16:creationId xmlns:a16="http://schemas.microsoft.com/office/drawing/2014/main" id="{6415F6BC-04CE-4D1B-B8E3-0D7504003CE2}"/>
              </a:ext>
            </a:extLst>
          </p:cNvPr>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C7DD015-1349-4B82-A0B2-23D323DC2CAB}"/>
              </a:ext>
            </a:extLst>
          </p:cNvPr>
          <p:cNvSpPr/>
          <p:nvPr/>
        </p:nvSpPr>
        <p:spPr>
          <a:xfrm>
            <a:off x="1060286" y="353095"/>
            <a:ext cx="7204657"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项目成果</a:t>
            </a:r>
          </a:p>
        </p:txBody>
      </p:sp>
      <p:sp>
        <p:nvSpPr>
          <p:cNvPr id="28" name="Freeform 29">
            <a:extLst>
              <a:ext uri="{FF2B5EF4-FFF2-40B4-BE49-F238E27FC236}">
                <a16:creationId xmlns:a16="http://schemas.microsoft.com/office/drawing/2014/main" id="{51F08409-D181-4905-9237-9A55B4512A5B}"/>
              </a:ext>
            </a:extLst>
          </p:cNvPr>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Freeform 14">
            <a:extLst>
              <a:ext uri="{FF2B5EF4-FFF2-40B4-BE49-F238E27FC236}">
                <a16:creationId xmlns:a16="http://schemas.microsoft.com/office/drawing/2014/main" id="{5829627E-98F0-4EB8-907C-A83039504DC6}"/>
              </a:ext>
            </a:extLst>
          </p:cNvPr>
          <p:cNvSpPr>
            <a:spLocks/>
          </p:cNvSpPr>
          <p:nvPr/>
        </p:nvSpPr>
        <p:spPr bwMode="auto">
          <a:xfrm>
            <a:off x="943323" y="1579823"/>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7" name="TextBox 11">
            <a:extLst>
              <a:ext uri="{FF2B5EF4-FFF2-40B4-BE49-F238E27FC236}">
                <a16:creationId xmlns:a16="http://schemas.microsoft.com/office/drawing/2014/main" id="{D7DC033C-73AF-4447-B2FC-E2B81FDE7459}"/>
              </a:ext>
            </a:extLst>
          </p:cNvPr>
          <p:cNvSpPr txBox="1"/>
          <p:nvPr/>
        </p:nvSpPr>
        <p:spPr>
          <a:xfrm>
            <a:off x="1302096" y="1742941"/>
            <a:ext cx="497252" cy="830997"/>
          </a:xfrm>
          <a:prstGeom prst="rect">
            <a:avLst/>
          </a:prstGeom>
          <a:noFill/>
        </p:spPr>
        <p:txBody>
          <a:bodyPr wrap="none" rtlCol="0">
            <a:spAutoFit/>
          </a:bodyPr>
          <a:lstStyle/>
          <a:p>
            <a:r>
              <a:rPr lang="en-US" altLang="zh-CN" sz="4800" b="1" dirty="0">
                <a:solidFill>
                  <a:schemeClr val="bg2"/>
                </a:solidFill>
                <a:latin typeface="+mj-ea"/>
                <a:ea typeface="+mj-ea"/>
              </a:rPr>
              <a:t>3</a:t>
            </a:r>
            <a:endParaRPr lang="zh-CN" altLang="en-US" sz="4800" b="1" dirty="0">
              <a:solidFill>
                <a:schemeClr val="bg2"/>
              </a:solidFill>
              <a:latin typeface="+mj-ea"/>
              <a:ea typeface="+mj-ea"/>
            </a:endParaRPr>
          </a:p>
        </p:txBody>
      </p:sp>
      <p:sp>
        <p:nvSpPr>
          <p:cNvPr id="8" name="TextBox 12">
            <a:extLst>
              <a:ext uri="{FF2B5EF4-FFF2-40B4-BE49-F238E27FC236}">
                <a16:creationId xmlns:a16="http://schemas.microsoft.com/office/drawing/2014/main" id="{015F6F17-7786-49E7-88E9-8D0DEB02E1F7}"/>
              </a:ext>
            </a:extLst>
          </p:cNvPr>
          <p:cNvSpPr txBox="1"/>
          <p:nvPr/>
        </p:nvSpPr>
        <p:spPr>
          <a:xfrm>
            <a:off x="2218274" y="1258938"/>
            <a:ext cx="7130066" cy="461665"/>
          </a:xfrm>
          <a:prstGeom prst="rect">
            <a:avLst/>
          </a:prstGeom>
          <a:noFill/>
        </p:spPr>
        <p:txBody>
          <a:bodyPr wrap="square" rtlCol="0">
            <a:spAutoFit/>
          </a:bodyPr>
          <a:lstStyle/>
          <a:p>
            <a:r>
              <a:rPr lang="zh-CN" altLang="en-US" sz="2400" b="1" dirty="0">
                <a:solidFill>
                  <a:srgbClr val="C00000"/>
                </a:solidFill>
                <a:latin typeface="字体视界-NEW魏碑体" panose="02010601030101010101" pitchFamily="2" charset="-122"/>
                <a:ea typeface="字体视界-NEW魏碑体" panose="02010601030101010101" pitchFamily="2" charset="-122"/>
              </a:rPr>
              <a:t>红色街区调研</a:t>
            </a:r>
            <a:endParaRPr lang="en-US" altLang="zh-CN" sz="2400" b="1" dirty="0">
              <a:solidFill>
                <a:srgbClr val="C00000"/>
              </a:solidFill>
              <a:latin typeface="+mn-ea"/>
            </a:endParaRPr>
          </a:p>
        </p:txBody>
      </p:sp>
      <p:sp>
        <p:nvSpPr>
          <p:cNvPr id="9" name="TextBox 13">
            <a:extLst>
              <a:ext uri="{FF2B5EF4-FFF2-40B4-BE49-F238E27FC236}">
                <a16:creationId xmlns:a16="http://schemas.microsoft.com/office/drawing/2014/main" id="{9A4001C9-AC75-4E75-910F-D24BBB8AA0D7}"/>
              </a:ext>
            </a:extLst>
          </p:cNvPr>
          <p:cNvSpPr txBox="1"/>
          <p:nvPr/>
        </p:nvSpPr>
        <p:spPr>
          <a:xfrm>
            <a:off x="2158121" y="1660388"/>
            <a:ext cx="8576597" cy="1240532"/>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marL="285750" indent="-285750">
              <a:lnSpc>
                <a:spcPts val="3100"/>
              </a:lnSpc>
              <a:buFont typeface="Arial" panose="020B0604020202020204" pitchFamily="34" charset="0"/>
              <a:buChar char="•"/>
              <a:defRPr/>
            </a:pPr>
            <a:r>
              <a:rPr lang="zh-CN" altLang="en-US" dirty="0">
                <a:solidFill>
                  <a:schemeClr val="tx1"/>
                </a:solidFill>
                <a:latin typeface="微软雅黑" panose="020B0503020204020204" pitchFamily="34" charset="-122"/>
                <a:ea typeface="微软雅黑" panose="020B0503020204020204" pitchFamily="34" charset="-122"/>
                <a:cs typeface="+mn-ea"/>
              </a:rPr>
              <a:t>形成多维度的认知升华，深刻体悟到革命先辈在危机四伏中坚守信仰的钢铁意志。</a:t>
            </a:r>
          </a:p>
          <a:p>
            <a:pPr marL="285750" indent="-285750">
              <a:lnSpc>
                <a:spcPts val="3100"/>
              </a:lnSpc>
              <a:buFont typeface="Arial" panose="020B0604020202020204" pitchFamily="34" charset="0"/>
              <a:buChar char="•"/>
              <a:defRPr/>
            </a:pPr>
            <a:r>
              <a:rPr lang="zh-CN" altLang="en-US" dirty="0">
                <a:solidFill>
                  <a:schemeClr val="tx1"/>
                </a:solidFill>
                <a:latin typeface="微软雅黑" panose="020B0503020204020204" pitchFamily="34" charset="-122"/>
                <a:ea typeface="微软雅黑" panose="020B0503020204020204" pitchFamily="34" charset="-122"/>
                <a:cs typeface="+mn-ea"/>
              </a:rPr>
              <a:t>认识到抗日战争的伟大胜利不仅是军事层面的胜利，更是民族精神的涅槃重生。</a:t>
            </a:r>
          </a:p>
          <a:p>
            <a:pPr marL="285750" indent="-285750">
              <a:lnSpc>
                <a:spcPts val="3100"/>
              </a:lnSpc>
              <a:buFont typeface="Arial" panose="020B0604020202020204" pitchFamily="34" charset="0"/>
              <a:buChar char="•"/>
              <a:defRPr/>
            </a:pPr>
            <a:r>
              <a:rPr lang="zh-CN" altLang="en-US" dirty="0">
                <a:solidFill>
                  <a:schemeClr val="tx1"/>
                </a:solidFill>
                <a:latin typeface="微软雅黑" panose="020B0503020204020204" pitchFamily="34" charset="-122"/>
                <a:ea typeface="微软雅黑" panose="020B0503020204020204" pitchFamily="34" charset="-122"/>
                <a:cs typeface="+mn-ea"/>
              </a:rPr>
              <a:t>新时代青年应当将红色基因融入血脉，做革命历史的守护者和时代使命的践行者。</a:t>
            </a:r>
          </a:p>
        </p:txBody>
      </p:sp>
      <p:sp>
        <p:nvSpPr>
          <p:cNvPr id="10" name="Freeform 14">
            <a:extLst>
              <a:ext uri="{FF2B5EF4-FFF2-40B4-BE49-F238E27FC236}">
                <a16:creationId xmlns:a16="http://schemas.microsoft.com/office/drawing/2014/main" id="{B3FA1353-47AD-4D13-8980-7AD1A67731DE}"/>
              </a:ext>
            </a:extLst>
          </p:cNvPr>
          <p:cNvSpPr>
            <a:spLocks/>
          </p:cNvSpPr>
          <p:nvPr/>
        </p:nvSpPr>
        <p:spPr bwMode="auto">
          <a:xfrm>
            <a:off x="893588" y="3542330"/>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11" name="TextBox 15">
            <a:extLst>
              <a:ext uri="{FF2B5EF4-FFF2-40B4-BE49-F238E27FC236}">
                <a16:creationId xmlns:a16="http://schemas.microsoft.com/office/drawing/2014/main" id="{8E3E94B5-A458-477F-A10D-5C79BFB45BF8}"/>
              </a:ext>
            </a:extLst>
          </p:cNvPr>
          <p:cNvSpPr txBox="1"/>
          <p:nvPr/>
        </p:nvSpPr>
        <p:spPr>
          <a:xfrm>
            <a:off x="1255362" y="3610909"/>
            <a:ext cx="533909" cy="830997"/>
          </a:xfrm>
          <a:prstGeom prst="rect">
            <a:avLst/>
          </a:prstGeom>
          <a:noFill/>
        </p:spPr>
        <p:txBody>
          <a:bodyPr wrap="square" rtlCol="0">
            <a:spAutoFit/>
          </a:bodyPr>
          <a:lstStyle/>
          <a:p>
            <a:r>
              <a:rPr lang="en-US" altLang="zh-CN" sz="4800" b="1" dirty="0">
                <a:solidFill>
                  <a:schemeClr val="bg2"/>
                </a:solidFill>
                <a:latin typeface="+mj-ea"/>
                <a:ea typeface="+mj-ea"/>
              </a:rPr>
              <a:t>4</a:t>
            </a:r>
            <a:endParaRPr lang="zh-CN" altLang="en-US" sz="4800" b="1" dirty="0">
              <a:solidFill>
                <a:schemeClr val="bg2"/>
              </a:solidFill>
              <a:latin typeface="+mj-ea"/>
              <a:ea typeface="+mj-ea"/>
            </a:endParaRPr>
          </a:p>
        </p:txBody>
      </p:sp>
      <p:sp>
        <p:nvSpPr>
          <p:cNvPr id="12" name="TextBox 17">
            <a:extLst>
              <a:ext uri="{FF2B5EF4-FFF2-40B4-BE49-F238E27FC236}">
                <a16:creationId xmlns:a16="http://schemas.microsoft.com/office/drawing/2014/main" id="{1F58D913-F8CD-47BF-B415-A911485EBD3F}"/>
              </a:ext>
            </a:extLst>
          </p:cNvPr>
          <p:cNvSpPr txBox="1"/>
          <p:nvPr/>
        </p:nvSpPr>
        <p:spPr>
          <a:xfrm>
            <a:off x="2158121" y="3108040"/>
            <a:ext cx="8626428" cy="1012906"/>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algn="just">
              <a:lnSpc>
                <a:spcPct val="150000"/>
              </a:lnSpc>
            </a:pPr>
            <a:r>
              <a:rPr lang="zh-CN" altLang="en-US" sz="2400" b="1" dirty="0">
                <a:solidFill>
                  <a:srgbClr val="C00000"/>
                </a:solidFill>
                <a:latin typeface="字体视界-NEW魏碑体" panose="02010601030101010101" pitchFamily="2" charset="-122"/>
                <a:ea typeface="字体视界-NEW魏碑体" panose="02010601030101010101" pitchFamily="2" charset="-122"/>
              </a:rPr>
              <a:t>​创作主题作品</a:t>
            </a:r>
            <a:endParaRPr lang="en-US" altLang="zh-CN" dirty="0">
              <a:solidFill>
                <a:schemeClr val="tx1"/>
              </a:solidFill>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cs typeface="+mn-ea"/>
                <a:sym typeface="+mn-lt"/>
              </a:rPr>
              <a:t>通过摄影照片、报告和海报等形式</a:t>
            </a:r>
            <a:r>
              <a:rPr lang="zh-CN" altLang="en-US" dirty="0">
                <a:solidFill>
                  <a:schemeClr val="tx1"/>
                </a:solidFill>
                <a:latin typeface="微软雅黑" panose="020B0503020204020204" pitchFamily="34" charset="-122"/>
                <a:ea typeface="微软雅黑" panose="020B0503020204020204" pitchFamily="34" charset="-122"/>
                <a:cs typeface="+mn-ea"/>
              </a:rPr>
              <a:t>创作主题作品，呈现调研成果。</a:t>
            </a:r>
            <a:endParaRPr lang="en-US" altLang="zh-CN" dirty="0">
              <a:solidFill>
                <a:schemeClr val="tx1"/>
              </a:solidFill>
              <a:latin typeface="微软雅黑" panose="020B0503020204020204" pitchFamily="34" charset="-122"/>
              <a:ea typeface="微软雅黑" panose="020B0503020204020204" pitchFamily="34" charset="-122"/>
              <a:cs typeface="+mn-ea"/>
            </a:endParaRPr>
          </a:p>
        </p:txBody>
      </p:sp>
      <p:pic>
        <p:nvPicPr>
          <p:cNvPr id="3" name="图片 2">
            <a:extLst>
              <a:ext uri="{FF2B5EF4-FFF2-40B4-BE49-F238E27FC236}">
                <a16:creationId xmlns:a16="http://schemas.microsoft.com/office/drawing/2014/main" id="{F665BFD4-9808-A929-18B2-7A9D5246E1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8274" y="4120946"/>
            <a:ext cx="2914040" cy="2536111"/>
          </a:xfrm>
          <a:prstGeom prst="rect">
            <a:avLst/>
          </a:prstGeom>
        </p:spPr>
      </p:pic>
      <p:pic>
        <p:nvPicPr>
          <p:cNvPr id="5" name="图片 4">
            <a:extLst>
              <a:ext uri="{FF2B5EF4-FFF2-40B4-BE49-F238E27FC236}">
                <a16:creationId xmlns:a16="http://schemas.microsoft.com/office/drawing/2014/main" id="{E1E4B926-5E87-D49D-1544-E487A8A8CA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92467" y="4120946"/>
            <a:ext cx="6868640" cy="2536111"/>
          </a:xfrm>
          <a:prstGeom prst="rect">
            <a:avLst/>
          </a:prstGeom>
        </p:spPr>
      </p:pic>
    </p:spTree>
    <p:extLst>
      <p:ext uri="{BB962C8B-B14F-4D97-AF65-F5344CB8AC3E}">
        <p14:creationId xmlns:p14="http://schemas.microsoft.com/office/powerpoint/2010/main" val="3192325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2650"/>
                                </p:stCondLst>
                                <p:childTnLst>
                                  <p:par>
                                    <p:cTn id="38" presetID="2" presetClass="entr" presetSubtype="12" fill="hold" grpId="0" nodeType="afterEffect" p14:presetBounceEnd="20000">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14:bounceEnd="20000">
                                          <p:cBhvr additive="base">
                                            <p:cTn id="40" dur="500" fill="hold"/>
                                            <p:tgtEl>
                                              <p:spTgt spid="6"/>
                                            </p:tgtEl>
                                            <p:attrNameLst>
                                              <p:attrName>ppt_x</p:attrName>
                                            </p:attrNameLst>
                                          </p:cBhvr>
                                          <p:tavLst>
                                            <p:tav tm="0">
                                              <p:val>
                                                <p:strVal val="0-#ppt_w/2"/>
                                              </p:val>
                                            </p:tav>
                                            <p:tav tm="100000">
                                              <p:val>
                                                <p:strVal val="#ppt_x"/>
                                              </p:val>
                                            </p:tav>
                                          </p:tavLst>
                                        </p:anim>
                                        <p:anim calcmode="lin" valueType="num" p14:bounceEnd="20000">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315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3650"/>
                                </p:stCondLst>
                                <p:childTnLst>
                                  <p:par>
                                    <p:cTn id="50" presetID="31"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 calcmode="lin" valueType="num">
                                          <p:cBhvr>
                                            <p:cTn id="54" dur="500" fill="hold"/>
                                            <p:tgtEl>
                                              <p:spTgt spid="8"/>
                                            </p:tgtEl>
                                            <p:attrNameLst>
                                              <p:attrName>style.rotation</p:attrName>
                                            </p:attrNameLst>
                                          </p:cBhvr>
                                          <p:tavLst>
                                            <p:tav tm="0">
                                              <p:val>
                                                <p:fltVal val="90"/>
                                              </p:val>
                                            </p:tav>
                                            <p:tav tm="100000">
                                              <p:val>
                                                <p:fltVal val="0"/>
                                              </p:val>
                                            </p:tav>
                                          </p:tavLst>
                                        </p:anim>
                                        <p:animEffect transition="in" filter="fade">
                                          <p:cBhvr>
                                            <p:cTn id="55" dur="500"/>
                                            <p:tgtEl>
                                              <p:spTgt spid="8"/>
                                            </p:tgtEl>
                                          </p:cBhvr>
                                        </p:animEffect>
                                      </p:childTnLst>
                                    </p:cTn>
                                  </p:par>
                                </p:childTnLst>
                              </p:cTn>
                            </p:par>
                            <p:par>
                              <p:cTn id="56" fill="hold">
                                <p:stCondLst>
                                  <p:cond delay="4150"/>
                                </p:stCondLst>
                                <p:childTnLst>
                                  <p:par>
                                    <p:cTn id="57" presetID="22" presetClass="entr" presetSubtype="1"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up)">
                                          <p:cBhvr>
                                            <p:cTn id="59" dur="500"/>
                                            <p:tgtEl>
                                              <p:spTgt spid="9"/>
                                            </p:tgtEl>
                                          </p:cBhvr>
                                        </p:animEffect>
                                      </p:childTnLst>
                                    </p:cTn>
                                  </p:par>
                                </p:childTnLst>
                              </p:cTn>
                            </p:par>
                            <p:par>
                              <p:cTn id="60" fill="hold">
                                <p:stCondLst>
                                  <p:cond delay="4650"/>
                                </p:stCondLst>
                                <p:childTnLst>
                                  <p:par>
                                    <p:cTn id="61" presetID="2" presetClass="entr" presetSubtype="12" fill="hold" grpId="0" nodeType="afterEffect" p14:presetBounceEnd="20000">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14:bounceEnd="20000">
                                          <p:cBhvr additive="base">
                                            <p:cTn id="63" dur="500" fill="hold"/>
                                            <p:tgtEl>
                                              <p:spTgt spid="10"/>
                                            </p:tgtEl>
                                            <p:attrNameLst>
                                              <p:attrName>ppt_x</p:attrName>
                                            </p:attrNameLst>
                                          </p:cBhvr>
                                          <p:tavLst>
                                            <p:tav tm="0">
                                              <p:val>
                                                <p:strVal val="0-#ppt_w/2"/>
                                              </p:val>
                                            </p:tav>
                                            <p:tav tm="100000">
                                              <p:val>
                                                <p:strVal val="#ppt_x"/>
                                              </p:val>
                                            </p:tav>
                                          </p:tavLst>
                                        </p:anim>
                                        <p:anim calcmode="lin" valueType="num" p14:bounceEnd="20000">
                                          <p:cBhvr additive="base">
                                            <p:cTn id="64" dur="500" fill="hold"/>
                                            <p:tgtEl>
                                              <p:spTgt spid="10"/>
                                            </p:tgtEl>
                                            <p:attrNameLst>
                                              <p:attrName>ppt_y</p:attrName>
                                            </p:attrNameLst>
                                          </p:cBhvr>
                                          <p:tavLst>
                                            <p:tav tm="0">
                                              <p:val>
                                                <p:strVal val="1+#ppt_h/2"/>
                                              </p:val>
                                            </p:tav>
                                            <p:tav tm="100000">
                                              <p:val>
                                                <p:strVal val="#ppt_y"/>
                                              </p:val>
                                            </p:tav>
                                          </p:tavLst>
                                        </p:anim>
                                      </p:childTnLst>
                                    </p:cTn>
                                  </p:par>
                                </p:childTnLst>
                              </p:cTn>
                            </p:par>
                            <p:par>
                              <p:cTn id="65" fill="hold">
                                <p:stCondLst>
                                  <p:cond delay="5150"/>
                                </p:stCondLst>
                                <p:childTnLst>
                                  <p:par>
                                    <p:cTn id="66" presetID="31" presetClass="entr" presetSubtype="0"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p:cTn id="68" dur="500" fill="hold"/>
                                            <p:tgtEl>
                                              <p:spTgt spid="11"/>
                                            </p:tgtEl>
                                            <p:attrNameLst>
                                              <p:attrName>ppt_w</p:attrName>
                                            </p:attrNameLst>
                                          </p:cBhvr>
                                          <p:tavLst>
                                            <p:tav tm="0">
                                              <p:val>
                                                <p:fltVal val="0"/>
                                              </p:val>
                                            </p:tav>
                                            <p:tav tm="100000">
                                              <p:val>
                                                <p:strVal val="#ppt_w"/>
                                              </p:val>
                                            </p:tav>
                                          </p:tavLst>
                                        </p:anim>
                                        <p:anim calcmode="lin" valueType="num">
                                          <p:cBhvr>
                                            <p:cTn id="69" dur="500" fill="hold"/>
                                            <p:tgtEl>
                                              <p:spTgt spid="11"/>
                                            </p:tgtEl>
                                            <p:attrNameLst>
                                              <p:attrName>ppt_h</p:attrName>
                                            </p:attrNameLst>
                                          </p:cBhvr>
                                          <p:tavLst>
                                            <p:tav tm="0">
                                              <p:val>
                                                <p:fltVal val="0"/>
                                              </p:val>
                                            </p:tav>
                                            <p:tav tm="100000">
                                              <p:val>
                                                <p:strVal val="#ppt_h"/>
                                              </p:val>
                                            </p:tav>
                                          </p:tavLst>
                                        </p:anim>
                                        <p:anim calcmode="lin" valueType="num">
                                          <p:cBhvr>
                                            <p:cTn id="70" dur="500" fill="hold"/>
                                            <p:tgtEl>
                                              <p:spTgt spid="11"/>
                                            </p:tgtEl>
                                            <p:attrNameLst>
                                              <p:attrName>style.rotation</p:attrName>
                                            </p:attrNameLst>
                                          </p:cBhvr>
                                          <p:tavLst>
                                            <p:tav tm="0">
                                              <p:val>
                                                <p:fltVal val="90"/>
                                              </p:val>
                                            </p:tav>
                                            <p:tav tm="100000">
                                              <p:val>
                                                <p:fltVal val="0"/>
                                              </p:val>
                                            </p:tav>
                                          </p:tavLst>
                                        </p:anim>
                                        <p:animEffect transition="in" filter="fade">
                                          <p:cBhvr>
                                            <p:cTn id="71" dur="500"/>
                                            <p:tgtEl>
                                              <p:spTgt spid="11"/>
                                            </p:tgtEl>
                                          </p:cBhvr>
                                        </p:animEffect>
                                      </p:childTnLst>
                                    </p:cTn>
                                  </p:par>
                                </p:childTnLst>
                              </p:cTn>
                            </p:par>
                            <p:par>
                              <p:cTn id="72" fill="hold">
                                <p:stCondLst>
                                  <p:cond delay="565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animBg="1"/>
          <p:bldP spid="7" grpId="0"/>
          <p:bldP spid="8" grpId="0"/>
          <p:bldP spid="9" grpId="0"/>
          <p:bldP spid="10" grpId="0" animBg="1"/>
          <p:bldP spid="11" grpId="0"/>
          <p:bldP spid="1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2650"/>
                                </p:stCondLst>
                                <p:childTnLst>
                                  <p:par>
                                    <p:cTn id="38" presetID="2" presetClass="entr" presetSubtype="12"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0-#ppt_w/2"/>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315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3650"/>
                                </p:stCondLst>
                                <p:childTnLst>
                                  <p:par>
                                    <p:cTn id="50" presetID="31"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 calcmode="lin" valueType="num">
                                          <p:cBhvr>
                                            <p:cTn id="54" dur="500" fill="hold"/>
                                            <p:tgtEl>
                                              <p:spTgt spid="8"/>
                                            </p:tgtEl>
                                            <p:attrNameLst>
                                              <p:attrName>style.rotation</p:attrName>
                                            </p:attrNameLst>
                                          </p:cBhvr>
                                          <p:tavLst>
                                            <p:tav tm="0">
                                              <p:val>
                                                <p:fltVal val="90"/>
                                              </p:val>
                                            </p:tav>
                                            <p:tav tm="100000">
                                              <p:val>
                                                <p:fltVal val="0"/>
                                              </p:val>
                                            </p:tav>
                                          </p:tavLst>
                                        </p:anim>
                                        <p:animEffect transition="in" filter="fade">
                                          <p:cBhvr>
                                            <p:cTn id="55" dur="500"/>
                                            <p:tgtEl>
                                              <p:spTgt spid="8"/>
                                            </p:tgtEl>
                                          </p:cBhvr>
                                        </p:animEffect>
                                      </p:childTnLst>
                                    </p:cTn>
                                  </p:par>
                                </p:childTnLst>
                              </p:cTn>
                            </p:par>
                            <p:par>
                              <p:cTn id="56" fill="hold">
                                <p:stCondLst>
                                  <p:cond delay="4150"/>
                                </p:stCondLst>
                                <p:childTnLst>
                                  <p:par>
                                    <p:cTn id="57" presetID="22" presetClass="entr" presetSubtype="1"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up)">
                                          <p:cBhvr>
                                            <p:cTn id="59" dur="500"/>
                                            <p:tgtEl>
                                              <p:spTgt spid="9"/>
                                            </p:tgtEl>
                                          </p:cBhvr>
                                        </p:animEffect>
                                      </p:childTnLst>
                                    </p:cTn>
                                  </p:par>
                                </p:childTnLst>
                              </p:cTn>
                            </p:par>
                            <p:par>
                              <p:cTn id="60" fill="hold">
                                <p:stCondLst>
                                  <p:cond delay="4650"/>
                                </p:stCondLst>
                                <p:childTnLst>
                                  <p:par>
                                    <p:cTn id="61" presetID="2" presetClass="entr" presetSubtype="12" fill="hold" grpId="0" nodeType="after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additive="base">
                                            <p:cTn id="63" dur="500" fill="hold"/>
                                            <p:tgtEl>
                                              <p:spTgt spid="10"/>
                                            </p:tgtEl>
                                            <p:attrNameLst>
                                              <p:attrName>ppt_x</p:attrName>
                                            </p:attrNameLst>
                                          </p:cBhvr>
                                          <p:tavLst>
                                            <p:tav tm="0">
                                              <p:val>
                                                <p:strVal val="0-#ppt_w/2"/>
                                              </p:val>
                                            </p:tav>
                                            <p:tav tm="100000">
                                              <p:val>
                                                <p:strVal val="#ppt_x"/>
                                              </p:val>
                                            </p:tav>
                                          </p:tavLst>
                                        </p:anim>
                                        <p:anim calcmode="lin" valueType="num">
                                          <p:cBhvr additive="base">
                                            <p:cTn id="64" dur="500" fill="hold"/>
                                            <p:tgtEl>
                                              <p:spTgt spid="10"/>
                                            </p:tgtEl>
                                            <p:attrNameLst>
                                              <p:attrName>ppt_y</p:attrName>
                                            </p:attrNameLst>
                                          </p:cBhvr>
                                          <p:tavLst>
                                            <p:tav tm="0">
                                              <p:val>
                                                <p:strVal val="1+#ppt_h/2"/>
                                              </p:val>
                                            </p:tav>
                                            <p:tav tm="100000">
                                              <p:val>
                                                <p:strVal val="#ppt_y"/>
                                              </p:val>
                                            </p:tav>
                                          </p:tavLst>
                                        </p:anim>
                                      </p:childTnLst>
                                    </p:cTn>
                                  </p:par>
                                </p:childTnLst>
                              </p:cTn>
                            </p:par>
                            <p:par>
                              <p:cTn id="65" fill="hold">
                                <p:stCondLst>
                                  <p:cond delay="5150"/>
                                </p:stCondLst>
                                <p:childTnLst>
                                  <p:par>
                                    <p:cTn id="66" presetID="31" presetClass="entr" presetSubtype="0"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p:cTn id="68" dur="500" fill="hold"/>
                                            <p:tgtEl>
                                              <p:spTgt spid="11"/>
                                            </p:tgtEl>
                                            <p:attrNameLst>
                                              <p:attrName>ppt_w</p:attrName>
                                            </p:attrNameLst>
                                          </p:cBhvr>
                                          <p:tavLst>
                                            <p:tav tm="0">
                                              <p:val>
                                                <p:fltVal val="0"/>
                                              </p:val>
                                            </p:tav>
                                            <p:tav tm="100000">
                                              <p:val>
                                                <p:strVal val="#ppt_w"/>
                                              </p:val>
                                            </p:tav>
                                          </p:tavLst>
                                        </p:anim>
                                        <p:anim calcmode="lin" valueType="num">
                                          <p:cBhvr>
                                            <p:cTn id="69" dur="500" fill="hold"/>
                                            <p:tgtEl>
                                              <p:spTgt spid="11"/>
                                            </p:tgtEl>
                                            <p:attrNameLst>
                                              <p:attrName>ppt_h</p:attrName>
                                            </p:attrNameLst>
                                          </p:cBhvr>
                                          <p:tavLst>
                                            <p:tav tm="0">
                                              <p:val>
                                                <p:fltVal val="0"/>
                                              </p:val>
                                            </p:tav>
                                            <p:tav tm="100000">
                                              <p:val>
                                                <p:strVal val="#ppt_h"/>
                                              </p:val>
                                            </p:tav>
                                          </p:tavLst>
                                        </p:anim>
                                        <p:anim calcmode="lin" valueType="num">
                                          <p:cBhvr>
                                            <p:cTn id="70" dur="500" fill="hold"/>
                                            <p:tgtEl>
                                              <p:spTgt spid="11"/>
                                            </p:tgtEl>
                                            <p:attrNameLst>
                                              <p:attrName>style.rotation</p:attrName>
                                            </p:attrNameLst>
                                          </p:cBhvr>
                                          <p:tavLst>
                                            <p:tav tm="0">
                                              <p:val>
                                                <p:fltVal val="90"/>
                                              </p:val>
                                            </p:tav>
                                            <p:tav tm="100000">
                                              <p:val>
                                                <p:fltVal val="0"/>
                                              </p:val>
                                            </p:tav>
                                          </p:tavLst>
                                        </p:anim>
                                        <p:animEffect transition="in" filter="fade">
                                          <p:cBhvr>
                                            <p:cTn id="71" dur="500"/>
                                            <p:tgtEl>
                                              <p:spTgt spid="11"/>
                                            </p:tgtEl>
                                          </p:cBhvr>
                                        </p:animEffect>
                                      </p:childTnLst>
                                    </p:cTn>
                                  </p:par>
                                </p:childTnLst>
                              </p:cTn>
                            </p:par>
                            <p:par>
                              <p:cTn id="72" fill="hold">
                                <p:stCondLst>
                                  <p:cond delay="565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animBg="1"/>
          <p:bldP spid="7" grpId="0"/>
          <p:bldP spid="8" grpId="0"/>
          <p:bldP spid="9" grpId="0"/>
          <p:bldP spid="10" grpId="0" animBg="1"/>
          <p:bldP spid="11" grpId="0"/>
          <p:bldP spid="12"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0240FDE9-0338-4CFB-9B2E-E980FA179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578" y="5737759"/>
            <a:ext cx="6809422" cy="1120241"/>
          </a:xfrm>
          <a:prstGeom prst="rect">
            <a:avLst/>
          </a:prstGeom>
        </p:spPr>
      </p:pic>
      <p:pic>
        <p:nvPicPr>
          <p:cNvPr id="19" name="图片 18">
            <a:extLst>
              <a:ext uri="{FF2B5EF4-FFF2-40B4-BE49-F238E27FC236}">
                <a16:creationId xmlns:a16="http://schemas.microsoft.com/office/drawing/2014/main" id="{8CB86D49-4053-4C25-B704-887DC5D13F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pic>
        <p:nvPicPr>
          <p:cNvPr id="74" name="图片 73">
            <a:extLst>
              <a:ext uri="{FF2B5EF4-FFF2-40B4-BE49-F238E27FC236}">
                <a16:creationId xmlns:a16="http://schemas.microsoft.com/office/drawing/2014/main" id="{549D4624-B2C3-4BC0-AAAC-52569AE1E3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902340" flipH="1">
            <a:off x="686735" y="622930"/>
            <a:ext cx="3143832" cy="1309931"/>
          </a:xfrm>
          <a:prstGeom prst="rect">
            <a:avLst/>
          </a:prstGeom>
        </p:spPr>
      </p:pic>
      <p:sp>
        <p:nvSpPr>
          <p:cNvPr id="75" name="文本框 74">
            <a:extLst>
              <a:ext uri="{FF2B5EF4-FFF2-40B4-BE49-F238E27FC236}">
                <a16:creationId xmlns:a16="http://schemas.microsoft.com/office/drawing/2014/main" id="{1E3CFE36-6B7C-4163-BED3-9543E266EBB4}"/>
              </a:ext>
            </a:extLst>
          </p:cNvPr>
          <p:cNvSpPr txBox="1"/>
          <p:nvPr/>
        </p:nvSpPr>
        <p:spPr>
          <a:xfrm>
            <a:off x="4460240" y="2467132"/>
            <a:ext cx="3217547" cy="1015663"/>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第三部分</a:t>
            </a:r>
          </a:p>
        </p:txBody>
      </p:sp>
      <p:sp>
        <p:nvSpPr>
          <p:cNvPr id="77" name="Freeform 29">
            <a:extLst>
              <a:ext uri="{FF2B5EF4-FFF2-40B4-BE49-F238E27FC236}">
                <a16:creationId xmlns:a16="http://schemas.microsoft.com/office/drawing/2014/main" id="{57D80A25-7EA0-4AEB-AF89-2F448458E159}"/>
              </a:ext>
            </a:extLst>
          </p:cNvPr>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a:extLst>
              <a:ext uri="{FF2B5EF4-FFF2-40B4-BE49-F238E27FC236}">
                <a16:creationId xmlns:a16="http://schemas.microsoft.com/office/drawing/2014/main" id="{E1697D39-805B-491A-9EB4-A3AB8B13CED0}"/>
              </a:ext>
            </a:extLst>
          </p:cNvPr>
          <p:cNvSpPr txBox="1"/>
          <p:nvPr/>
        </p:nvSpPr>
        <p:spPr>
          <a:xfrm>
            <a:off x="3853779" y="3393756"/>
            <a:ext cx="4493538" cy="830997"/>
          </a:xfrm>
          <a:prstGeom prst="rect">
            <a:avLst/>
          </a:prstGeom>
          <a:noFill/>
        </p:spPr>
        <p:txBody>
          <a:bodyPr wrap="none" rtlCol="0">
            <a:spAutoFit/>
          </a:bodyPr>
          <a:lstStyle/>
          <a:p>
            <a:pPr algn="ctr"/>
            <a:r>
              <a:rPr lang="zh-CN" altLang="en-US" sz="4800" b="1" dirty="0">
                <a:solidFill>
                  <a:srgbClr val="C00000"/>
                </a:solidFill>
                <a:latin typeface="字体视界-NEW魏碑体" panose="02010601030101010101" pitchFamily="2" charset="-122"/>
                <a:ea typeface="字体视界-NEW魏碑体" panose="02010601030101010101" pitchFamily="2" charset="-122"/>
              </a:rPr>
              <a:t>拓展方向与计划</a:t>
            </a:r>
          </a:p>
        </p:txBody>
      </p:sp>
    </p:spTree>
    <p:extLst>
      <p:ext uri="{BB962C8B-B14F-4D97-AF65-F5344CB8AC3E}">
        <p14:creationId xmlns:p14="http://schemas.microsoft.com/office/powerpoint/2010/main" val="734416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3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animBg="1"/>
      <p:bldP spid="78" grpId="0"/>
      <p:bldP spid="78" grpId="1"/>
      <p:bldP spid="78" grpId="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771FD978-2621-4807-83CC-685DEDEE02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23" y="246423"/>
            <a:ext cx="4103077" cy="675011"/>
          </a:xfrm>
          <a:prstGeom prst="rect">
            <a:avLst/>
          </a:prstGeom>
        </p:spPr>
      </p:pic>
      <p:cxnSp>
        <p:nvCxnSpPr>
          <p:cNvPr id="26" name="直接连接符 25">
            <a:extLst>
              <a:ext uri="{FF2B5EF4-FFF2-40B4-BE49-F238E27FC236}">
                <a16:creationId xmlns:a16="http://schemas.microsoft.com/office/drawing/2014/main" id="{6415F6BC-04CE-4D1B-B8E3-0D7504003CE2}"/>
              </a:ext>
            </a:extLst>
          </p:cNvPr>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4C7DD015-1349-4B82-A0B2-23D323DC2CAB}"/>
              </a:ext>
            </a:extLst>
          </p:cNvPr>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拓展方向与计划</a:t>
            </a:r>
          </a:p>
        </p:txBody>
      </p:sp>
      <p:sp>
        <p:nvSpPr>
          <p:cNvPr id="28" name="Freeform 29">
            <a:extLst>
              <a:ext uri="{FF2B5EF4-FFF2-40B4-BE49-F238E27FC236}">
                <a16:creationId xmlns:a16="http://schemas.microsoft.com/office/drawing/2014/main" id="{51F08409-D181-4905-9237-9A55B4512A5B}"/>
              </a:ext>
            </a:extLst>
          </p:cNvPr>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grpSp>
        <p:nvGrpSpPr>
          <p:cNvPr id="16" name="组合 15">
            <a:extLst>
              <a:ext uri="{FF2B5EF4-FFF2-40B4-BE49-F238E27FC236}">
                <a16:creationId xmlns:a16="http://schemas.microsoft.com/office/drawing/2014/main" id="{6DA1CF0E-9DBD-2D20-DED8-2CDB9FAF6167}"/>
              </a:ext>
            </a:extLst>
          </p:cNvPr>
          <p:cNvGrpSpPr/>
          <p:nvPr/>
        </p:nvGrpSpPr>
        <p:grpSpPr>
          <a:xfrm>
            <a:off x="674376" y="2028439"/>
            <a:ext cx="9824639" cy="1330669"/>
            <a:chOff x="969663" y="1303526"/>
            <a:chExt cx="9824639" cy="1330669"/>
          </a:xfrm>
        </p:grpSpPr>
        <p:grpSp>
          <p:nvGrpSpPr>
            <p:cNvPr id="13" name="组合 12">
              <a:extLst>
                <a:ext uri="{FF2B5EF4-FFF2-40B4-BE49-F238E27FC236}">
                  <a16:creationId xmlns:a16="http://schemas.microsoft.com/office/drawing/2014/main" id="{072B95A8-BAA9-DE6F-58DD-E06A95376732}"/>
                </a:ext>
              </a:extLst>
            </p:cNvPr>
            <p:cNvGrpSpPr/>
            <p:nvPr/>
          </p:nvGrpSpPr>
          <p:grpSpPr>
            <a:xfrm>
              <a:off x="2387596" y="1303526"/>
              <a:ext cx="8406706" cy="1330669"/>
              <a:chOff x="2393652" y="1303528"/>
              <a:chExt cx="8406706" cy="1330669"/>
            </a:xfrm>
          </p:grpSpPr>
          <p:sp>
            <p:nvSpPr>
              <p:cNvPr id="6" name="矩形 5">
                <a:extLst>
                  <a:ext uri="{FF2B5EF4-FFF2-40B4-BE49-F238E27FC236}">
                    <a16:creationId xmlns:a16="http://schemas.microsoft.com/office/drawing/2014/main" id="{CCE2FDC3-91B9-4866-97DB-210CA6E779DA}"/>
                  </a:ext>
                </a:extLst>
              </p:cNvPr>
              <p:cNvSpPr/>
              <p:nvPr/>
            </p:nvSpPr>
            <p:spPr bwMode="auto">
              <a:xfrm>
                <a:off x="2393652" y="1303528"/>
                <a:ext cx="8406706" cy="1330669"/>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0" name="矩形 9">
                <a:extLst>
                  <a:ext uri="{FF2B5EF4-FFF2-40B4-BE49-F238E27FC236}">
                    <a16:creationId xmlns:a16="http://schemas.microsoft.com/office/drawing/2014/main" id="{900F8571-84E0-44DA-A6AD-25B9323B9FB4}"/>
                  </a:ext>
                </a:extLst>
              </p:cNvPr>
              <p:cNvSpPr/>
              <p:nvPr/>
            </p:nvSpPr>
            <p:spPr>
              <a:xfrm>
                <a:off x="2577958" y="1489771"/>
                <a:ext cx="7801390" cy="874407"/>
              </a:xfrm>
              <a:prstGeom prst="rect">
                <a:avLst/>
              </a:prstGeom>
              <a:noFill/>
            </p:spPr>
            <p:txBody>
              <a:bodyPr wrap="square" rtlCol="0">
                <a:spAutoFit/>
              </a:bodyPr>
              <a:lstStyle/>
              <a:p>
                <a:pP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mn-ea"/>
                    <a:sym typeface="+mn-lt"/>
                  </a:rPr>
                  <a:t>团队计划建立“一对一”长期跟踪机制，定期回访有意向报考同济的玉林学子，提供学业规划与心理支持。</a:t>
                </a: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15" name="组合 14">
              <a:extLst>
                <a:ext uri="{FF2B5EF4-FFF2-40B4-BE49-F238E27FC236}">
                  <a16:creationId xmlns:a16="http://schemas.microsoft.com/office/drawing/2014/main" id="{ED3899D7-FAC1-A97E-C4A7-56CA66A22EB6}"/>
                </a:ext>
              </a:extLst>
            </p:cNvPr>
            <p:cNvGrpSpPr/>
            <p:nvPr/>
          </p:nvGrpSpPr>
          <p:grpSpPr>
            <a:xfrm>
              <a:off x="969663" y="1434165"/>
              <a:ext cx="1157988" cy="1157232"/>
              <a:chOff x="969663" y="1434165"/>
              <a:chExt cx="1157988" cy="1157232"/>
            </a:xfrm>
          </p:grpSpPr>
          <p:sp>
            <p:nvSpPr>
              <p:cNvPr id="5" name="Freeform 14">
                <a:extLst>
                  <a:ext uri="{FF2B5EF4-FFF2-40B4-BE49-F238E27FC236}">
                    <a16:creationId xmlns:a16="http://schemas.microsoft.com/office/drawing/2014/main" id="{B500A676-0F4E-3E84-EEE7-8A26F795368C}"/>
                  </a:ext>
                </a:extLst>
              </p:cNvPr>
              <p:cNvSpPr>
                <a:spLocks/>
              </p:cNvSpPr>
              <p:nvPr/>
            </p:nvSpPr>
            <p:spPr bwMode="auto">
              <a:xfrm>
                <a:off x="969663" y="1434165"/>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12" name="TextBox 11">
                <a:extLst>
                  <a:ext uri="{FF2B5EF4-FFF2-40B4-BE49-F238E27FC236}">
                    <a16:creationId xmlns:a16="http://schemas.microsoft.com/office/drawing/2014/main" id="{01B9FC0D-0F6F-3DD9-0B3F-B697EBEBFABE}"/>
                  </a:ext>
                </a:extLst>
              </p:cNvPr>
              <p:cNvSpPr txBox="1"/>
              <p:nvPr/>
            </p:nvSpPr>
            <p:spPr>
              <a:xfrm>
                <a:off x="1309182" y="1553363"/>
                <a:ext cx="564578" cy="830997"/>
              </a:xfrm>
              <a:prstGeom prst="rect">
                <a:avLst/>
              </a:prstGeom>
              <a:noFill/>
            </p:spPr>
            <p:txBody>
              <a:bodyPr wrap="none" rtlCol="0">
                <a:spAutoFit/>
              </a:bodyPr>
              <a:lstStyle/>
              <a:p>
                <a:r>
                  <a:rPr lang="en-US" altLang="zh-CN" sz="4800" b="1" dirty="0">
                    <a:solidFill>
                      <a:schemeClr val="bg2"/>
                    </a:solidFill>
                    <a:latin typeface="+mj-ea"/>
                    <a:ea typeface="+mj-ea"/>
                  </a:rPr>
                  <a:t>1</a:t>
                </a:r>
                <a:endParaRPr lang="zh-CN" altLang="en-US" sz="4800" b="1" dirty="0">
                  <a:solidFill>
                    <a:schemeClr val="bg2"/>
                  </a:solidFill>
                  <a:latin typeface="+mj-ea"/>
                  <a:ea typeface="+mj-ea"/>
                </a:endParaRPr>
              </a:p>
            </p:txBody>
          </p:sp>
        </p:grpSp>
      </p:grpSp>
      <p:grpSp>
        <p:nvGrpSpPr>
          <p:cNvPr id="17" name="组合 16">
            <a:extLst>
              <a:ext uri="{FF2B5EF4-FFF2-40B4-BE49-F238E27FC236}">
                <a16:creationId xmlns:a16="http://schemas.microsoft.com/office/drawing/2014/main" id="{BE5FE713-2115-46AC-9082-477BEF9C8211}"/>
              </a:ext>
            </a:extLst>
          </p:cNvPr>
          <p:cNvGrpSpPr/>
          <p:nvPr/>
        </p:nvGrpSpPr>
        <p:grpSpPr>
          <a:xfrm>
            <a:off x="674376" y="4045160"/>
            <a:ext cx="9824638" cy="1719798"/>
            <a:chOff x="969663" y="1245610"/>
            <a:chExt cx="9870411" cy="1702327"/>
          </a:xfrm>
        </p:grpSpPr>
        <p:grpSp>
          <p:nvGrpSpPr>
            <p:cNvPr id="18" name="组合 17">
              <a:extLst>
                <a:ext uri="{FF2B5EF4-FFF2-40B4-BE49-F238E27FC236}">
                  <a16:creationId xmlns:a16="http://schemas.microsoft.com/office/drawing/2014/main" id="{00ADBF04-E583-B178-8375-CC2EBC6C792E}"/>
                </a:ext>
              </a:extLst>
            </p:cNvPr>
            <p:cNvGrpSpPr/>
            <p:nvPr/>
          </p:nvGrpSpPr>
          <p:grpSpPr>
            <a:xfrm>
              <a:off x="2387596" y="1245610"/>
              <a:ext cx="8452478" cy="1702327"/>
              <a:chOff x="2393652" y="1245612"/>
              <a:chExt cx="8452478" cy="1702327"/>
            </a:xfrm>
          </p:grpSpPr>
          <p:sp>
            <p:nvSpPr>
              <p:cNvPr id="22" name="矩形 21">
                <a:extLst>
                  <a:ext uri="{FF2B5EF4-FFF2-40B4-BE49-F238E27FC236}">
                    <a16:creationId xmlns:a16="http://schemas.microsoft.com/office/drawing/2014/main" id="{E13298FA-1389-2777-427B-EF7B7B16C091}"/>
                  </a:ext>
                </a:extLst>
              </p:cNvPr>
              <p:cNvSpPr/>
              <p:nvPr/>
            </p:nvSpPr>
            <p:spPr bwMode="auto">
              <a:xfrm>
                <a:off x="2393652" y="1245612"/>
                <a:ext cx="8452478" cy="1702327"/>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p:txBody>
          </p:sp>
          <p:sp>
            <p:nvSpPr>
              <p:cNvPr id="23" name="矩形 22">
                <a:extLst>
                  <a:ext uri="{FF2B5EF4-FFF2-40B4-BE49-F238E27FC236}">
                    <a16:creationId xmlns:a16="http://schemas.microsoft.com/office/drawing/2014/main" id="{03085949-896A-F38A-F242-53E77997EB46}"/>
                  </a:ext>
                </a:extLst>
              </p:cNvPr>
              <p:cNvSpPr/>
              <p:nvPr/>
            </p:nvSpPr>
            <p:spPr>
              <a:xfrm>
                <a:off x="2548943" y="1434167"/>
                <a:ext cx="7925411" cy="1292625"/>
              </a:xfrm>
              <a:prstGeom prst="rect">
                <a:avLst/>
              </a:prstGeom>
              <a:noFill/>
            </p:spPr>
            <p:txBody>
              <a:bodyPr wrap="square" rtlCol="0">
                <a:spAutoFit/>
              </a:bodyPr>
              <a:lstStyle/>
              <a:p>
                <a:pP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mn-ea"/>
                    <a:sym typeface="+mn-lt"/>
                  </a:rPr>
                  <a:t>针对高山村，考虑推动“高校</a:t>
                </a:r>
                <a:r>
                  <a:rPr lang="en-US" altLang="zh-CN" dirty="0">
                    <a:solidFill>
                      <a:srgbClr val="C00000"/>
                    </a:solidFill>
                    <a:latin typeface="微软雅黑" panose="020B0503020204020204" pitchFamily="34" charset="-122"/>
                    <a:ea typeface="微软雅黑" panose="020B0503020204020204" pitchFamily="34" charset="-122"/>
                    <a:cs typeface="+mn-ea"/>
                    <a:sym typeface="+mn-lt"/>
                  </a:rPr>
                  <a:t>-</a:t>
                </a:r>
                <a:r>
                  <a:rPr lang="zh-CN" altLang="en-US" dirty="0">
                    <a:solidFill>
                      <a:srgbClr val="C00000"/>
                    </a:solidFill>
                    <a:latin typeface="微软雅黑" panose="020B0503020204020204" pitchFamily="34" charset="-122"/>
                    <a:ea typeface="微软雅黑" panose="020B0503020204020204" pitchFamily="34" charset="-122"/>
                    <a:cs typeface="+mn-ea"/>
                    <a:sym typeface="+mn-lt"/>
                  </a:rPr>
                  <a:t>村委</a:t>
                </a:r>
                <a:r>
                  <a:rPr lang="en-US" altLang="zh-CN" dirty="0">
                    <a:solidFill>
                      <a:srgbClr val="C00000"/>
                    </a:solidFill>
                    <a:latin typeface="微软雅黑" panose="020B0503020204020204" pitchFamily="34" charset="-122"/>
                    <a:ea typeface="微软雅黑" panose="020B0503020204020204" pitchFamily="34" charset="-122"/>
                    <a:cs typeface="+mn-ea"/>
                    <a:sym typeface="+mn-lt"/>
                  </a:rPr>
                  <a:t>-</a:t>
                </a:r>
                <a:r>
                  <a:rPr lang="zh-CN" altLang="en-US" dirty="0">
                    <a:solidFill>
                      <a:srgbClr val="C00000"/>
                    </a:solidFill>
                    <a:latin typeface="微软雅黑" panose="020B0503020204020204" pitchFamily="34" charset="-122"/>
                    <a:ea typeface="微软雅黑" panose="020B0503020204020204" pitchFamily="34" charset="-122"/>
                    <a:cs typeface="+mn-ea"/>
                    <a:sym typeface="+mn-lt"/>
                  </a:rPr>
                  <a:t>学生”三方联动，如根据需要引入同济优质线上教育资源，合作开设“云课堂”拓宽学生视野，以及与考上同济的家乡学子合作开展支教活动，助力家乡教育事业发展。</a:t>
                </a: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19" name="组合 18">
              <a:extLst>
                <a:ext uri="{FF2B5EF4-FFF2-40B4-BE49-F238E27FC236}">
                  <a16:creationId xmlns:a16="http://schemas.microsoft.com/office/drawing/2014/main" id="{6E645D1D-C494-7708-13D3-4E08ACC48748}"/>
                </a:ext>
              </a:extLst>
            </p:cNvPr>
            <p:cNvGrpSpPr/>
            <p:nvPr/>
          </p:nvGrpSpPr>
          <p:grpSpPr>
            <a:xfrm>
              <a:off x="969663" y="1434165"/>
              <a:ext cx="1157988" cy="1157232"/>
              <a:chOff x="969663" y="1434165"/>
              <a:chExt cx="1157988" cy="1157232"/>
            </a:xfrm>
          </p:grpSpPr>
          <p:sp>
            <p:nvSpPr>
              <p:cNvPr id="20" name="Freeform 14">
                <a:extLst>
                  <a:ext uri="{FF2B5EF4-FFF2-40B4-BE49-F238E27FC236}">
                    <a16:creationId xmlns:a16="http://schemas.microsoft.com/office/drawing/2014/main" id="{3204F3FD-4754-D632-D93C-FAF2F3E1142D}"/>
                  </a:ext>
                </a:extLst>
              </p:cNvPr>
              <p:cNvSpPr>
                <a:spLocks/>
              </p:cNvSpPr>
              <p:nvPr/>
            </p:nvSpPr>
            <p:spPr bwMode="auto">
              <a:xfrm>
                <a:off x="969663" y="1434165"/>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dirty="0">
                  <a:solidFill>
                    <a:schemeClr val="bg2"/>
                  </a:solidFill>
                </a:endParaRPr>
              </a:p>
            </p:txBody>
          </p:sp>
          <p:sp>
            <p:nvSpPr>
              <p:cNvPr id="21" name="TextBox 11">
                <a:extLst>
                  <a:ext uri="{FF2B5EF4-FFF2-40B4-BE49-F238E27FC236}">
                    <a16:creationId xmlns:a16="http://schemas.microsoft.com/office/drawing/2014/main" id="{B2B46358-AEDD-BBD1-7EAE-EDBEB9FFB176}"/>
                  </a:ext>
                </a:extLst>
              </p:cNvPr>
              <p:cNvSpPr txBox="1"/>
              <p:nvPr/>
            </p:nvSpPr>
            <p:spPr>
              <a:xfrm>
                <a:off x="1309182" y="1553363"/>
                <a:ext cx="497252" cy="830997"/>
              </a:xfrm>
              <a:prstGeom prst="rect">
                <a:avLst/>
              </a:prstGeom>
              <a:noFill/>
            </p:spPr>
            <p:txBody>
              <a:bodyPr wrap="none" rtlCol="0">
                <a:spAutoFit/>
              </a:bodyPr>
              <a:lstStyle/>
              <a:p>
                <a:r>
                  <a:rPr lang="en-US" altLang="zh-CN" sz="4800" b="1" dirty="0">
                    <a:solidFill>
                      <a:schemeClr val="bg2"/>
                    </a:solidFill>
                    <a:latin typeface="+mj-ea"/>
                    <a:ea typeface="+mj-ea"/>
                  </a:rPr>
                  <a:t>2</a:t>
                </a:r>
                <a:endParaRPr lang="zh-CN" altLang="en-US" sz="4800" b="1" dirty="0">
                  <a:solidFill>
                    <a:schemeClr val="bg2"/>
                  </a:solidFill>
                  <a:latin typeface="+mj-ea"/>
                  <a:ea typeface="+mj-ea"/>
                </a:endParaRPr>
              </a:p>
            </p:txBody>
          </p:sp>
        </p:grpSp>
      </p:grpSp>
    </p:spTree>
    <p:extLst>
      <p:ext uri="{BB962C8B-B14F-4D97-AF65-F5344CB8AC3E}">
        <p14:creationId xmlns:p14="http://schemas.microsoft.com/office/powerpoint/2010/main" val="7277956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CC73-4C95-37DA-83C9-21FDAA61B2E1}"/>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A0B6329B-B246-228B-536F-A19C778B36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23" y="246423"/>
            <a:ext cx="4103077" cy="675011"/>
          </a:xfrm>
          <a:prstGeom prst="rect">
            <a:avLst/>
          </a:prstGeom>
        </p:spPr>
      </p:pic>
      <p:cxnSp>
        <p:nvCxnSpPr>
          <p:cNvPr id="26" name="直接连接符 25">
            <a:extLst>
              <a:ext uri="{FF2B5EF4-FFF2-40B4-BE49-F238E27FC236}">
                <a16:creationId xmlns:a16="http://schemas.microsoft.com/office/drawing/2014/main" id="{111785B3-D766-39A7-0474-87AC4BD4E9F5}"/>
              </a:ext>
            </a:extLst>
          </p:cNvPr>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8E263792-CCB2-7302-8018-65B1F9816F50}"/>
              </a:ext>
            </a:extLst>
          </p:cNvPr>
          <p:cNvSpPr/>
          <p:nvPr/>
        </p:nvSpPr>
        <p:spPr>
          <a:xfrm>
            <a:off x="1060287" y="353095"/>
            <a:ext cx="5262188" cy="46166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rPr>
              <a:t>拓展方向与计划</a:t>
            </a:r>
          </a:p>
        </p:txBody>
      </p:sp>
      <p:sp>
        <p:nvSpPr>
          <p:cNvPr id="28" name="Freeform 29">
            <a:extLst>
              <a:ext uri="{FF2B5EF4-FFF2-40B4-BE49-F238E27FC236}">
                <a16:creationId xmlns:a16="http://schemas.microsoft.com/office/drawing/2014/main" id="{E17751D9-C3CE-4667-4F21-EF53FFF594E2}"/>
              </a:ext>
            </a:extLst>
          </p:cNvPr>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grpSp>
        <p:nvGrpSpPr>
          <p:cNvPr id="16" name="组合 15">
            <a:extLst>
              <a:ext uri="{FF2B5EF4-FFF2-40B4-BE49-F238E27FC236}">
                <a16:creationId xmlns:a16="http://schemas.microsoft.com/office/drawing/2014/main" id="{20CCC0A6-F52B-32A5-606F-E6ABA956010B}"/>
              </a:ext>
            </a:extLst>
          </p:cNvPr>
          <p:cNvGrpSpPr/>
          <p:nvPr/>
        </p:nvGrpSpPr>
        <p:grpSpPr>
          <a:xfrm>
            <a:off x="648268" y="3391658"/>
            <a:ext cx="9824639" cy="1205098"/>
            <a:chOff x="969663" y="1386299"/>
            <a:chExt cx="9824639" cy="1205098"/>
          </a:xfrm>
        </p:grpSpPr>
        <p:grpSp>
          <p:nvGrpSpPr>
            <p:cNvPr id="13" name="组合 12">
              <a:extLst>
                <a:ext uri="{FF2B5EF4-FFF2-40B4-BE49-F238E27FC236}">
                  <a16:creationId xmlns:a16="http://schemas.microsoft.com/office/drawing/2014/main" id="{C4119564-5861-3C19-11D4-718EA7FAF674}"/>
                </a:ext>
              </a:extLst>
            </p:cNvPr>
            <p:cNvGrpSpPr/>
            <p:nvPr/>
          </p:nvGrpSpPr>
          <p:grpSpPr>
            <a:xfrm>
              <a:off x="2387596" y="1386299"/>
              <a:ext cx="8406706" cy="1205098"/>
              <a:chOff x="2393652" y="1386301"/>
              <a:chExt cx="8406706" cy="1205098"/>
            </a:xfrm>
          </p:grpSpPr>
          <p:sp>
            <p:nvSpPr>
              <p:cNvPr id="6" name="矩形 5">
                <a:extLst>
                  <a:ext uri="{FF2B5EF4-FFF2-40B4-BE49-F238E27FC236}">
                    <a16:creationId xmlns:a16="http://schemas.microsoft.com/office/drawing/2014/main" id="{F9E815B3-0B4F-1CA7-86BD-CD2A7F16E0C1}"/>
                  </a:ext>
                </a:extLst>
              </p:cNvPr>
              <p:cNvSpPr/>
              <p:nvPr/>
            </p:nvSpPr>
            <p:spPr bwMode="auto">
              <a:xfrm>
                <a:off x="2393652" y="1386301"/>
                <a:ext cx="8406706" cy="1205098"/>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p:txBody>
          </p:sp>
          <p:sp>
            <p:nvSpPr>
              <p:cNvPr id="10" name="矩形 9">
                <a:extLst>
                  <a:ext uri="{FF2B5EF4-FFF2-40B4-BE49-F238E27FC236}">
                    <a16:creationId xmlns:a16="http://schemas.microsoft.com/office/drawing/2014/main" id="{1152F42B-874F-58C6-177A-20EA789D2158}"/>
                  </a:ext>
                </a:extLst>
              </p:cNvPr>
              <p:cNvSpPr/>
              <p:nvPr/>
            </p:nvSpPr>
            <p:spPr>
              <a:xfrm>
                <a:off x="2577958" y="1489771"/>
                <a:ext cx="7801390" cy="874407"/>
              </a:xfrm>
              <a:prstGeom prst="rect">
                <a:avLst/>
              </a:prstGeom>
              <a:noFill/>
            </p:spPr>
            <p:txBody>
              <a:bodyPr wrap="square" rtlCol="0">
                <a:spAutoFit/>
              </a:bodyPr>
              <a:lstStyle/>
              <a:p>
                <a:pP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mn-ea"/>
                    <a:sym typeface="+mn-lt"/>
                  </a:rPr>
                  <a:t>拓展红色研学线路，联合本地学校开发可视化纪念馆导览与互动式主题教育课程，推动助学帮扶与精神传承的双向深化。</a:t>
                </a: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15" name="组合 14">
              <a:extLst>
                <a:ext uri="{FF2B5EF4-FFF2-40B4-BE49-F238E27FC236}">
                  <a16:creationId xmlns:a16="http://schemas.microsoft.com/office/drawing/2014/main" id="{D761BF8F-9A40-B4D6-6450-FABD75AE1B73}"/>
                </a:ext>
              </a:extLst>
            </p:cNvPr>
            <p:cNvGrpSpPr/>
            <p:nvPr/>
          </p:nvGrpSpPr>
          <p:grpSpPr>
            <a:xfrm>
              <a:off x="969663" y="1434165"/>
              <a:ext cx="1157988" cy="1157232"/>
              <a:chOff x="969663" y="1434165"/>
              <a:chExt cx="1157988" cy="1157232"/>
            </a:xfrm>
          </p:grpSpPr>
          <p:sp>
            <p:nvSpPr>
              <p:cNvPr id="5" name="Freeform 14">
                <a:extLst>
                  <a:ext uri="{FF2B5EF4-FFF2-40B4-BE49-F238E27FC236}">
                    <a16:creationId xmlns:a16="http://schemas.microsoft.com/office/drawing/2014/main" id="{6178454D-05B6-B8B6-B93D-B470F5C8DB69}"/>
                  </a:ext>
                </a:extLst>
              </p:cNvPr>
              <p:cNvSpPr>
                <a:spLocks/>
              </p:cNvSpPr>
              <p:nvPr/>
            </p:nvSpPr>
            <p:spPr bwMode="auto">
              <a:xfrm>
                <a:off x="969663" y="1434165"/>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12" name="TextBox 11">
                <a:extLst>
                  <a:ext uri="{FF2B5EF4-FFF2-40B4-BE49-F238E27FC236}">
                    <a16:creationId xmlns:a16="http://schemas.microsoft.com/office/drawing/2014/main" id="{33672FDF-8718-A31E-3EB3-B8D7E5438FE8}"/>
                  </a:ext>
                </a:extLst>
              </p:cNvPr>
              <p:cNvSpPr txBox="1"/>
              <p:nvPr/>
            </p:nvSpPr>
            <p:spPr>
              <a:xfrm>
                <a:off x="1309182" y="1553363"/>
                <a:ext cx="497252" cy="830997"/>
              </a:xfrm>
              <a:prstGeom prst="rect">
                <a:avLst/>
              </a:prstGeom>
              <a:noFill/>
            </p:spPr>
            <p:txBody>
              <a:bodyPr wrap="none" rtlCol="0">
                <a:spAutoFit/>
              </a:bodyPr>
              <a:lstStyle/>
              <a:p>
                <a:r>
                  <a:rPr lang="en-US" altLang="zh-CN" sz="4800" b="1" dirty="0">
                    <a:solidFill>
                      <a:schemeClr val="bg2"/>
                    </a:solidFill>
                    <a:latin typeface="+mj-ea"/>
                    <a:ea typeface="+mj-ea"/>
                  </a:rPr>
                  <a:t>4</a:t>
                </a:r>
                <a:endParaRPr lang="zh-CN" altLang="en-US" sz="4800" b="1" dirty="0">
                  <a:solidFill>
                    <a:schemeClr val="bg2"/>
                  </a:solidFill>
                  <a:latin typeface="+mj-ea"/>
                  <a:ea typeface="+mj-ea"/>
                </a:endParaRPr>
              </a:p>
            </p:txBody>
          </p:sp>
        </p:grpSp>
      </p:grpSp>
      <p:grpSp>
        <p:nvGrpSpPr>
          <p:cNvPr id="17" name="组合 16">
            <a:extLst>
              <a:ext uri="{FF2B5EF4-FFF2-40B4-BE49-F238E27FC236}">
                <a16:creationId xmlns:a16="http://schemas.microsoft.com/office/drawing/2014/main" id="{C54A7E9C-A2EC-D747-47FB-41929DEDC42B}"/>
              </a:ext>
            </a:extLst>
          </p:cNvPr>
          <p:cNvGrpSpPr/>
          <p:nvPr/>
        </p:nvGrpSpPr>
        <p:grpSpPr>
          <a:xfrm>
            <a:off x="635396" y="5001096"/>
            <a:ext cx="9842880" cy="1205097"/>
            <a:chOff x="951336" y="1434165"/>
            <a:chExt cx="9888738" cy="1192855"/>
          </a:xfrm>
        </p:grpSpPr>
        <p:grpSp>
          <p:nvGrpSpPr>
            <p:cNvPr id="18" name="组合 17">
              <a:extLst>
                <a:ext uri="{FF2B5EF4-FFF2-40B4-BE49-F238E27FC236}">
                  <a16:creationId xmlns:a16="http://schemas.microsoft.com/office/drawing/2014/main" id="{37B8D9A1-C1A6-3B2A-5D89-D9787389F908}"/>
                </a:ext>
              </a:extLst>
            </p:cNvPr>
            <p:cNvGrpSpPr/>
            <p:nvPr/>
          </p:nvGrpSpPr>
          <p:grpSpPr>
            <a:xfrm>
              <a:off x="2387596" y="1434165"/>
              <a:ext cx="8452478" cy="1192855"/>
              <a:chOff x="2393652" y="1434167"/>
              <a:chExt cx="8452478" cy="1192855"/>
            </a:xfrm>
          </p:grpSpPr>
          <p:sp>
            <p:nvSpPr>
              <p:cNvPr id="22" name="矩形 21">
                <a:extLst>
                  <a:ext uri="{FF2B5EF4-FFF2-40B4-BE49-F238E27FC236}">
                    <a16:creationId xmlns:a16="http://schemas.microsoft.com/office/drawing/2014/main" id="{4892C689-A9A4-28A1-C2CA-632EE3175BA5}"/>
                  </a:ext>
                </a:extLst>
              </p:cNvPr>
              <p:cNvSpPr/>
              <p:nvPr/>
            </p:nvSpPr>
            <p:spPr bwMode="auto">
              <a:xfrm>
                <a:off x="2393652" y="1434167"/>
                <a:ext cx="8452478" cy="1192855"/>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3" name="矩形 22">
                <a:extLst>
                  <a:ext uri="{FF2B5EF4-FFF2-40B4-BE49-F238E27FC236}">
                    <a16:creationId xmlns:a16="http://schemas.microsoft.com/office/drawing/2014/main" id="{7CC84E82-01E2-3439-D9C6-52C66B00FFE0}"/>
                  </a:ext>
                </a:extLst>
              </p:cNvPr>
              <p:cNvSpPr/>
              <p:nvPr/>
            </p:nvSpPr>
            <p:spPr>
              <a:xfrm>
                <a:off x="2548944" y="1536101"/>
                <a:ext cx="7925411" cy="865524"/>
              </a:xfrm>
              <a:prstGeom prst="rect">
                <a:avLst/>
              </a:prstGeom>
              <a:noFill/>
            </p:spPr>
            <p:txBody>
              <a:bodyPr wrap="square" rtlCol="0">
                <a:spAutoFit/>
              </a:bodyPr>
              <a:lstStyle/>
              <a:p>
                <a:pP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mn-ea"/>
                    <a:sym typeface="+mn-lt"/>
                  </a:rPr>
                  <a:t>通过可持续的行动设计，将实践成果转化为助力乡村振兴与青年成长的具体举措，确保“济梦助学”品牌活动的延续性与实效性。</a:t>
                </a: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19" name="组合 18">
              <a:extLst>
                <a:ext uri="{FF2B5EF4-FFF2-40B4-BE49-F238E27FC236}">
                  <a16:creationId xmlns:a16="http://schemas.microsoft.com/office/drawing/2014/main" id="{42F21F60-351D-5A4E-43A0-EF46A1A2682E}"/>
                </a:ext>
              </a:extLst>
            </p:cNvPr>
            <p:cNvGrpSpPr/>
            <p:nvPr/>
          </p:nvGrpSpPr>
          <p:grpSpPr>
            <a:xfrm>
              <a:off x="951336" y="1451976"/>
              <a:ext cx="1157988" cy="1157232"/>
              <a:chOff x="951336" y="1451976"/>
              <a:chExt cx="1157988" cy="1157232"/>
            </a:xfrm>
          </p:grpSpPr>
          <p:sp>
            <p:nvSpPr>
              <p:cNvPr id="20" name="Freeform 14">
                <a:extLst>
                  <a:ext uri="{FF2B5EF4-FFF2-40B4-BE49-F238E27FC236}">
                    <a16:creationId xmlns:a16="http://schemas.microsoft.com/office/drawing/2014/main" id="{C68EA413-EBDA-B155-5233-8210BA58AED6}"/>
                  </a:ext>
                </a:extLst>
              </p:cNvPr>
              <p:cNvSpPr>
                <a:spLocks/>
              </p:cNvSpPr>
              <p:nvPr/>
            </p:nvSpPr>
            <p:spPr bwMode="auto">
              <a:xfrm>
                <a:off x="951336" y="1451976"/>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dirty="0">
                  <a:solidFill>
                    <a:schemeClr val="bg2"/>
                  </a:solidFill>
                </a:endParaRPr>
              </a:p>
            </p:txBody>
          </p:sp>
          <p:sp>
            <p:nvSpPr>
              <p:cNvPr id="21" name="TextBox 11">
                <a:extLst>
                  <a:ext uri="{FF2B5EF4-FFF2-40B4-BE49-F238E27FC236}">
                    <a16:creationId xmlns:a16="http://schemas.microsoft.com/office/drawing/2014/main" id="{A68C4889-CFBC-4510-75F3-BD0E07DDFAC3}"/>
                  </a:ext>
                </a:extLst>
              </p:cNvPr>
              <p:cNvSpPr txBox="1"/>
              <p:nvPr/>
            </p:nvSpPr>
            <p:spPr>
              <a:xfrm>
                <a:off x="1309182" y="1553363"/>
                <a:ext cx="499569" cy="822555"/>
              </a:xfrm>
              <a:prstGeom prst="rect">
                <a:avLst/>
              </a:prstGeom>
              <a:noFill/>
            </p:spPr>
            <p:txBody>
              <a:bodyPr wrap="none" rtlCol="0">
                <a:spAutoFit/>
              </a:bodyPr>
              <a:lstStyle/>
              <a:p>
                <a:r>
                  <a:rPr lang="en-US" altLang="zh-CN" sz="4800" b="1" dirty="0">
                    <a:solidFill>
                      <a:schemeClr val="bg2"/>
                    </a:solidFill>
                    <a:latin typeface="+mj-ea"/>
                    <a:ea typeface="+mj-ea"/>
                  </a:rPr>
                  <a:t>5</a:t>
                </a:r>
                <a:endParaRPr lang="zh-CN" altLang="en-US" sz="4800" b="1" dirty="0">
                  <a:solidFill>
                    <a:schemeClr val="bg2"/>
                  </a:solidFill>
                  <a:latin typeface="+mj-ea"/>
                  <a:ea typeface="+mj-ea"/>
                </a:endParaRPr>
              </a:p>
            </p:txBody>
          </p:sp>
        </p:grpSp>
      </p:grpSp>
      <p:grpSp>
        <p:nvGrpSpPr>
          <p:cNvPr id="2" name="组合 1">
            <a:extLst>
              <a:ext uri="{FF2B5EF4-FFF2-40B4-BE49-F238E27FC236}">
                <a16:creationId xmlns:a16="http://schemas.microsoft.com/office/drawing/2014/main" id="{27E4041B-7688-8F83-07EE-D6181CE5A403}"/>
              </a:ext>
            </a:extLst>
          </p:cNvPr>
          <p:cNvGrpSpPr/>
          <p:nvPr/>
        </p:nvGrpSpPr>
        <p:grpSpPr>
          <a:xfrm>
            <a:off x="648268" y="1435140"/>
            <a:ext cx="9824639" cy="1636551"/>
            <a:chOff x="964294" y="1303526"/>
            <a:chExt cx="9830008" cy="1636551"/>
          </a:xfrm>
        </p:grpSpPr>
        <p:grpSp>
          <p:nvGrpSpPr>
            <p:cNvPr id="3" name="组合 2">
              <a:extLst>
                <a:ext uri="{FF2B5EF4-FFF2-40B4-BE49-F238E27FC236}">
                  <a16:creationId xmlns:a16="http://schemas.microsoft.com/office/drawing/2014/main" id="{913027B5-19B9-4EF1-92D2-4BE32A65DF8E}"/>
                </a:ext>
              </a:extLst>
            </p:cNvPr>
            <p:cNvGrpSpPr/>
            <p:nvPr/>
          </p:nvGrpSpPr>
          <p:grpSpPr>
            <a:xfrm>
              <a:off x="2387596" y="1303526"/>
              <a:ext cx="8406706" cy="1636551"/>
              <a:chOff x="2393652" y="1303528"/>
              <a:chExt cx="8406706" cy="1636551"/>
            </a:xfrm>
          </p:grpSpPr>
          <p:sp>
            <p:nvSpPr>
              <p:cNvPr id="9" name="矩形 8">
                <a:extLst>
                  <a:ext uri="{FF2B5EF4-FFF2-40B4-BE49-F238E27FC236}">
                    <a16:creationId xmlns:a16="http://schemas.microsoft.com/office/drawing/2014/main" id="{D435BD38-73E6-F8B6-0EB1-0924E63FBFCC}"/>
                  </a:ext>
                </a:extLst>
              </p:cNvPr>
              <p:cNvSpPr/>
              <p:nvPr/>
            </p:nvSpPr>
            <p:spPr bwMode="auto">
              <a:xfrm>
                <a:off x="2393652" y="1303528"/>
                <a:ext cx="8406706" cy="1636551"/>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endParaRPr>
              </a:p>
            </p:txBody>
          </p:sp>
          <p:sp>
            <p:nvSpPr>
              <p:cNvPr id="11" name="矩形 10">
                <a:extLst>
                  <a:ext uri="{FF2B5EF4-FFF2-40B4-BE49-F238E27FC236}">
                    <a16:creationId xmlns:a16="http://schemas.microsoft.com/office/drawing/2014/main" id="{9332F0F9-DA60-45B8-7DF4-AD2CC31A83A8}"/>
                  </a:ext>
                </a:extLst>
              </p:cNvPr>
              <p:cNvSpPr/>
              <p:nvPr/>
            </p:nvSpPr>
            <p:spPr>
              <a:xfrm>
                <a:off x="2565173" y="1423434"/>
                <a:ext cx="7852348" cy="1289905"/>
              </a:xfrm>
              <a:prstGeom prst="rect">
                <a:avLst/>
              </a:prstGeom>
              <a:noFill/>
            </p:spPr>
            <p:txBody>
              <a:bodyPr wrap="square" rtlCol="0">
                <a:spAutoFit/>
              </a:bodyPr>
              <a:lstStyle/>
              <a:p>
                <a:pPr>
                  <a:lnSpc>
                    <a:spcPct val="150000"/>
                  </a:lnSpc>
                  <a:defRPr/>
                </a:pPr>
                <a:r>
                  <a:rPr lang="zh-CN" altLang="en-US" dirty="0">
                    <a:solidFill>
                      <a:srgbClr val="C00000"/>
                    </a:solidFill>
                    <a:latin typeface="微软雅黑" panose="020B0503020204020204" pitchFamily="34" charset="-122"/>
                    <a:ea typeface="微软雅黑" panose="020B0503020204020204" pitchFamily="34" charset="-122"/>
                    <a:cs typeface="+mn-ea"/>
                    <a:sym typeface="+mn-lt"/>
                  </a:rPr>
                  <a:t>协助村委优化“蒸尝”奖助学金的数字化管理，提升帮扶效率；并建立校友反哺机制，鼓励受助学生返乡实践，利用所学知识并通过实地考察建言献策，形成育人闭环。</a:t>
                </a: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4" name="组合 3">
              <a:extLst>
                <a:ext uri="{FF2B5EF4-FFF2-40B4-BE49-F238E27FC236}">
                  <a16:creationId xmlns:a16="http://schemas.microsoft.com/office/drawing/2014/main" id="{673F8DC1-294E-C0C8-29A9-FCE2B211C8F4}"/>
                </a:ext>
              </a:extLst>
            </p:cNvPr>
            <p:cNvGrpSpPr/>
            <p:nvPr/>
          </p:nvGrpSpPr>
          <p:grpSpPr>
            <a:xfrm>
              <a:off x="964294" y="1556105"/>
              <a:ext cx="1157988" cy="1157232"/>
              <a:chOff x="964294" y="1556105"/>
              <a:chExt cx="1157988" cy="1157232"/>
            </a:xfrm>
          </p:grpSpPr>
          <p:sp>
            <p:nvSpPr>
              <p:cNvPr id="7" name="Freeform 14">
                <a:extLst>
                  <a:ext uri="{FF2B5EF4-FFF2-40B4-BE49-F238E27FC236}">
                    <a16:creationId xmlns:a16="http://schemas.microsoft.com/office/drawing/2014/main" id="{06FB3285-8604-F51D-26BE-9C1981ECE929}"/>
                  </a:ext>
                </a:extLst>
              </p:cNvPr>
              <p:cNvSpPr>
                <a:spLocks/>
              </p:cNvSpPr>
              <p:nvPr/>
            </p:nvSpPr>
            <p:spPr bwMode="auto">
              <a:xfrm>
                <a:off x="964294" y="1556105"/>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prstTxWarp prst="textNoShape">
                  <a:avLst/>
                </a:prstTxWarp>
              </a:bodyPr>
              <a:lstStyle/>
              <a:p>
                <a:endParaRPr lang="zh-CN" altLang="en-US">
                  <a:solidFill>
                    <a:schemeClr val="bg2"/>
                  </a:solidFill>
                </a:endParaRPr>
              </a:p>
            </p:txBody>
          </p:sp>
          <p:sp>
            <p:nvSpPr>
              <p:cNvPr id="8" name="TextBox 11">
                <a:extLst>
                  <a:ext uri="{FF2B5EF4-FFF2-40B4-BE49-F238E27FC236}">
                    <a16:creationId xmlns:a16="http://schemas.microsoft.com/office/drawing/2014/main" id="{FE043106-F117-5B04-55A5-F481986BDAE5}"/>
                  </a:ext>
                </a:extLst>
              </p:cNvPr>
              <p:cNvSpPr txBox="1"/>
              <p:nvPr/>
            </p:nvSpPr>
            <p:spPr>
              <a:xfrm>
                <a:off x="1314552" y="1706302"/>
                <a:ext cx="497252" cy="830997"/>
              </a:xfrm>
              <a:prstGeom prst="rect">
                <a:avLst/>
              </a:prstGeom>
              <a:noFill/>
            </p:spPr>
            <p:txBody>
              <a:bodyPr wrap="none" rtlCol="0">
                <a:spAutoFit/>
              </a:bodyPr>
              <a:lstStyle/>
              <a:p>
                <a:r>
                  <a:rPr lang="en-US" altLang="zh-CN" sz="4800" b="1" dirty="0">
                    <a:solidFill>
                      <a:schemeClr val="bg2"/>
                    </a:solidFill>
                    <a:latin typeface="+mj-ea"/>
                    <a:ea typeface="+mj-ea"/>
                  </a:rPr>
                  <a:t>3</a:t>
                </a:r>
                <a:endParaRPr lang="zh-CN" altLang="en-US" sz="4800" b="1" dirty="0">
                  <a:solidFill>
                    <a:schemeClr val="bg2"/>
                  </a:solidFill>
                  <a:latin typeface="+mj-ea"/>
                  <a:ea typeface="+mj-ea"/>
                </a:endParaRPr>
              </a:p>
            </p:txBody>
          </p:sp>
        </p:grpSp>
      </p:grpSp>
    </p:spTree>
    <p:extLst>
      <p:ext uri="{BB962C8B-B14F-4D97-AF65-F5344CB8AC3E}">
        <p14:creationId xmlns:p14="http://schemas.microsoft.com/office/powerpoint/2010/main" val="31524458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65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FF964FDA-BC67-4D4A-BE2D-6F5D4C225E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3723" y="2745633"/>
            <a:ext cx="5184990" cy="4147992"/>
          </a:xfrm>
          <a:prstGeom prst="rect">
            <a:avLst/>
          </a:prstGeom>
        </p:spPr>
      </p:pic>
      <p:pic>
        <p:nvPicPr>
          <p:cNvPr id="35" name="图片 34">
            <a:extLst>
              <a:ext uri="{FF2B5EF4-FFF2-40B4-BE49-F238E27FC236}">
                <a16:creationId xmlns:a16="http://schemas.microsoft.com/office/drawing/2014/main" id="{0BCAED5F-5F05-4271-A84D-963B04AD57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49960"/>
            <a:ext cx="4460240" cy="2788989"/>
          </a:xfrm>
          <a:prstGeom prst="rect">
            <a:avLst/>
          </a:prstGeom>
        </p:spPr>
      </p:pic>
      <p:sp>
        <p:nvSpPr>
          <p:cNvPr id="30" name="矩形 29">
            <a:extLst>
              <a:ext uri="{FF2B5EF4-FFF2-40B4-BE49-F238E27FC236}">
                <a16:creationId xmlns:a16="http://schemas.microsoft.com/office/drawing/2014/main" id="{9ACC40E1-4E39-4604-A9C5-63FD620B632C}"/>
              </a:ext>
            </a:extLst>
          </p:cNvPr>
          <p:cNvSpPr/>
          <p:nvPr/>
        </p:nvSpPr>
        <p:spPr>
          <a:xfrm>
            <a:off x="1333318" y="2190080"/>
            <a:ext cx="9525365" cy="1446550"/>
          </a:xfrm>
          <a:prstGeom prst="rect">
            <a:avLst/>
          </a:prstGeom>
        </p:spPr>
        <p:txBody>
          <a:bodyPr wrap="none">
            <a:spAutoFit/>
          </a:bodyPr>
          <a:lstStyle/>
          <a:p>
            <a:pPr algn="ctr"/>
            <a:r>
              <a:rPr lang="zh-CN" altLang="en-US" sz="8800" dirty="0">
                <a:solidFill>
                  <a:srgbClr val="C00000"/>
                </a:solidFill>
                <a:latin typeface="字体视界-NEW魏碑体" panose="02010601030101010101" pitchFamily="2" charset="-122"/>
                <a:ea typeface="字体视界-NEW魏碑体" panose="02010601030101010101" pitchFamily="2" charset="-122"/>
                <a:cs typeface="+mn-ea"/>
                <a:sym typeface="+mn-lt"/>
              </a:rPr>
              <a:t>不忘初心 继续前进</a:t>
            </a:r>
          </a:p>
        </p:txBody>
      </p:sp>
      <p:sp>
        <p:nvSpPr>
          <p:cNvPr id="31" name="矩形 30">
            <a:extLst>
              <a:ext uri="{FF2B5EF4-FFF2-40B4-BE49-F238E27FC236}">
                <a16:creationId xmlns:a16="http://schemas.microsoft.com/office/drawing/2014/main" id="{FB04D17A-A6A0-44CC-8C6D-B3FE255A4103}"/>
              </a:ext>
            </a:extLst>
          </p:cNvPr>
          <p:cNvSpPr/>
          <p:nvPr/>
        </p:nvSpPr>
        <p:spPr>
          <a:xfrm>
            <a:off x="3787076" y="3853208"/>
            <a:ext cx="4544834" cy="584775"/>
          </a:xfrm>
          <a:prstGeom prst="rect">
            <a:avLst/>
          </a:prstGeom>
        </p:spPr>
        <p:txBody>
          <a:bodyPr wrap="none">
            <a:spAutoFit/>
          </a:bodyPr>
          <a:lstStyle/>
          <a:p>
            <a:pPr algn="ct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rPr>
              <a:t>感谢您的观看</a:t>
            </a: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a:t>
            </a:r>
            <a:endPar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32" name="Freeform 29">
            <a:extLst>
              <a:ext uri="{FF2B5EF4-FFF2-40B4-BE49-F238E27FC236}">
                <a16:creationId xmlns:a16="http://schemas.microsoft.com/office/drawing/2014/main" id="{24881789-4975-4D19-85A9-37539D67E584}"/>
              </a:ext>
            </a:extLst>
          </p:cNvPr>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a:extLst>
              <a:ext uri="{FF2B5EF4-FFF2-40B4-BE49-F238E27FC236}">
                <a16:creationId xmlns:a16="http://schemas.microsoft.com/office/drawing/2014/main" id="{318A9B30-2396-4409-B19B-E784ADED99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7468" y="552220"/>
            <a:ext cx="2857500" cy="1190625"/>
          </a:xfrm>
          <a:prstGeom prst="rect">
            <a:avLst/>
          </a:prstGeom>
        </p:spPr>
      </p:pic>
      <p:pic>
        <p:nvPicPr>
          <p:cNvPr id="40" name="图片 39">
            <a:extLst>
              <a:ext uri="{FF2B5EF4-FFF2-40B4-BE49-F238E27FC236}">
                <a16:creationId xmlns:a16="http://schemas.microsoft.com/office/drawing/2014/main" id="{6D28FA4A-F9AD-4D78-804A-DF6854C1F8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902340" flipH="1">
            <a:off x="1320789" y="1151521"/>
            <a:ext cx="2100539" cy="875225"/>
          </a:xfrm>
          <a:prstGeom prst="rect">
            <a:avLst/>
          </a:prstGeom>
        </p:spPr>
      </p:pic>
    </p:spTree>
    <p:extLst>
      <p:ext uri="{BB962C8B-B14F-4D97-AF65-F5344CB8AC3E}">
        <p14:creationId xmlns:p14="http://schemas.microsoft.com/office/powerpoint/2010/main" val="3644267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23" presetClass="entr" presetSubtype="36"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1000" fill="hold"/>
                                        <p:tgtEl>
                                          <p:spTgt spid="32"/>
                                        </p:tgtEl>
                                        <p:attrNameLst>
                                          <p:attrName>ppt_w</p:attrName>
                                        </p:attrNameLst>
                                      </p:cBhvr>
                                      <p:tavLst>
                                        <p:tav tm="0">
                                          <p:val>
                                            <p:strVal val="(6*min(max(#ppt_w*#ppt_h,.3),1)-7.4)/-.7*#ppt_w"/>
                                          </p:val>
                                        </p:tav>
                                        <p:tav tm="100000">
                                          <p:val>
                                            <p:strVal val="#ppt_w"/>
                                          </p:val>
                                        </p:tav>
                                      </p:tavLst>
                                    </p:anim>
                                    <p:anim calcmode="lin" valueType="num">
                                      <p:cBhvr>
                                        <p:cTn id="16" dur="1000" fill="hold"/>
                                        <p:tgtEl>
                                          <p:spTgt spid="32"/>
                                        </p:tgtEl>
                                        <p:attrNameLst>
                                          <p:attrName>ppt_h</p:attrName>
                                        </p:attrNameLst>
                                      </p:cBhvr>
                                      <p:tavLst>
                                        <p:tav tm="0">
                                          <p:val>
                                            <p:strVal val="(6*min(max(#ppt_w*#ppt_h,.3),1)-7.4)/-.7*#ppt_h"/>
                                          </p:val>
                                        </p:tav>
                                        <p:tav tm="100000">
                                          <p:val>
                                            <p:strVal val="#ppt_h"/>
                                          </p:val>
                                        </p:tav>
                                      </p:tavLst>
                                    </p:anim>
                                    <p:anim calcmode="lin" valueType="num">
                                      <p:cBhvr>
                                        <p:cTn id="17" dur="1000" fill="hold"/>
                                        <p:tgtEl>
                                          <p:spTgt spid="32"/>
                                        </p:tgtEl>
                                        <p:attrNameLst>
                                          <p:attrName>ppt_x</p:attrName>
                                        </p:attrNameLst>
                                      </p:cBhvr>
                                      <p:tavLst>
                                        <p:tav tm="0">
                                          <p:val>
                                            <p:fltVal val="0.5"/>
                                          </p:val>
                                        </p:tav>
                                        <p:tav tm="100000">
                                          <p:val>
                                            <p:strVal val="#ppt_x"/>
                                          </p:val>
                                        </p:tav>
                                      </p:tavLst>
                                    </p:anim>
                                    <p:anim calcmode="lin" valueType="num">
                                      <p:cBhvr>
                                        <p:cTn id="18" dur="1000" fill="hold"/>
                                        <p:tgtEl>
                                          <p:spTgt spid="32"/>
                                        </p:tgtEl>
                                        <p:attrNameLst>
                                          <p:attrName>ppt_y</p:attrName>
                                        </p:attrNameLst>
                                      </p:cBhvr>
                                      <p:tavLst>
                                        <p:tav tm="0">
                                          <p:val>
                                            <p:strVal val="1+(6*min(max(#ppt_w*#ppt_h,.3),1)-7.4)/-.7*#ppt_h/2"/>
                                          </p:val>
                                        </p:tav>
                                        <p:tav tm="100000">
                                          <p:val>
                                            <p:strVal val="#ppt_y"/>
                                          </p:val>
                                        </p:tav>
                                      </p:tavLst>
                                    </p:anim>
                                  </p:childTnLst>
                                </p:cTn>
                              </p:par>
                            </p:childTnLst>
                          </p:cTn>
                        </p:par>
                        <p:par>
                          <p:cTn id="19" fill="hold">
                            <p:stCondLst>
                              <p:cond delay="2000"/>
                            </p:stCondLst>
                            <p:childTnLst>
                              <p:par>
                                <p:cTn id="20" presetID="53" presetClass="entr" presetSubtype="16"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1000" fill="hold"/>
                                        <p:tgtEl>
                                          <p:spTgt spid="30"/>
                                        </p:tgtEl>
                                        <p:attrNameLst>
                                          <p:attrName>ppt_w</p:attrName>
                                        </p:attrNameLst>
                                      </p:cBhvr>
                                      <p:tavLst>
                                        <p:tav tm="0">
                                          <p:val>
                                            <p:fltVal val="0"/>
                                          </p:val>
                                        </p:tav>
                                        <p:tav tm="100000">
                                          <p:val>
                                            <p:strVal val="#ppt_w"/>
                                          </p:val>
                                        </p:tav>
                                      </p:tavLst>
                                    </p:anim>
                                    <p:anim calcmode="lin" valueType="num">
                                      <p:cBhvr>
                                        <p:cTn id="23" dur="1000" fill="hold"/>
                                        <p:tgtEl>
                                          <p:spTgt spid="30"/>
                                        </p:tgtEl>
                                        <p:attrNameLst>
                                          <p:attrName>ppt_h</p:attrName>
                                        </p:attrNameLst>
                                      </p:cBhvr>
                                      <p:tavLst>
                                        <p:tav tm="0">
                                          <p:val>
                                            <p:fltVal val="0"/>
                                          </p:val>
                                        </p:tav>
                                        <p:tav tm="100000">
                                          <p:val>
                                            <p:strVal val="#ppt_h"/>
                                          </p:val>
                                        </p:tav>
                                      </p:tavLst>
                                    </p:anim>
                                    <p:animEffect transition="in" filter="fade">
                                      <p:cBhvr>
                                        <p:cTn id="24" dur="1000"/>
                                        <p:tgtEl>
                                          <p:spTgt spid="30"/>
                                        </p:tgtEl>
                                      </p:cBhvr>
                                    </p:animEffect>
                                  </p:childTnLst>
                                </p:cTn>
                              </p:par>
                              <p:par>
                                <p:cTn id="25" presetID="35" presetClass="path" presetSubtype="0" accel="50000" decel="50000" fill="hold" grpId="1" nodeType="withEffect">
                                  <p:stCondLst>
                                    <p:cond delay="0"/>
                                  </p:stCondLst>
                                  <p:childTnLst>
                                    <p:animMotion origin="layout" path="M 0 1.48148E-6 L -0.41185 1.48148E-6 " pathEditMode="relative" rAng="0" ptsTypes="AA">
                                      <p:cBhvr>
                                        <p:cTn id="26" dur="2000" spd="-100000" fill="hold"/>
                                        <p:tgtEl>
                                          <p:spTgt spid="30"/>
                                        </p:tgtEl>
                                        <p:attrNameLst>
                                          <p:attrName>ppt_x</p:attrName>
                                          <p:attrName>ppt_y</p:attrName>
                                        </p:attrNameLst>
                                      </p:cBhvr>
                                      <p:rCtr x="-20599" y="0"/>
                                    </p:animMotion>
                                  </p:childTnLst>
                                </p:cTn>
                              </p:par>
                              <p:par>
                                <p:cTn id="27" presetID="53" presetClass="entr" presetSubtype="16"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1000" fill="hold"/>
                                        <p:tgtEl>
                                          <p:spTgt spid="31"/>
                                        </p:tgtEl>
                                        <p:attrNameLst>
                                          <p:attrName>ppt_w</p:attrName>
                                        </p:attrNameLst>
                                      </p:cBhvr>
                                      <p:tavLst>
                                        <p:tav tm="0">
                                          <p:val>
                                            <p:fltVal val="0"/>
                                          </p:val>
                                        </p:tav>
                                        <p:tav tm="100000">
                                          <p:val>
                                            <p:strVal val="#ppt_w"/>
                                          </p:val>
                                        </p:tav>
                                      </p:tavLst>
                                    </p:anim>
                                    <p:anim calcmode="lin" valueType="num">
                                      <p:cBhvr>
                                        <p:cTn id="30" dur="1000" fill="hold"/>
                                        <p:tgtEl>
                                          <p:spTgt spid="31"/>
                                        </p:tgtEl>
                                        <p:attrNameLst>
                                          <p:attrName>ppt_h</p:attrName>
                                        </p:attrNameLst>
                                      </p:cBhvr>
                                      <p:tavLst>
                                        <p:tav tm="0">
                                          <p:val>
                                            <p:fltVal val="0"/>
                                          </p:val>
                                        </p:tav>
                                        <p:tav tm="100000">
                                          <p:val>
                                            <p:strVal val="#ppt_h"/>
                                          </p:val>
                                        </p:tav>
                                      </p:tavLst>
                                    </p:anim>
                                    <p:animEffect transition="in" filter="fade">
                                      <p:cBhvr>
                                        <p:cTn id="31" dur="1000"/>
                                        <p:tgtEl>
                                          <p:spTgt spid="31"/>
                                        </p:tgtEl>
                                      </p:cBhvr>
                                    </p:animEffect>
                                  </p:childTnLst>
                                </p:cTn>
                              </p:par>
                              <p:par>
                                <p:cTn id="32" presetID="35" presetClass="path" presetSubtype="0" accel="50000" decel="50000" fill="hold" grpId="1" nodeType="withEffect">
                                  <p:stCondLst>
                                    <p:cond delay="0"/>
                                  </p:stCondLst>
                                  <p:childTnLst>
                                    <p:animMotion origin="layout" path="M 4.79167E-6 1.85185E-6 L 0.31575 1.85185E-6 " pathEditMode="relative" rAng="0" ptsTypes="AA">
                                      <p:cBhvr>
                                        <p:cTn id="33" dur="2000" spd="-100000" fill="hold"/>
                                        <p:tgtEl>
                                          <p:spTgt spid="31"/>
                                        </p:tgtEl>
                                        <p:attrNameLst>
                                          <p:attrName>ppt_x</p:attrName>
                                          <p:attrName>ppt_y</p:attrName>
                                        </p:attrNameLst>
                                      </p:cBhvr>
                                      <p:rCtr x="15781" y="0"/>
                                    </p:animMotion>
                                  </p:childTnLst>
                                </p:cTn>
                              </p:par>
                            </p:childTnLst>
                          </p:cTn>
                        </p:par>
                        <p:par>
                          <p:cTn id="34" fill="hold">
                            <p:stCondLst>
                              <p:cond delay="4000"/>
                            </p:stCondLst>
                            <p:childTnLst>
                              <p:par>
                                <p:cTn id="35" presetID="53" presetClass="entr" presetSubtype="16"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p:cTn id="37" dur="1000" fill="hold"/>
                                        <p:tgtEl>
                                          <p:spTgt spid="33"/>
                                        </p:tgtEl>
                                        <p:attrNameLst>
                                          <p:attrName>ppt_w</p:attrName>
                                        </p:attrNameLst>
                                      </p:cBhvr>
                                      <p:tavLst>
                                        <p:tav tm="0">
                                          <p:val>
                                            <p:fltVal val="0"/>
                                          </p:val>
                                        </p:tav>
                                        <p:tav tm="100000">
                                          <p:val>
                                            <p:strVal val="#ppt_w"/>
                                          </p:val>
                                        </p:tav>
                                      </p:tavLst>
                                    </p:anim>
                                    <p:anim calcmode="lin" valueType="num">
                                      <p:cBhvr>
                                        <p:cTn id="38" dur="1000" fill="hold"/>
                                        <p:tgtEl>
                                          <p:spTgt spid="33"/>
                                        </p:tgtEl>
                                        <p:attrNameLst>
                                          <p:attrName>ppt_h</p:attrName>
                                        </p:attrNameLst>
                                      </p:cBhvr>
                                      <p:tavLst>
                                        <p:tav tm="0">
                                          <p:val>
                                            <p:fltVal val="0"/>
                                          </p:val>
                                        </p:tav>
                                        <p:tav tm="100000">
                                          <p:val>
                                            <p:strVal val="#ppt_h"/>
                                          </p:val>
                                        </p:tav>
                                      </p:tavLst>
                                    </p:anim>
                                    <p:animEffect transition="in" filter="fade">
                                      <p:cBhvr>
                                        <p:cTn id="39" dur="1000"/>
                                        <p:tgtEl>
                                          <p:spTgt spid="33"/>
                                        </p:tgtEl>
                                      </p:cBhvr>
                                    </p:animEffect>
                                  </p:childTnLst>
                                </p:cTn>
                              </p:par>
                              <p:par>
                                <p:cTn id="40" presetID="35" presetClass="path" presetSubtype="0" accel="50000" decel="50000" fill="hold" nodeType="withEffect">
                                  <p:stCondLst>
                                    <p:cond delay="0"/>
                                  </p:stCondLst>
                                  <p:childTnLst>
                                    <p:animMotion origin="layout" path="M 6.25E-7 -1.11111E-6 L 0.31575 -1.11111E-6 " pathEditMode="relative" rAng="0" ptsTypes="AA">
                                      <p:cBhvr>
                                        <p:cTn id="41" dur="2000" spd="-100000" fill="hold"/>
                                        <p:tgtEl>
                                          <p:spTgt spid="33"/>
                                        </p:tgtEl>
                                        <p:attrNameLst>
                                          <p:attrName>ppt_x</p:attrName>
                                          <p:attrName>ppt_y</p:attrName>
                                        </p:attrNameLst>
                                      </p:cBhvr>
                                      <p:rCtr x="15781" y="0"/>
                                    </p:animMotion>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p:cTn id="45" dur="1000" fill="hold"/>
                                        <p:tgtEl>
                                          <p:spTgt spid="40"/>
                                        </p:tgtEl>
                                        <p:attrNameLst>
                                          <p:attrName>ppt_w</p:attrName>
                                        </p:attrNameLst>
                                      </p:cBhvr>
                                      <p:tavLst>
                                        <p:tav tm="0">
                                          <p:val>
                                            <p:fltVal val="0"/>
                                          </p:val>
                                        </p:tav>
                                        <p:tav tm="100000">
                                          <p:val>
                                            <p:strVal val="#ppt_w"/>
                                          </p:val>
                                        </p:tav>
                                      </p:tavLst>
                                    </p:anim>
                                    <p:anim calcmode="lin" valueType="num">
                                      <p:cBhvr>
                                        <p:cTn id="46" dur="1000" fill="hold"/>
                                        <p:tgtEl>
                                          <p:spTgt spid="40"/>
                                        </p:tgtEl>
                                        <p:attrNameLst>
                                          <p:attrName>ppt_h</p:attrName>
                                        </p:attrNameLst>
                                      </p:cBhvr>
                                      <p:tavLst>
                                        <p:tav tm="0">
                                          <p:val>
                                            <p:fltVal val="0"/>
                                          </p:val>
                                        </p:tav>
                                        <p:tav tm="100000">
                                          <p:val>
                                            <p:strVal val="#ppt_h"/>
                                          </p:val>
                                        </p:tav>
                                      </p:tavLst>
                                    </p:anim>
                                    <p:animEffect transition="in" filter="fade">
                                      <p:cBhvr>
                                        <p:cTn id="47" dur="1000"/>
                                        <p:tgtEl>
                                          <p:spTgt spid="40"/>
                                        </p:tgtEl>
                                      </p:cBhvr>
                                    </p:animEffect>
                                  </p:childTnLst>
                                </p:cTn>
                              </p:par>
                              <p:par>
                                <p:cTn id="48" presetID="35" presetClass="path" presetSubtype="0" accel="50000" decel="50000" fill="hold" nodeType="withEffect">
                                  <p:stCondLst>
                                    <p:cond delay="0"/>
                                  </p:stCondLst>
                                  <p:childTnLst>
                                    <p:animMotion origin="layout" path="M -1.04167E-6 -2.96296E-6 L 0.31576 -2.96296E-6 " pathEditMode="relative" rAng="0" ptsTypes="AA">
                                      <p:cBhvr>
                                        <p:cTn id="49"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主题1">
  <a:themeElements>
    <a:clrScheme name="自定义 3">
      <a:dk1>
        <a:sysClr val="windowText" lastClr="000000"/>
      </a:dk1>
      <a:lt1>
        <a:sysClr val="window" lastClr="FFFFFF"/>
      </a:lt1>
      <a:dk2>
        <a:srgbClr val="BE0000"/>
      </a:dk2>
      <a:lt2>
        <a:srgbClr val="E7E6E6"/>
      </a:lt2>
      <a:accent1>
        <a:srgbClr val="BE0000"/>
      </a:accent1>
      <a:accent2>
        <a:srgbClr val="ED7D31"/>
      </a:accent2>
      <a:accent3>
        <a:srgbClr val="D20000"/>
      </a:accent3>
      <a:accent4>
        <a:srgbClr val="FFC000"/>
      </a:accent4>
      <a:accent5>
        <a:srgbClr val="4472C4"/>
      </a:accent5>
      <a:accent6>
        <a:srgbClr val="70AD47"/>
      </a:accent6>
      <a:hlink>
        <a:srgbClr val="0563C1"/>
      </a:hlink>
      <a:folHlink>
        <a:srgbClr val="954F72"/>
      </a:folHlink>
    </a:clrScheme>
    <a:fontScheme name="31y2jr50">
      <a:majorFont>
        <a:latin typeface="Microsoft YaHei" panose="020F0302020204030204"/>
        <a:ea typeface="字魂35号-经典雅黑"/>
        <a:cs typeface=""/>
      </a:majorFont>
      <a:minorFont>
        <a:latin typeface="Microsoft YaHei" panose="020F0502020204030204"/>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D8C5FCC-2875-47F3-B7C1-A0BB395A4F05}" vid="{CF6C88C9-D359-45C8-9D53-CAC51ED0675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560</TotalTime>
  <Words>608</Words>
  <Application>Microsoft Office PowerPoint</Application>
  <PresentationFormat>宽屏</PresentationFormat>
  <Paragraphs>74</Paragraphs>
  <Slides>11</Slides>
  <Notes>11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华文行楷</vt:lpstr>
      <vt:lpstr>微软雅黑</vt:lpstr>
      <vt:lpstr>微软雅黑</vt:lpstr>
      <vt:lpstr>幼圆</vt:lpstr>
      <vt:lpstr>字体视界-NEW魏碑体</vt:lpstr>
      <vt:lpstr>Arial</vt:lpstr>
      <vt:lpstr>Calibri</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haohang chen</cp:lastModifiedBy>
  <cp:revision>48</cp:revision>
  <dcterms:created xsi:type="dcterms:W3CDTF">2019-06-14T06:36:02Z</dcterms:created>
  <dcterms:modified xsi:type="dcterms:W3CDTF">2025-10-16T08:25:55Z</dcterms:modified>
</cp:coreProperties>
</file>